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0"/>
  </p:notesMasterIdLst>
  <p:sldIdLst>
    <p:sldId id="257" r:id="rId2"/>
    <p:sldId id="300" r:id="rId3"/>
    <p:sldId id="301" r:id="rId4"/>
    <p:sldId id="302" r:id="rId5"/>
    <p:sldId id="307" r:id="rId6"/>
    <p:sldId id="289" r:id="rId7"/>
    <p:sldId id="326" r:id="rId8"/>
    <p:sldId id="305" r:id="rId9"/>
    <p:sldId id="306" r:id="rId10"/>
    <p:sldId id="308" r:id="rId11"/>
    <p:sldId id="310" r:id="rId12"/>
    <p:sldId id="311" r:id="rId13"/>
    <p:sldId id="312" r:id="rId14"/>
    <p:sldId id="313" r:id="rId15"/>
    <p:sldId id="314" r:id="rId16"/>
    <p:sldId id="315" r:id="rId17"/>
    <p:sldId id="316" r:id="rId18"/>
    <p:sldId id="317" r:id="rId19"/>
    <p:sldId id="318" r:id="rId20"/>
    <p:sldId id="325" r:id="rId21"/>
    <p:sldId id="319" r:id="rId22"/>
    <p:sldId id="322" r:id="rId23"/>
    <p:sldId id="323" r:id="rId24"/>
    <p:sldId id="324" r:id="rId25"/>
    <p:sldId id="321" r:id="rId26"/>
    <p:sldId id="320" r:id="rId27"/>
    <p:sldId id="303" r:id="rId28"/>
    <p:sldId id="288" r:id="rId2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90" d="100"/>
          <a:sy n="90" d="100"/>
        </p:scale>
        <p:origin x="39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microsoft.com/office/2016/11/relationships/changesInfo" Target="changesInfos/changesInfo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Никита Охотников" userId="d6a7c62770d60b00" providerId="LiveId" clId="{0F0AC1BB-6804-4232-BA3D-7320726C2FF0}"/>
    <pc:docChg chg="undo custSel addSld modSld">
      <pc:chgData name="Никита Охотников" userId="d6a7c62770d60b00" providerId="LiveId" clId="{0F0AC1BB-6804-4232-BA3D-7320726C2FF0}" dt="2026-09-03T05:31:27.650" v="152"/>
      <pc:docMkLst>
        <pc:docMk/>
      </pc:docMkLst>
      <pc:sldChg chg="modSp mod">
        <pc:chgData name="Никита Охотников" userId="d6a7c62770d60b00" providerId="LiveId" clId="{0F0AC1BB-6804-4232-BA3D-7320726C2FF0}" dt="2026-09-03T04:24:43.435" v="17" actId="20577"/>
        <pc:sldMkLst>
          <pc:docMk/>
          <pc:sldMk cId="838862680" sldId="257"/>
        </pc:sldMkLst>
        <pc:spChg chg="mod">
          <ac:chgData name="Никита Охотников" userId="d6a7c62770d60b00" providerId="LiveId" clId="{0F0AC1BB-6804-4232-BA3D-7320726C2FF0}" dt="2026-09-03T04:24:43.435" v="17" actId="20577"/>
          <ac:spMkLst>
            <pc:docMk/>
            <pc:sldMk cId="838862680" sldId="257"/>
            <ac:spMk id="8" creationId="{72D59F5D-7420-47B3-A9BA-2C3A05F4230A}"/>
          </ac:spMkLst>
        </pc:spChg>
      </pc:sldChg>
      <pc:sldChg chg="add">
        <pc:chgData name="Никита Охотников" userId="d6a7c62770d60b00" providerId="LiveId" clId="{0F0AC1BB-6804-4232-BA3D-7320726C2FF0}" dt="2026-09-03T05:31:27.650" v="152"/>
        <pc:sldMkLst>
          <pc:docMk/>
          <pc:sldMk cId="2661838082" sldId="300"/>
        </pc:sldMkLst>
      </pc:sldChg>
      <pc:sldChg chg="add">
        <pc:chgData name="Никита Охотников" userId="d6a7c62770d60b00" providerId="LiveId" clId="{0F0AC1BB-6804-4232-BA3D-7320726C2FF0}" dt="2026-09-03T05:31:27.650" v="152"/>
        <pc:sldMkLst>
          <pc:docMk/>
          <pc:sldMk cId="3694811889" sldId="301"/>
        </pc:sldMkLst>
      </pc:sldChg>
      <pc:sldChg chg="addSp delSp modSp mod">
        <pc:chgData name="Никита Охотников" userId="d6a7c62770d60b00" providerId="LiveId" clId="{0F0AC1BB-6804-4232-BA3D-7320726C2FF0}" dt="2026-09-03T04:29:13.939" v="26" actId="1076"/>
        <pc:sldMkLst>
          <pc:docMk/>
          <pc:sldMk cId="4210022700" sldId="302"/>
        </pc:sldMkLst>
        <pc:spChg chg="mod">
          <ac:chgData name="Никита Охотников" userId="d6a7c62770d60b00" providerId="LiveId" clId="{0F0AC1BB-6804-4232-BA3D-7320726C2FF0}" dt="2026-09-03T04:29:10.240" v="24" actId="1076"/>
          <ac:spMkLst>
            <pc:docMk/>
            <pc:sldMk cId="4210022700" sldId="302"/>
            <ac:spMk id="10" creationId="{F2A580EA-1BA4-41F9-A67B-17A29E1B2370}"/>
          </ac:spMkLst>
        </pc:spChg>
        <pc:picChg chg="add mod">
          <ac:chgData name="Никита Охотников" userId="d6a7c62770d60b00" providerId="LiveId" clId="{0F0AC1BB-6804-4232-BA3D-7320726C2FF0}" dt="2026-09-03T04:29:13.939" v="26" actId="1076"/>
          <ac:picMkLst>
            <pc:docMk/>
            <pc:sldMk cId="4210022700" sldId="302"/>
            <ac:picMk id="4" creationId="{B0207F4B-1CCF-F276-99F9-7F95C1A3E783}"/>
          </ac:picMkLst>
        </pc:picChg>
        <pc:picChg chg="del">
          <ac:chgData name="Никита Охотников" userId="d6a7c62770d60b00" providerId="LiveId" clId="{0F0AC1BB-6804-4232-BA3D-7320726C2FF0}" dt="2026-09-03T04:28:59.435" v="18" actId="478"/>
          <ac:picMkLst>
            <pc:docMk/>
            <pc:sldMk cId="4210022700" sldId="302"/>
            <ac:picMk id="9" creationId="{4643771E-0BF5-4EED-BEFD-4CD98B74DB95}"/>
          </ac:picMkLst>
        </pc:picChg>
      </pc:sldChg>
      <pc:sldChg chg="addSp delSp modSp new mod">
        <pc:chgData name="Никита Охотников" userId="d6a7c62770d60b00" providerId="LiveId" clId="{0F0AC1BB-6804-4232-BA3D-7320726C2FF0}" dt="2026-09-03T04:46:33.359" v="151" actId="20577"/>
        <pc:sldMkLst>
          <pc:docMk/>
          <pc:sldMk cId="2791490121" sldId="326"/>
        </pc:sldMkLst>
        <pc:spChg chg="add del">
          <ac:chgData name="Никита Охотников" userId="d6a7c62770d60b00" providerId="LiveId" clId="{0F0AC1BB-6804-4232-BA3D-7320726C2FF0}" dt="2026-09-03T04:43:08.202" v="32" actId="478"/>
          <ac:spMkLst>
            <pc:docMk/>
            <pc:sldMk cId="2791490121" sldId="326"/>
            <ac:spMk id="2" creationId="{794DEE4A-35BE-23D8-A63F-60DB88B8B495}"/>
          </ac:spMkLst>
        </pc:spChg>
        <pc:spChg chg="del mod">
          <ac:chgData name="Никита Охотников" userId="d6a7c62770d60b00" providerId="LiveId" clId="{0F0AC1BB-6804-4232-BA3D-7320726C2FF0}" dt="2026-09-03T04:45:49.943" v="137" actId="478"/>
          <ac:spMkLst>
            <pc:docMk/>
            <pc:sldMk cId="2791490121" sldId="326"/>
            <ac:spMk id="3" creationId="{A48323C1-DD19-1071-4CD3-F851F26258A1}"/>
          </ac:spMkLst>
        </pc:spChg>
        <pc:spChg chg="mod">
          <ac:chgData name="Никита Охотников" userId="d6a7c62770d60b00" providerId="LiveId" clId="{0F0AC1BB-6804-4232-BA3D-7320726C2FF0}" dt="2026-09-03T04:46:33.359" v="151" actId="20577"/>
          <ac:spMkLst>
            <pc:docMk/>
            <pc:sldMk cId="2791490121" sldId="326"/>
            <ac:spMk id="4" creationId="{EF8D5310-05AC-625F-BDA1-A3F3E855FBD3}"/>
          </ac:spMkLst>
        </pc:spChg>
        <pc:spChg chg="add mod">
          <ac:chgData name="Никита Охотников" userId="d6a7c62770d60b00" providerId="LiveId" clId="{0F0AC1BB-6804-4232-BA3D-7320726C2FF0}" dt="2026-09-03T04:43:05.104" v="31"/>
          <ac:spMkLst>
            <pc:docMk/>
            <pc:sldMk cId="2791490121" sldId="326"/>
            <ac:spMk id="5" creationId="{E69CF714-AAB6-944C-6F16-8010783801D0}"/>
          </ac:spMkLst>
        </pc:spChg>
        <pc:spChg chg="add mod">
          <ac:chgData name="Никита Охотников" userId="d6a7c62770d60b00" providerId="LiveId" clId="{0F0AC1BB-6804-4232-BA3D-7320726C2FF0}" dt="2026-09-03T04:43:14.883" v="53" actId="20577"/>
          <ac:spMkLst>
            <pc:docMk/>
            <pc:sldMk cId="2791490121" sldId="326"/>
            <ac:spMk id="6" creationId="{B18D0386-24AD-65BE-960A-D3E66158C72E}"/>
          </ac:spMkLst>
        </pc:spChg>
        <pc:spChg chg="add mod">
          <ac:chgData name="Никита Охотников" userId="d6a7c62770d60b00" providerId="LiveId" clId="{0F0AC1BB-6804-4232-BA3D-7320726C2FF0}" dt="2026-09-03T04:43:17.695" v="55"/>
          <ac:spMkLst>
            <pc:docMk/>
            <pc:sldMk cId="2791490121" sldId="326"/>
            <ac:spMk id="7" creationId="{38E66658-A70C-1885-D2D8-D128C72D0B8B}"/>
          </ac:spMkLst>
        </pc:spChg>
        <pc:spChg chg="add mod">
          <ac:chgData name="Никита Охотников" userId="d6a7c62770d60b00" providerId="LiveId" clId="{0F0AC1BB-6804-4232-BA3D-7320726C2FF0}" dt="2026-09-03T04:46:11.035" v="143" actId="1076"/>
          <ac:spMkLst>
            <pc:docMk/>
            <pc:sldMk cId="2791490121" sldId="326"/>
            <ac:spMk id="12" creationId="{3863B0FC-8FC2-89F2-BFC9-D899B0FC27A0}"/>
          </ac:spMkLst>
        </pc:spChg>
        <pc:spChg chg="add del mod">
          <ac:chgData name="Никита Охотников" userId="d6a7c62770d60b00" providerId="LiveId" clId="{0F0AC1BB-6804-4232-BA3D-7320726C2FF0}" dt="2026-09-03T04:45:54.825" v="138" actId="478"/>
          <ac:spMkLst>
            <pc:docMk/>
            <pc:sldMk cId="2791490121" sldId="326"/>
            <ac:spMk id="16" creationId="{E043132B-9F73-1673-55D9-8E50BB244DC8}"/>
          </ac:spMkLst>
        </pc:spChg>
        <pc:picChg chg="add del mod">
          <ac:chgData name="Никита Охотников" userId="d6a7c62770d60b00" providerId="LiveId" clId="{0F0AC1BB-6804-4232-BA3D-7320726C2FF0}" dt="2026-09-03T04:45:44.685" v="134" actId="478"/>
          <ac:picMkLst>
            <pc:docMk/>
            <pc:sldMk cId="2791490121" sldId="326"/>
            <ac:picMk id="9" creationId="{CFBC721E-085D-103F-5D5A-356924B0A652}"/>
          </ac:picMkLst>
        </pc:picChg>
        <pc:picChg chg="add del mod">
          <ac:chgData name="Никита Охотников" userId="d6a7c62770d60b00" providerId="LiveId" clId="{0F0AC1BB-6804-4232-BA3D-7320726C2FF0}" dt="2026-09-03T04:45:00.088" v="133" actId="478"/>
          <ac:picMkLst>
            <pc:docMk/>
            <pc:sldMk cId="2791490121" sldId="326"/>
            <ac:picMk id="11" creationId="{BFF2199E-26D2-45EC-6FC3-E2CB515E2B7F}"/>
          </ac:picMkLst>
        </pc:picChg>
        <pc:picChg chg="add mod">
          <ac:chgData name="Никита Охотников" userId="d6a7c62770d60b00" providerId="LiveId" clId="{0F0AC1BB-6804-4232-BA3D-7320726C2FF0}" dt="2026-09-03T04:46:06.855" v="142" actId="14100"/>
          <ac:picMkLst>
            <pc:docMk/>
            <pc:sldMk cId="2791490121" sldId="326"/>
            <ac:picMk id="14" creationId="{4475B7BF-4BD0-2792-6361-6570CCA70504}"/>
          </ac:picMkLst>
        </pc:picChg>
        <pc:picChg chg="add mod">
          <ac:chgData name="Никита Охотников" userId="d6a7c62770d60b00" providerId="LiveId" clId="{0F0AC1BB-6804-4232-BA3D-7320726C2FF0}" dt="2026-09-03T04:46:28.467" v="147" actId="14100"/>
          <ac:picMkLst>
            <pc:docMk/>
            <pc:sldMk cId="2791490121" sldId="326"/>
            <ac:picMk id="18" creationId="{375C4FB7-3A50-4AF0-F57C-59EEF87AB107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8F6855-BD1B-41D7-A116-2AED496DFC6B}" type="datetimeFigureOut">
              <a:rPr lang="ru-RU" smtClean="0"/>
              <a:t>03.09.2026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8B6363-011B-45B1-9051-AB674AE2611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761361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8B6363-011B-45B1-9051-AB674AE26112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282516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508AE16-BBAD-D1A3-DC43-EFA543D732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A9C33C2-745F-8598-0505-47D65E59E2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AB0654A-0CBD-7B1F-E594-EEE92AE3F4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ru-RU"/>
              <a:t>30.10.2025</a:t>
            </a:r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FB4D139-E9E6-EF49-F095-86C7067233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C24D762-CED8-6E25-9D86-698FAB843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295499-41D7-4CFD-B89A-D819E824B9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86907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D1936C59-3A96-481F-8644-EB41A6C92C2A}"/>
              </a:ext>
            </a:extLst>
          </p:cNvPr>
          <p:cNvSpPr/>
          <p:nvPr userDrawn="1"/>
        </p:nvSpPr>
        <p:spPr>
          <a:xfrm>
            <a:off x="11463058" y="0"/>
            <a:ext cx="728942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D8BBCFE-B6F4-1C39-EEA6-A586561B43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2362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9DB070D-432C-E52E-F557-A7E21A397C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2362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13D0869-84F3-7F04-EE71-027596460AB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16200000">
            <a:off x="11233004" y="735747"/>
            <a:ext cx="1189038" cy="44779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ru-RU"/>
              <a:t>30.10.2025</a:t>
            </a:r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0E14F1A-5FD3-C2F4-BC82-68C7FBC85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63051" y="6231420"/>
            <a:ext cx="728941" cy="626580"/>
          </a:xfrm>
        </p:spPr>
        <p:txBody>
          <a:bodyPr/>
          <a:lstStyle>
            <a:lvl1pPr algn="ctr">
              <a:defRPr sz="3200">
                <a:solidFill>
                  <a:schemeClr val="bg1"/>
                </a:solidFill>
              </a:defRPr>
            </a:lvl1pPr>
          </a:lstStyle>
          <a:p>
            <a:fld id="{AA295499-41D7-4CFD-B89A-D819E824B9F7}" type="slidenum">
              <a:rPr lang="ru-RU" smtClean="0"/>
              <a:pPr/>
              <a:t>‹#›</a:t>
            </a:fld>
            <a:endParaRPr lang="ru-RU" dirty="0"/>
          </a:p>
        </p:txBody>
      </p: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39E881AE-1FC5-6C05-6172-119698C2F6A1}"/>
              </a:ext>
            </a:extLst>
          </p:cNvPr>
          <p:cNvCxnSpPr>
            <a:cxnSpLocks/>
          </p:cNvCxnSpPr>
          <p:nvPr userDrawn="1"/>
        </p:nvCxnSpPr>
        <p:spPr>
          <a:xfrm>
            <a:off x="11463052" y="0"/>
            <a:ext cx="0" cy="685800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7AE226A-354C-F68D-1563-1F9656E3FE9E}"/>
              </a:ext>
            </a:extLst>
          </p:cNvPr>
          <p:cNvSpPr txBox="1"/>
          <p:nvPr userDrawn="1"/>
        </p:nvSpPr>
        <p:spPr>
          <a:xfrm rot="16200000">
            <a:off x="9477860" y="3611436"/>
            <a:ext cx="46993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solidFill>
                  <a:schemeClr val="bg1"/>
                </a:solidFill>
              </a:rPr>
              <a:t>Программирование на C++ и Python</a:t>
            </a:r>
            <a:br>
              <a:rPr lang="en-US" sz="1600" dirty="0">
                <a:solidFill>
                  <a:schemeClr val="bg1"/>
                </a:solidFill>
              </a:rPr>
            </a:br>
            <a:r>
              <a:rPr lang="en-US" sz="1600" i="1" dirty="0">
                <a:solidFill>
                  <a:schemeClr val="bg1"/>
                </a:solidFill>
              </a:rPr>
              <a:t>C++ </a:t>
            </a:r>
            <a:r>
              <a:rPr lang="ru-RU" sz="1600" i="1" dirty="0">
                <a:solidFill>
                  <a:schemeClr val="bg1"/>
                </a:solidFill>
              </a:rPr>
              <a:t>Быстрый старт</a:t>
            </a:r>
          </a:p>
        </p:txBody>
      </p:sp>
    </p:spTree>
    <p:extLst>
      <p:ext uri="{BB962C8B-B14F-4D97-AF65-F5344CB8AC3E}">
        <p14:creationId xmlns:p14="http://schemas.microsoft.com/office/powerpoint/2010/main" val="5339715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0CF869-F21B-71D2-E3DE-C018CBD82D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2C77452-3027-F0A8-CDFF-DA3F0A1208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8FEC625-A462-C205-7482-9F4DBD977E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ru-RU"/>
              <a:t>30.10.2025</a:t>
            </a:r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24AE46E-EB40-0B37-96BD-EB15C77C91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7A7D0C4-D203-FC30-FB98-F1D8B326D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295499-41D7-4CFD-B89A-D819E824B9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272631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4B2852-8E51-11BE-414A-B36FD941B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EC4719F-10B9-DA0A-5647-68A49F170A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039CF65-2FA4-CD54-68CB-B5DF48A244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619FC6B-2C01-9AC1-7F77-CF883B44AD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ru-RU"/>
              <a:t>30.10.2025</a:t>
            </a:r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0CD37D3-272C-126C-3AE3-7A2BF2B91B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02D7104-3143-1914-EB00-75240C8D0D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295499-41D7-4CFD-B89A-D819E824B9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612829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759D350-6650-4230-2C24-5AA41F9995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D3AA37F-C35E-B5BD-B599-663017C807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75D2E35-32EE-7D48-6150-7A5A1C071C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C6A7D305-FC41-2309-1D16-C9966E8676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EF1C4AE0-CC76-ED4C-B30F-7C3A962E11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97BEB116-E85A-D3D0-A6A8-D58493823B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ru-RU"/>
              <a:t>30.10.2025</a:t>
            </a:r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DB91292-89FA-9C81-B8AF-8A0BD5BAD7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1009CAD4-09BC-B0D1-E9A5-1391BA683A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295499-41D7-4CFD-B89A-D819E824B9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109961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3C6B5A7-8B8E-8CF0-ABA9-59443B868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C30E187F-2CCF-2E5B-241A-C185A03BB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ru-RU"/>
              <a:t>30.10.2025</a:t>
            </a: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7992E1A2-E283-FBA5-ECF3-E90DCE8CCC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F96CB76-96C3-317A-99A5-C70A83757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295499-41D7-4CFD-B89A-D819E824B9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53452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666921E4-0E1D-C227-2AC4-CD819D996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ru-RU"/>
              <a:t>30.10.2025</a:t>
            </a:r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82A481B8-E31C-596A-9CB6-0DFE2D85D1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80823AE-F92F-E679-6BC0-03292BA753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295499-41D7-4CFD-B89A-D819E824B9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343882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EA84C8A-4370-58D9-D99F-C6CCBD148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A895E1D-9CAF-AADA-34EF-DC23B2A152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5202D01-A0BB-FE90-DC2A-FCC99F2920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1E2733E-4D04-D4D5-6EC3-0748B30B19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ru-RU"/>
              <a:t>30.10.2025</a:t>
            </a:r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FB55313-569A-84B6-3EAD-A29FCC4DE3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E36D104-B96B-B038-C318-E3FE4B4E4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295499-41D7-4CFD-B89A-D819E824B9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54440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B14DF8D-BE07-49DE-3C71-D22197776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62984278-F30E-C86B-49DC-475EA86676E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070E636-3328-EDB0-D285-C4BD9B491D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4DE3915-036A-B3A8-007B-9AE5194F85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ru-RU"/>
              <a:t>30.10.2025</a:t>
            </a:r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9369358-5D57-A13F-A4FB-23FBA12FD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26BCB19-CA33-2D75-2A2D-4148AB6333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295499-41D7-4CFD-B89A-D819E824B9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87020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B51A243-7AED-58FF-676F-5BB17095F8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1792A23-65DB-772C-70A5-66E4B7F7E6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F11E15E-BD04-5A66-DFD1-D0643B34E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ru-RU"/>
              <a:t>30.10.2025</a:t>
            </a:r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F8C9516-5908-6BAC-D6E2-57B080258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3C4BEF3-9E51-88F0-F88F-D18D941DC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295499-41D7-4CFD-B89A-D819E824B9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504959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B31A639B-D77B-4792-F4B1-88AD0532BE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8D0CDAB-CFF4-3D79-96B5-E8B28D7D00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5BC314E-BF64-8E54-265F-3FABCA105F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ru-RU"/>
              <a:t>30.10.2025</a:t>
            </a:r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5F8DF63-7FB3-9558-BD26-CD592024D2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C0A87AB-8C03-2009-8687-9C24E04FC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295499-41D7-4CFD-B89A-D819E824B9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992962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D0A6F8B-FC94-F820-1AC8-82DD04160B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A79B613-6163-C7D7-79D6-1D2494A991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1EB643E-8399-502E-FBF6-F9AD2545B22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ru-RU"/>
              <a:t>30.10.2025</a:t>
            </a:r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D4C9574-2826-4529-8FA9-747903CF38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A6E5BBA-D3AD-7247-17DD-766ADE4ACA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295499-41D7-4CFD-B89A-D819E824B9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627622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cipy.org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matplotlib.org/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boost.org/" TargetMode="External"/><Relationship Id="rId3" Type="http://schemas.openxmlformats.org/officeDocument/2006/relationships/hyperlink" Target="https://isocpp.org/" TargetMode="External"/><Relationship Id="rId7" Type="http://schemas.openxmlformats.org/officeDocument/2006/relationships/hyperlink" Target="https://www.aristeia.com/" TargetMode="External"/><Relationship Id="rId12" Type="http://schemas.openxmlformats.org/officeDocument/2006/relationships/image" Target="../media/image8.jpg"/><Relationship Id="rId2" Type="http://schemas.openxmlformats.org/officeDocument/2006/relationships/hyperlink" Target="https://en.cppreference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stroustrup.com/" TargetMode="External"/><Relationship Id="rId11" Type="http://schemas.openxmlformats.org/officeDocument/2006/relationships/image" Target="../media/image7.jpg"/><Relationship Id="rId5" Type="http://schemas.openxmlformats.org/officeDocument/2006/relationships/hyperlink" Target="https://www.coursera.org/specializations/c-plus-plus-modern-development" TargetMode="External"/><Relationship Id="rId10" Type="http://schemas.openxmlformats.org/officeDocument/2006/relationships/image" Target="../media/image6.png"/><Relationship Id="rId4" Type="http://schemas.openxmlformats.org/officeDocument/2006/relationships/hyperlink" Target="https://stackoverflow.com/" TargetMode="External"/><Relationship Id="rId9" Type="http://schemas.openxmlformats.org/officeDocument/2006/relationships/hyperlink" Target="https://www.hackerrank.com/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227849-212E-49B2-B839-A3FA895F73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25485" y="2676387"/>
            <a:ext cx="10096107" cy="1118077"/>
          </a:xfrm>
        </p:spPr>
        <p:txBody>
          <a:bodyPr>
            <a:normAutofit/>
          </a:bodyPr>
          <a:lstStyle/>
          <a:p>
            <a:pPr algn="ctr"/>
            <a:r>
              <a:rPr lang="ru-RU" sz="3200" dirty="0"/>
              <a:t>Программирование на </a:t>
            </a:r>
            <a:r>
              <a:rPr lang="en-US" sz="3200" i="1" dirty="0"/>
              <a:t>C++</a:t>
            </a:r>
            <a:r>
              <a:rPr lang="en-US" sz="3200" dirty="0"/>
              <a:t> </a:t>
            </a:r>
            <a:r>
              <a:rPr lang="ru-RU" sz="3200" dirty="0"/>
              <a:t>и </a:t>
            </a:r>
            <a:r>
              <a:rPr lang="en-US" sz="3200" dirty="0"/>
              <a:t>Python</a:t>
            </a:r>
            <a:endParaRPr lang="ru-RU" sz="3200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8F0E9277-D821-46E7-ABB5-7C51AE6893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3" y="3950563"/>
            <a:ext cx="7602903" cy="1961966"/>
          </a:xfrm>
        </p:spPr>
        <p:txBody>
          <a:bodyPr>
            <a:normAutofit/>
          </a:bodyPr>
          <a:lstStyle/>
          <a:p>
            <a:pPr algn="ctr">
              <a:spcBef>
                <a:spcPts val="1800"/>
              </a:spcBef>
            </a:pPr>
            <a:r>
              <a:rPr lang="ru-RU" sz="2000" dirty="0">
                <a:solidFill>
                  <a:schemeClr val="tx2"/>
                </a:solidFill>
              </a:rPr>
              <a:t>Лекция </a:t>
            </a:r>
            <a:r>
              <a:rPr lang="en-US" sz="2000" dirty="0">
                <a:solidFill>
                  <a:schemeClr val="tx2"/>
                </a:solidFill>
              </a:rPr>
              <a:t>5</a:t>
            </a:r>
            <a:endParaRPr lang="ru-RU" sz="2000" dirty="0">
              <a:solidFill>
                <a:schemeClr val="tx2"/>
              </a:solidFill>
            </a:endParaRPr>
          </a:p>
          <a:p>
            <a:pPr algn="ctr">
              <a:spcBef>
                <a:spcPts val="0"/>
              </a:spcBef>
            </a:pPr>
            <a:r>
              <a:rPr lang="en-US" sz="2800" dirty="0">
                <a:solidFill>
                  <a:schemeClr val="tx2"/>
                </a:solidFill>
              </a:rPr>
              <a:t>C++ </a:t>
            </a:r>
            <a:r>
              <a:rPr lang="ru-RU" sz="2800" dirty="0">
                <a:solidFill>
                  <a:schemeClr val="tx2"/>
                </a:solidFill>
              </a:rPr>
              <a:t>Быстрый старт</a:t>
            </a:r>
          </a:p>
          <a:p>
            <a:pPr algn="ctr">
              <a:spcBef>
                <a:spcPts val="3000"/>
              </a:spcBef>
            </a:pPr>
            <a:r>
              <a:rPr lang="ru-RU" sz="2000" dirty="0">
                <a:solidFill>
                  <a:schemeClr val="tx2"/>
                </a:solidFill>
              </a:rPr>
              <a:t>Охотников Никита Викторович (ИЯФ СО РАН, НГУ)</a:t>
            </a:r>
            <a:endParaRPr lang="en-US" sz="2000" dirty="0">
              <a:solidFill>
                <a:schemeClr val="tx2"/>
              </a:solidFill>
            </a:endParaRPr>
          </a:p>
        </p:txBody>
      </p:sp>
      <p:sp>
        <p:nvSpPr>
          <p:cNvPr id="8" name="Подзаголовок 2">
            <a:extLst>
              <a:ext uri="{FF2B5EF4-FFF2-40B4-BE49-F238E27FC236}">
                <a16:creationId xmlns:a16="http://schemas.microsoft.com/office/drawing/2014/main" id="{72D59F5D-7420-47B3-A9BA-2C3A05F4230A}"/>
              </a:ext>
            </a:extLst>
          </p:cNvPr>
          <p:cNvSpPr txBox="1">
            <a:spLocks/>
          </p:cNvSpPr>
          <p:nvPr/>
        </p:nvSpPr>
        <p:spPr>
          <a:xfrm>
            <a:off x="443882" y="6049149"/>
            <a:ext cx="11748118" cy="614039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20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</a:pPr>
            <a:r>
              <a:rPr lang="ru-RU" sz="1800" dirty="0">
                <a:solidFill>
                  <a:schemeClr val="tx2"/>
                </a:solidFill>
              </a:rPr>
              <a:t>Новосибирск, </a:t>
            </a:r>
            <a:r>
              <a:rPr lang="en-US" sz="1800" dirty="0">
                <a:solidFill>
                  <a:schemeClr val="tx2"/>
                </a:solidFill>
              </a:rPr>
              <a:t>03 </a:t>
            </a:r>
            <a:r>
              <a:rPr lang="ru-RU" sz="1800" dirty="0">
                <a:solidFill>
                  <a:schemeClr val="tx2"/>
                </a:solidFill>
              </a:rPr>
              <a:t>сентября 20</a:t>
            </a:r>
            <a:r>
              <a:rPr lang="en-US" sz="1800" dirty="0">
                <a:solidFill>
                  <a:schemeClr val="tx2"/>
                </a:solidFill>
              </a:rPr>
              <a:t>2</a:t>
            </a:r>
            <a:r>
              <a:rPr lang="ru-RU" sz="1800" dirty="0">
                <a:solidFill>
                  <a:schemeClr val="tx2"/>
                </a:solidFill>
              </a:rPr>
              <a:t>6</a:t>
            </a:r>
            <a:endParaRPr lang="en-US" sz="1800" dirty="0">
              <a:solidFill>
                <a:schemeClr val="tx2"/>
              </a:solidFill>
            </a:endParaRPr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17D4E2AF-1ED1-4F30-B7A9-C2A200E720C9}"/>
              </a:ext>
            </a:extLst>
          </p:cNvPr>
          <p:cNvGrpSpPr/>
          <p:nvPr/>
        </p:nvGrpSpPr>
        <p:grpSpPr>
          <a:xfrm>
            <a:off x="2695193" y="1287263"/>
            <a:ext cx="6990345" cy="1233026"/>
            <a:chOff x="2581523" y="1287263"/>
            <a:chExt cx="6990345" cy="1233026"/>
          </a:xfrm>
          <a:solidFill>
            <a:schemeClr val="bg1"/>
          </a:solidFill>
        </p:grpSpPr>
        <p:sp>
          <p:nvSpPr>
            <p:cNvPr id="5" name="Прямоугольник: скругленные углы 4">
              <a:extLst>
                <a:ext uri="{FF2B5EF4-FFF2-40B4-BE49-F238E27FC236}">
                  <a16:creationId xmlns:a16="http://schemas.microsoft.com/office/drawing/2014/main" id="{CFA89B05-D9C6-4C73-AE17-A2AA2B920F8D}"/>
                </a:ext>
              </a:extLst>
            </p:cNvPr>
            <p:cNvSpPr/>
            <p:nvPr/>
          </p:nvSpPr>
          <p:spPr>
            <a:xfrm>
              <a:off x="2581523" y="1287263"/>
              <a:ext cx="6990345" cy="1233026"/>
            </a:xfrm>
            <a:prstGeom prst="roundRect">
              <a:avLst/>
            </a:prstGeom>
            <a:grpFill/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pic>
          <p:nvPicPr>
            <p:cNvPr id="9" name="Рисунок 8">
              <a:extLst>
                <a:ext uri="{FF2B5EF4-FFF2-40B4-BE49-F238E27FC236}">
                  <a16:creationId xmlns:a16="http://schemas.microsoft.com/office/drawing/2014/main" id="{C7FCDF20-ECB9-46B9-B36E-570C9B90244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59260" y="1437301"/>
              <a:ext cx="2466328" cy="924871"/>
            </a:xfrm>
            <a:prstGeom prst="rect">
              <a:avLst/>
            </a:prstGeom>
            <a:grpFill/>
          </p:spPr>
        </p:pic>
      </p:grpSp>
    </p:spTree>
    <p:extLst>
      <p:ext uri="{BB962C8B-B14F-4D97-AF65-F5344CB8AC3E}">
        <p14:creationId xmlns:p14="http://schemas.microsoft.com/office/powerpoint/2010/main" val="8388626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33B40264-832E-4236-A84A-FECF3CF08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Цели курса</a:t>
            </a:r>
          </a:p>
        </p:txBody>
      </p:sp>
      <p:sp>
        <p:nvSpPr>
          <p:cNvPr id="7" name="Объект 6">
            <a:extLst>
              <a:ext uri="{FF2B5EF4-FFF2-40B4-BE49-F238E27FC236}">
                <a16:creationId xmlns:a16="http://schemas.microsoft.com/office/drawing/2014/main" id="{44B63AD7-7B32-40DD-B022-BCE76779C8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2025503"/>
            <a:ext cx="8595360" cy="2203596"/>
          </a:xfrm>
        </p:spPr>
        <p:txBody>
          <a:bodyPr>
            <a:normAutofit fontScale="77500" lnSpcReduction="20000"/>
          </a:bodyPr>
          <a:lstStyle/>
          <a:p>
            <a:pPr marL="342900" indent="-342900">
              <a:buFont typeface="+mj-lt"/>
              <a:buAutoNum type="arabicPeriod"/>
            </a:pPr>
            <a:r>
              <a:rPr lang="ru-RU" dirty="0"/>
              <a:t>Дать начальные навыки разработки на языках </a:t>
            </a:r>
            <a:r>
              <a:rPr lang="ru-RU" i="1" dirty="0"/>
              <a:t>C++</a:t>
            </a:r>
            <a:r>
              <a:rPr lang="ru-RU" dirty="0"/>
              <a:t> и Python </a:t>
            </a: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ru-RU" dirty="0"/>
              <a:t>Познакомить с базовыми концепциями программирования</a:t>
            </a:r>
          </a:p>
          <a:p>
            <a:pPr lvl="1"/>
            <a:r>
              <a:rPr lang="ru-RU" dirty="0"/>
              <a:t>Структуры данных и алгоритмы</a:t>
            </a:r>
          </a:p>
          <a:p>
            <a:pPr lvl="1"/>
            <a:r>
              <a:rPr lang="ru-RU" dirty="0"/>
              <a:t>Парадигмы программирования</a:t>
            </a:r>
          </a:p>
          <a:p>
            <a:pPr marL="342900" indent="-342900">
              <a:buFont typeface="+mj-lt"/>
              <a:buAutoNum type="arabicPeriod"/>
            </a:pPr>
            <a:r>
              <a:rPr lang="ru-RU" dirty="0"/>
              <a:t>Показать средства для анализа данных с</a:t>
            </a:r>
            <a:r>
              <a:rPr lang="en-US" dirty="0"/>
              <a:t> </a:t>
            </a:r>
            <a:r>
              <a:rPr lang="ru-RU" dirty="0"/>
              <a:t>библиотеками </a:t>
            </a:r>
            <a:r>
              <a:rPr lang="en-US" dirty="0">
                <a:solidFill>
                  <a:srgbClr val="C000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SciPy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ru-RU" dirty="0">
                <a:solidFill>
                  <a:srgbClr val="000000"/>
                </a:solidFill>
              </a:rPr>
              <a:t>и др.</a:t>
            </a:r>
          </a:p>
          <a:p>
            <a:pPr marL="342900" indent="-342900">
              <a:buFont typeface="+mj-lt"/>
              <a:buAutoNum type="arabicPeriod"/>
            </a:pPr>
            <a:r>
              <a:rPr lang="ru-RU" dirty="0"/>
              <a:t>Познакомить с инструментами для совместной разработки программ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479975F-175A-4EAE-A179-8659B8D84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fld id="{E58EDE0D-0787-4A03-969A-A1D77559C4A6}" type="slidenum">
              <a:rPr lang="ru-RU" smtClean="0"/>
              <a:t>2</a:t>
            </a:fld>
            <a:endParaRPr lang="ru-RU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2FF68D66-B656-4499-97AC-894B6C9FEC49}"/>
              </a:ext>
            </a:extLst>
          </p:cNvPr>
          <p:cNvSpPr/>
          <p:nvPr/>
        </p:nvSpPr>
        <p:spPr>
          <a:xfrm>
            <a:off x="2374206" y="4563280"/>
            <a:ext cx="637069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i="1" dirty="0"/>
              <a:t>За один семестр невозможно стать профессиональным программистом (да и не надо!). После прохождения курса вам будет проще осваивать языки программирования самостоятельно.</a:t>
            </a:r>
          </a:p>
        </p:txBody>
      </p:sp>
      <p:sp>
        <p:nvSpPr>
          <p:cNvPr id="2" name="Дата 1">
            <a:extLst>
              <a:ext uri="{FF2B5EF4-FFF2-40B4-BE49-F238E27FC236}">
                <a16:creationId xmlns:a16="http://schemas.microsoft.com/office/drawing/2014/main" id="{6E924339-D836-C084-ED45-8A488F6B29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ru-RU"/>
              <a:t>04.09.2025</a:t>
            </a:r>
          </a:p>
        </p:txBody>
      </p:sp>
    </p:spTree>
    <p:extLst>
      <p:ext uri="{BB962C8B-B14F-4D97-AF65-F5344CB8AC3E}">
        <p14:creationId xmlns:p14="http://schemas.microsoft.com/office/powerpoint/2010/main" val="26618380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CAB5B4D-9C5F-49C3-997D-40E36C965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Программа курса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91F1FD-F501-4042-8DD0-CD767802CD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06439" y="2063619"/>
            <a:ext cx="4607741" cy="395618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rgbClr val="C00000"/>
                </a:solidFill>
              </a:rPr>
              <a:t>Python</a:t>
            </a:r>
            <a:endParaRPr lang="ru-RU" sz="1800" dirty="0"/>
          </a:p>
          <a:p>
            <a:pPr marL="617220" lvl="1" indent="-342900">
              <a:buFont typeface="+mj-lt"/>
              <a:buAutoNum type="arabicPeriod"/>
            </a:pPr>
            <a:r>
              <a:rPr lang="ru-RU" sz="1800" dirty="0"/>
              <a:t>Введение в Python</a:t>
            </a:r>
          </a:p>
          <a:p>
            <a:pPr marL="617220" lvl="1" indent="-342900">
              <a:buFont typeface="+mj-lt"/>
              <a:buAutoNum type="arabicPeriod"/>
            </a:pPr>
            <a:r>
              <a:rPr lang="ru-RU" sz="1800" dirty="0"/>
              <a:t>Вычисления с </a:t>
            </a:r>
            <a:r>
              <a:rPr lang="en-US" sz="1800" dirty="0" err="1">
                <a:solidFill>
                  <a:srgbClr val="C000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numpy</a:t>
            </a:r>
            <a:endParaRPr lang="ru-RU" sz="1800" dirty="0">
              <a:solidFill>
                <a:srgbClr val="C00000"/>
              </a:solidFill>
            </a:endParaRPr>
          </a:p>
          <a:p>
            <a:pPr marL="617220" lvl="1" indent="-342900">
              <a:buFont typeface="+mj-lt"/>
              <a:buAutoNum type="arabicPeriod"/>
            </a:pPr>
            <a:r>
              <a:rPr lang="ru-RU" sz="1800" dirty="0"/>
              <a:t>Построение диаграмм с </a:t>
            </a:r>
            <a:r>
              <a:rPr lang="en-US" sz="1800" dirty="0">
                <a:solidFill>
                  <a:srgbClr val="C0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matplotlib</a:t>
            </a:r>
            <a:endParaRPr lang="en-US" sz="1800" dirty="0">
              <a:solidFill>
                <a:srgbClr val="C00000"/>
              </a:solidFill>
            </a:endParaRPr>
          </a:p>
          <a:p>
            <a:pPr marL="617220" lvl="1" indent="-342900">
              <a:buFont typeface="+mj-lt"/>
              <a:buAutoNum type="arabicPeriod"/>
            </a:pPr>
            <a:r>
              <a:rPr lang="ru-RU" sz="1800" dirty="0"/>
              <a:t>Стандартная библиотека</a:t>
            </a:r>
            <a:r>
              <a:rPr lang="en-US" sz="1800" dirty="0"/>
              <a:t> </a:t>
            </a:r>
            <a:r>
              <a:rPr lang="ru-RU" sz="1800" dirty="0"/>
              <a:t>Python</a:t>
            </a:r>
          </a:p>
          <a:p>
            <a:pPr marL="0" indent="0">
              <a:buNone/>
            </a:pPr>
            <a:r>
              <a:rPr lang="en-US" sz="2400" i="1" dirty="0">
                <a:solidFill>
                  <a:srgbClr val="C00000"/>
                </a:solidFill>
              </a:rPr>
              <a:t>C++</a:t>
            </a:r>
            <a:endParaRPr lang="ru-RU" sz="2400" i="1" dirty="0">
              <a:solidFill>
                <a:srgbClr val="C00000"/>
              </a:solidFill>
            </a:endParaRPr>
          </a:p>
          <a:p>
            <a:pPr marL="617220" lvl="1" indent="-342900">
              <a:buFont typeface="+mj-lt"/>
              <a:buAutoNum type="arabicPeriod"/>
            </a:pPr>
            <a:r>
              <a:rPr lang="ru-RU" sz="1800" dirty="0"/>
              <a:t>Потоки ввода-вывода, строки</a:t>
            </a:r>
          </a:p>
          <a:p>
            <a:pPr marL="617220" lvl="1" indent="-342900">
              <a:buFont typeface="+mj-lt"/>
              <a:buAutoNum type="arabicPeriod"/>
            </a:pPr>
            <a:r>
              <a:rPr lang="ru-RU" sz="1800" dirty="0"/>
              <a:t>Контейнеры </a:t>
            </a:r>
            <a:r>
              <a:rPr lang="en-US" sz="1800" dirty="0"/>
              <a:t>STL</a:t>
            </a:r>
          </a:p>
          <a:p>
            <a:pPr marL="617220" lvl="1" indent="-342900">
              <a:buFont typeface="+mj-lt"/>
              <a:buAutoNum type="arabicPeriod"/>
            </a:pPr>
            <a:r>
              <a:rPr lang="ru-RU" sz="1800" dirty="0"/>
              <a:t>Алгоритмы </a:t>
            </a:r>
            <a:r>
              <a:rPr lang="en-US" sz="1800" dirty="0"/>
              <a:t>STL</a:t>
            </a:r>
          </a:p>
          <a:p>
            <a:pPr marL="617220" lvl="1" indent="-342900">
              <a:buFont typeface="+mj-lt"/>
              <a:buAutoNum type="arabicPeriod"/>
            </a:pPr>
            <a:r>
              <a:rPr lang="ru-RU" sz="1800" dirty="0"/>
              <a:t>Классы</a:t>
            </a:r>
          </a:p>
          <a:p>
            <a:pPr marL="617220" lvl="1" indent="-342900">
              <a:buFont typeface="+mj-lt"/>
              <a:buAutoNum type="arabicPeriod"/>
            </a:pPr>
            <a:r>
              <a:rPr lang="ru-RU" sz="1800" dirty="0"/>
              <a:t>Шаблоны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49DC84C-D21D-4CF3-9AD4-95AB4D425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fld id="{E58EDE0D-0787-4A03-969A-A1D77559C4A6}" type="slidenum">
              <a:rPr lang="ru-RU" smtClean="0"/>
              <a:t>3</a:t>
            </a:fld>
            <a:endParaRPr lang="ru-RU"/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8A93C41B-5729-4564-B92B-F8D05848BEB8}"/>
              </a:ext>
            </a:extLst>
          </p:cNvPr>
          <p:cNvSpPr txBox="1">
            <a:spLocks/>
          </p:cNvSpPr>
          <p:nvPr/>
        </p:nvSpPr>
        <p:spPr>
          <a:xfrm>
            <a:off x="951281" y="3183061"/>
            <a:ext cx="5029573" cy="33098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1800" kern="1200" spc="1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400" dirty="0">
                <a:solidFill>
                  <a:srgbClr val="C00000"/>
                </a:solidFill>
              </a:rPr>
              <a:t>Зачет</a:t>
            </a:r>
            <a:endParaRPr lang="en-US" sz="2000" dirty="0">
              <a:solidFill>
                <a:srgbClr val="C00000"/>
              </a:solidFill>
            </a:endParaRP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ru-RU" sz="1800" dirty="0">
                <a:solidFill>
                  <a:schemeClr val="accent5">
                    <a:lumMod val="75000"/>
                  </a:schemeClr>
                </a:solidFill>
              </a:rPr>
              <a:t>На тройку</a:t>
            </a:r>
            <a:r>
              <a:rPr lang="ru-RU" sz="1800" dirty="0"/>
              <a:t>: набрать по 5 баллов из девяти блоков заданий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ru-RU" dirty="0">
                <a:solidFill>
                  <a:schemeClr val="accent5">
                    <a:lumMod val="75000"/>
                  </a:schemeClr>
                </a:solidFill>
              </a:rPr>
              <a:t>На четверку</a:t>
            </a:r>
            <a:r>
              <a:rPr lang="ru-RU" dirty="0"/>
              <a:t>: выполнить условие на тройку и набрать 65 или более баллов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ru-RU" dirty="0">
                <a:solidFill>
                  <a:schemeClr val="accent5">
                    <a:lumMod val="75000"/>
                  </a:schemeClr>
                </a:solidFill>
              </a:rPr>
              <a:t>На пятерку</a:t>
            </a:r>
            <a:r>
              <a:rPr lang="ru-RU" dirty="0"/>
              <a:t>: выполнить условие на тройку и набрать 85 или более баллов</a:t>
            </a:r>
          </a:p>
          <a:p>
            <a:pPr marL="0" indent="0">
              <a:spcBef>
                <a:spcPts val="600"/>
              </a:spcBef>
              <a:buNone/>
            </a:pPr>
            <a:endParaRPr lang="ru-RU" sz="1800" dirty="0"/>
          </a:p>
        </p:txBody>
      </p:sp>
      <p:sp>
        <p:nvSpPr>
          <p:cNvPr id="9" name="Объект 2">
            <a:extLst>
              <a:ext uri="{FF2B5EF4-FFF2-40B4-BE49-F238E27FC236}">
                <a16:creationId xmlns:a16="http://schemas.microsoft.com/office/drawing/2014/main" id="{DDC8791C-EFAB-41CD-9F9A-57CDB7A8972D}"/>
              </a:ext>
            </a:extLst>
          </p:cNvPr>
          <p:cNvSpPr txBox="1">
            <a:spLocks/>
          </p:cNvSpPr>
          <p:nvPr/>
        </p:nvSpPr>
        <p:spPr>
          <a:xfrm>
            <a:off x="951281" y="1902421"/>
            <a:ext cx="4835118" cy="1280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1800" kern="1200" spc="1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400" dirty="0">
                <a:solidFill>
                  <a:srgbClr val="C00000"/>
                </a:solidFill>
              </a:rPr>
              <a:t>Учебная нагрузка</a:t>
            </a:r>
          </a:p>
          <a:p>
            <a:pPr>
              <a:spcBef>
                <a:spcPts val="600"/>
              </a:spcBef>
            </a:pPr>
            <a:r>
              <a:rPr lang="ru-RU" sz="1800" dirty="0"/>
              <a:t>8 лекций</a:t>
            </a:r>
          </a:p>
          <a:p>
            <a:pPr>
              <a:spcBef>
                <a:spcPts val="600"/>
              </a:spcBef>
            </a:pPr>
            <a:r>
              <a:rPr lang="ru-RU" dirty="0"/>
              <a:t>16 практических занятий по 1.5 пары</a:t>
            </a:r>
            <a:endParaRPr lang="en-US" sz="1800" dirty="0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5CEBB3C5-FAC0-18CC-747D-68C511701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ru-RU"/>
              <a:t>04.09.2025</a:t>
            </a:r>
          </a:p>
        </p:txBody>
      </p:sp>
      <p:cxnSp>
        <p:nvCxn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8E8EF6D1-574C-CCEB-CB68-611A5A6CE218}"/>
              </a:ext>
            </a:extLst>
          </p:cNvPr>
          <p:cNvCxnSpPr>
            <a:cxnSpLocks/>
          </p:cNvCxnSpPr>
          <p:nvPr/>
        </p:nvCxnSpPr>
        <p:spPr>
          <a:xfrm>
            <a:off x="900416" y="5571241"/>
            <a:ext cx="0" cy="448559"/>
          </a:xfrm>
          <a:prstGeom prst="line">
            <a:avLst/>
          </a:prstGeom>
          <a:ln w="57150" cap="rnd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6FFDC123-3463-ACE8-BC6A-C6EB9EC57037}"/>
              </a:ext>
            </a:extLst>
          </p:cNvPr>
          <p:cNvSpPr txBox="1"/>
          <p:nvPr/>
        </p:nvSpPr>
        <p:spPr>
          <a:xfrm>
            <a:off x="951281" y="5472354"/>
            <a:ext cx="491219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ru-RU" i="1" dirty="0"/>
              <a:t>Необходимо подтвердить свою оценку в ходе беседы с преподавателем</a:t>
            </a:r>
            <a:endParaRPr lang="en-US" i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F8B6785-FC71-A3C6-2452-7A831F9A2C3A}"/>
              </a:ext>
            </a:extLst>
          </p:cNvPr>
          <p:cNvSpPr txBox="1"/>
          <p:nvPr/>
        </p:nvSpPr>
        <p:spPr>
          <a:xfrm>
            <a:off x="951281" y="6231420"/>
            <a:ext cx="60991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ru-RU" i="1" dirty="0"/>
              <a:t>За каждую посещённую лекцию +1 балл</a:t>
            </a:r>
            <a:endParaRPr lang="en-US" i="1" dirty="0"/>
          </a:p>
        </p:txBody>
      </p: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AA55C8D4-E2D1-216A-92CD-26EE49F4F50B}"/>
              </a:ext>
            </a:extLst>
          </p:cNvPr>
          <p:cNvCxnSpPr>
            <a:cxnSpLocks/>
          </p:cNvCxnSpPr>
          <p:nvPr/>
        </p:nvCxnSpPr>
        <p:spPr>
          <a:xfrm>
            <a:off x="900416" y="6309360"/>
            <a:ext cx="0" cy="235350"/>
          </a:xfrm>
          <a:prstGeom prst="line">
            <a:avLst/>
          </a:prstGeom>
          <a:ln w="57150" cap="rnd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48118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A06C46F-7E39-4174-94DB-B3E5CDF89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Зачем изучать </a:t>
            </a:r>
            <a:r>
              <a:rPr lang="en-US" i="1" dirty="0"/>
              <a:t>C++   </a:t>
            </a:r>
            <a:r>
              <a:rPr lang="en-US" dirty="0"/>
              <a:t>?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18ADECB-37D3-43D1-874C-0800FD1A30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9879" y="2438399"/>
            <a:ext cx="5007238" cy="3741738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US" sz="2400" i="1" dirty="0"/>
              <a:t>C++</a:t>
            </a:r>
            <a:r>
              <a:rPr lang="ru-RU" sz="2400" dirty="0"/>
              <a:t> быстрый и он развивается</a:t>
            </a:r>
          </a:p>
          <a:p>
            <a:pPr lvl="1">
              <a:lnSpc>
                <a:spcPct val="110000"/>
              </a:lnSpc>
            </a:pPr>
            <a:r>
              <a:rPr lang="ru-RU" sz="1800" b="1" dirty="0">
                <a:solidFill>
                  <a:srgbClr val="C00000"/>
                </a:solidFill>
              </a:rPr>
              <a:t>Быстрый</a:t>
            </a:r>
            <a:r>
              <a:rPr lang="en-US" sz="1800" dirty="0"/>
              <a:t>:</a:t>
            </a:r>
            <a:r>
              <a:rPr lang="ru-RU" sz="1800" dirty="0"/>
              <a:t> это основной язык разработки в коммерческих и научных проектах, в которых важна </a:t>
            </a:r>
            <a:r>
              <a:rPr lang="ru-RU" sz="1800" i="1" dirty="0"/>
              <a:t>эффективность</a:t>
            </a:r>
            <a:r>
              <a:rPr lang="ru-RU" sz="1800" dirty="0"/>
              <a:t> (</a:t>
            </a:r>
            <a:r>
              <a:rPr lang="en-US" sz="1800" dirty="0"/>
              <a:t>OS X, MS Windows, Firefox, Chromium, Adobe Photoshop, Tensorflow,</a:t>
            </a:r>
            <a:r>
              <a:rPr lang="ru-RU" sz="1800" dirty="0"/>
              <a:t> и ещё </a:t>
            </a:r>
            <a:r>
              <a:rPr lang="ru-RU" sz="1800" b="1" dirty="0"/>
              <a:t>очень</a:t>
            </a:r>
            <a:r>
              <a:rPr lang="ru-RU" sz="1800" dirty="0"/>
              <a:t> много чего)</a:t>
            </a:r>
          </a:p>
          <a:p>
            <a:pPr lvl="1">
              <a:lnSpc>
                <a:spcPct val="110000"/>
              </a:lnSpc>
            </a:pPr>
            <a:r>
              <a:rPr lang="ru-RU" sz="1800" b="1" dirty="0">
                <a:solidFill>
                  <a:srgbClr val="C00000"/>
                </a:solidFill>
              </a:rPr>
              <a:t>Развивается</a:t>
            </a:r>
            <a:r>
              <a:rPr lang="ru-RU" sz="1800" dirty="0"/>
              <a:t>: на современном </a:t>
            </a:r>
            <a:r>
              <a:rPr lang="en-US" sz="1800" i="1" dirty="0"/>
              <a:t>C++</a:t>
            </a:r>
            <a:r>
              <a:rPr lang="en-US" sz="1800" dirty="0"/>
              <a:t> </a:t>
            </a:r>
            <a:r>
              <a:rPr lang="ru-RU" sz="1800" dirty="0"/>
              <a:t>можно писать ясный и надёжный код</a:t>
            </a:r>
            <a:endParaRPr lang="en-US" sz="1800" b="1" dirty="0">
              <a:solidFill>
                <a:srgbClr val="C00000"/>
              </a:solidFill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E20140F-EA28-4B25-BF0E-E6B1D7D2D6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fld id="{E58EDE0D-0787-4A03-969A-A1D77559C4A6}" type="slidenum">
              <a:rPr lang="ru-RU" smtClean="0"/>
              <a:t>4</a:t>
            </a:fld>
            <a:endParaRPr lang="ru-RU"/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E191F57F-7FD6-4762-8ACC-4D8E6BCDF2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8710" y="426927"/>
            <a:ext cx="1068407" cy="1201958"/>
          </a:xfrm>
          <a:prstGeom prst="rect">
            <a:avLst/>
          </a:prstGeom>
        </p:spPr>
      </p:pic>
      <p:sp>
        <p:nvSpPr>
          <p:cNvPr id="10" name="Объект 2">
            <a:extLst>
              <a:ext uri="{FF2B5EF4-FFF2-40B4-BE49-F238E27FC236}">
                <a16:creationId xmlns:a16="http://schemas.microsoft.com/office/drawing/2014/main" id="{F2A580EA-1BA4-41F9-A67B-17A29E1B2370}"/>
              </a:ext>
            </a:extLst>
          </p:cNvPr>
          <p:cNvSpPr txBox="1">
            <a:spLocks/>
          </p:cNvSpPr>
          <p:nvPr/>
        </p:nvSpPr>
        <p:spPr>
          <a:xfrm>
            <a:off x="5548542" y="5368590"/>
            <a:ext cx="5622872" cy="14115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1800" kern="1200" spc="1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0000"/>
              </a:lnSpc>
            </a:pPr>
            <a:r>
              <a:rPr lang="ru-RU" dirty="0"/>
              <a:t>Выпускнику ФФ полезно иметь представление о написании эффективного кода</a:t>
            </a:r>
          </a:p>
          <a:p>
            <a:r>
              <a:rPr lang="ru-RU" dirty="0"/>
              <a:t>Философия </a:t>
            </a:r>
            <a:r>
              <a:rPr lang="en-US" i="1" dirty="0"/>
              <a:t>C++</a:t>
            </a:r>
            <a:r>
              <a:rPr lang="en-US" dirty="0"/>
              <a:t>: </a:t>
            </a:r>
            <a:r>
              <a:rPr lang="en-US" b="1" dirty="0">
                <a:solidFill>
                  <a:srgbClr val="C00000"/>
                </a:solidFill>
              </a:rPr>
              <a:t>zero cost abstractions</a:t>
            </a:r>
            <a:endParaRPr lang="ru-RU" dirty="0"/>
          </a:p>
        </p:txBody>
      </p:sp>
      <p:pic>
        <p:nvPicPr>
          <p:cNvPr id="4" name="Picture 3" descr="Current Status : Standard C++">
            <a:extLst>
              <a:ext uri="{FF2B5EF4-FFF2-40B4-BE49-F238E27FC236}">
                <a16:creationId xmlns:a16="http://schemas.microsoft.com/office/drawing/2014/main" id="{B0207F4B-1CCF-F276-99F9-7F95C1A3E7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7162" y="568911"/>
            <a:ext cx="5007238" cy="4721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00227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3D53F8-FFDF-4291-9D77-58645FE29F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640081"/>
            <a:ext cx="4954920" cy="1606948"/>
          </a:xfrm>
        </p:spPr>
        <p:txBody>
          <a:bodyPr>
            <a:normAutofit/>
          </a:bodyPr>
          <a:lstStyle/>
          <a:p>
            <a:r>
              <a:rPr lang="ru-RU" dirty="0"/>
              <a:t>Как мы будем изучать </a:t>
            </a:r>
            <a:r>
              <a:rPr lang="en-US" i="1" dirty="0"/>
              <a:t>C++</a:t>
            </a:r>
            <a:endParaRPr lang="ru-RU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F4496F-7707-41AB-9C89-2CE35CF36D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780" y="2535062"/>
            <a:ext cx="5340220" cy="3934000"/>
          </a:xfrm>
        </p:spPr>
        <p:txBody>
          <a:bodyPr>
            <a:normAutofit fontScale="85000" lnSpcReduction="20000"/>
          </a:bodyPr>
          <a:lstStyle/>
          <a:p>
            <a:r>
              <a:rPr lang="ru-RU" dirty="0"/>
              <a:t>Как высокоуровневый язык программирования</a:t>
            </a:r>
          </a:p>
          <a:p>
            <a:pPr lvl="1"/>
            <a:r>
              <a:rPr lang="ru-RU" dirty="0"/>
              <a:t>А не как развитие языка Си</a:t>
            </a:r>
          </a:p>
          <a:p>
            <a:r>
              <a:rPr lang="ru-RU" dirty="0"/>
              <a:t>Продвинутые возможности языка (классы и шаблоны, динамическое выделение памяти) будем обсуждать в несколько этапов</a:t>
            </a:r>
          </a:p>
          <a:p>
            <a:pPr lvl="1"/>
            <a:r>
              <a:rPr lang="ru-RU" dirty="0"/>
              <a:t>Сначала научимся использовать стандартную библиотеку</a:t>
            </a:r>
          </a:p>
          <a:p>
            <a:pPr lvl="1"/>
            <a:r>
              <a:rPr lang="ru-RU" dirty="0"/>
              <a:t>Потом научимся использовать</a:t>
            </a:r>
            <a:r>
              <a:rPr lang="en-US" dirty="0"/>
              <a:t> </a:t>
            </a:r>
            <a:r>
              <a:rPr lang="ru-RU" dirty="0"/>
              <a:t>продвинутые возможности языка при написании собственных программ</a:t>
            </a:r>
            <a:endParaRPr lang="en-US" dirty="0"/>
          </a:p>
          <a:p>
            <a:r>
              <a:rPr lang="ru-RU" dirty="0"/>
              <a:t>Предполагаем, что вы знакомы с языком Си</a:t>
            </a:r>
          </a:p>
        </p:txBody>
      </p:sp>
      <p:pic>
        <p:nvPicPr>
          <p:cNvPr id="6" name="Picture 5" descr="Graphical user interface, application, PowerPoint&#10;&#10;Description automatically generated">
            <a:extLst>
              <a:ext uri="{FF2B5EF4-FFF2-40B4-BE49-F238E27FC236}">
                <a16:creationId xmlns:a16="http://schemas.microsoft.com/office/drawing/2014/main" id="{40CD73FB-7EE2-40B9-9CB4-4AB09F9FAE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0215" y="1184793"/>
            <a:ext cx="3973908" cy="223532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 descr="Graphical user interface, text, application, chat or text message&#10;&#10;Description automatically generated">
            <a:extLst>
              <a:ext uri="{FF2B5EF4-FFF2-40B4-BE49-F238E27FC236}">
                <a16:creationId xmlns:a16="http://schemas.microsoft.com/office/drawing/2014/main" id="{CBC49370-63DF-4FC1-8586-7B8260ABDA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0215" y="3784478"/>
            <a:ext cx="3973908" cy="223532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4C46F0-FF98-4A85-914D-9D2761231C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2840" y="6172200"/>
            <a:ext cx="914400" cy="593725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E58EDE0D-0787-4A03-969A-A1D77559C4A6}" type="slidenum">
              <a:rPr lang="ru-RU" smtClean="0"/>
              <a:pPr>
                <a:lnSpc>
                  <a:spcPct val="90000"/>
                </a:lnSpc>
                <a:spcAft>
                  <a:spcPts val="600"/>
                </a:spcAft>
              </a:pPr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691350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7A0B7631-1E6B-4D34-88BE-E538AB0ACB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Ресурсы по </a:t>
            </a:r>
            <a:r>
              <a:rPr lang="en-US" i="1" dirty="0"/>
              <a:t>C++</a:t>
            </a:r>
            <a:endParaRPr lang="ru-RU" i="1" dirty="0"/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66D1F3EC-2A7F-4920-9F9D-D70407CB75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8466" y="1714966"/>
            <a:ext cx="5660204" cy="4777274"/>
          </a:xfrm>
        </p:spPr>
        <p:txBody>
          <a:bodyPr>
            <a:normAutofit fontScale="77500" lnSpcReduction="20000"/>
          </a:bodyPr>
          <a:lstStyle/>
          <a:p>
            <a:pPr>
              <a:spcBef>
                <a:spcPts val="1000"/>
              </a:spcBef>
            </a:pPr>
            <a:r>
              <a:rPr lang="en-US" dirty="0">
                <a:solidFill>
                  <a:srgbClr val="C000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en.cppreference.com</a:t>
            </a:r>
            <a:r>
              <a:rPr lang="en-US" dirty="0"/>
              <a:t>  – </a:t>
            </a:r>
            <a:r>
              <a:rPr lang="ru-RU" dirty="0"/>
              <a:t>документация</a:t>
            </a:r>
            <a:endParaRPr lang="en-US" dirty="0"/>
          </a:p>
          <a:p>
            <a:pPr>
              <a:spcBef>
                <a:spcPts val="1000"/>
              </a:spcBef>
            </a:pPr>
            <a:r>
              <a:rPr lang="en-US" dirty="0">
                <a:solidFill>
                  <a:srgbClr val="C000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isocpp.org</a:t>
            </a:r>
            <a:r>
              <a:rPr lang="en-US" dirty="0"/>
              <a:t> – Standard </a:t>
            </a:r>
            <a:r>
              <a:rPr lang="en-US" i="1" dirty="0"/>
              <a:t>C++</a:t>
            </a:r>
            <a:r>
              <a:rPr lang="en-US" dirty="0"/>
              <a:t> Foundation</a:t>
            </a:r>
          </a:p>
          <a:p>
            <a:pPr>
              <a:spcBef>
                <a:spcPts val="1000"/>
              </a:spcBef>
            </a:pPr>
            <a:r>
              <a:rPr lang="en-US" dirty="0"/>
              <a:t>[</a:t>
            </a:r>
            <a:r>
              <a:rPr lang="ru-RU" dirty="0"/>
              <a:t>Поисковик</a:t>
            </a:r>
            <a:r>
              <a:rPr lang="en-US" dirty="0"/>
              <a:t>]</a:t>
            </a:r>
            <a:r>
              <a:rPr lang="ru-RU" dirty="0"/>
              <a:t> + </a:t>
            </a:r>
            <a:r>
              <a:rPr lang="en-US" dirty="0">
                <a:solidFill>
                  <a:srgbClr val="C0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stackoverflow.com</a:t>
            </a:r>
            <a:endParaRPr lang="en-US" dirty="0"/>
          </a:p>
          <a:p>
            <a:pPr>
              <a:spcBef>
                <a:spcPts val="1000"/>
              </a:spcBef>
            </a:pPr>
            <a:r>
              <a:rPr lang="en-US" dirty="0"/>
              <a:t>Coursera</a:t>
            </a:r>
            <a:endParaRPr lang="ru-RU" dirty="0"/>
          </a:p>
          <a:p>
            <a:pPr lvl="1"/>
            <a:r>
              <a:rPr lang="ru-RU" dirty="0">
                <a:solidFill>
                  <a:srgbClr val="C00000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Искусство разработки на современном C++</a:t>
            </a:r>
            <a:endParaRPr lang="ru-RU" dirty="0">
              <a:solidFill>
                <a:srgbClr val="C00000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…</a:t>
            </a:r>
            <a:endParaRPr lang="ru-RU" dirty="0">
              <a:solidFill>
                <a:schemeClr val="tx1"/>
              </a:solidFill>
            </a:endParaRPr>
          </a:p>
          <a:p>
            <a:pPr>
              <a:spcBef>
                <a:spcPts val="1000"/>
              </a:spcBef>
            </a:pPr>
            <a:r>
              <a:rPr lang="ru-RU" dirty="0">
                <a:solidFill>
                  <a:schemeClr val="tx1"/>
                </a:solidFill>
              </a:rPr>
              <a:t>Книги</a:t>
            </a:r>
          </a:p>
          <a:p>
            <a:pPr lvl="1"/>
            <a:r>
              <a:rPr lang="en-US" dirty="0">
                <a:solidFill>
                  <a:srgbClr val="C00000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Bjarne Stroustrup</a:t>
            </a:r>
            <a:r>
              <a:rPr lang="en-US" dirty="0"/>
              <a:t> </a:t>
            </a:r>
            <a:r>
              <a:rPr lang="ru-RU" dirty="0"/>
              <a:t>«</a:t>
            </a:r>
            <a:r>
              <a:rPr lang="en-US" dirty="0"/>
              <a:t>The C++ programming language</a:t>
            </a:r>
            <a:r>
              <a:rPr lang="ru-RU" dirty="0"/>
              <a:t>»</a:t>
            </a:r>
            <a:endParaRPr lang="en-US" dirty="0"/>
          </a:p>
          <a:p>
            <a:pPr lvl="1"/>
            <a:r>
              <a:rPr lang="en-US" dirty="0">
                <a:solidFill>
                  <a:srgbClr val="C00000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Scott Meyers</a:t>
            </a:r>
            <a:r>
              <a:rPr lang="ru-RU" dirty="0"/>
              <a:t> «</a:t>
            </a:r>
            <a:r>
              <a:rPr lang="en-US" dirty="0"/>
              <a:t>Effective C++</a:t>
            </a:r>
            <a:r>
              <a:rPr lang="ru-RU" dirty="0"/>
              <a:t>»</a:t>
            </a:r>
          </a:p>
          <a:p>
            <a:pPr lvl="1"/>
            <a:r>
              <a:rPr lang="en-US" dirty="0"/>
              <a:t>…</a:t>
            </a:r>
            <a:endParaRPr lang="ru-RU" dirty="0"/>
          </a:p>
          <a:p>
            <a:pPr>
              <a:spcBef>
                <a:spcPts val="1000"/>
              </a:spcBef>
            </a:pPr>
            <a:r>
              <a:rPr lang="en-US" dirty="0">
                <a:solidFill>
                  <a:srgbClr val="C00000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boost.org</a:t>
            </a:r>
            <a:r>
              <a:rPr lang="en-US" dirty="0"/>
              <a:t> – </a:t>
            </a:r>
            <a:r>
              <a:rPr lang="ru-RU" dirty="0"/>
              <a:t>расширенный набор библиотек</a:t>
            </a:r>
            <a:endParaRPr lang="en-US" dirty="0"/>
          </a:p>
          <a:p>
            <a:pPr>
              <a:spcBef>
                <a:spcPts val="1000"/>
              </a:spcBef>
            </a:pPr>
            <a:r>
              <a:rPr lang="ru-RU" dirty="0"/>
              <a:t>Задачи </a:t>
            </a:r>
            <a:r>
              <a:rPr lang="en-US" dirty="0"/>
              <a:t>online: </a:t>
            </a:r>
            <a:r>
              <a:rPr lang="en-US" dirty="0">
                <a:solidFill>
                  <a:srgbClr val="C00000"/>
                </a:solidFill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hackerrank.com</a:t>
            </a:r>
            <a:r>
              <a:rPr lang="ru-RU" dirty="0"/>
              <a:t> и др.</a:t>
            </a:r>
            <a:endParaRPr lang="en-US" dirty="0"/>
          </a:p>
          <a:p>
            <a:pPr>
              <a:spcBef>
                <a:spcPts val="1000"/>
              </a:spcBef>
            </a:pPr>
            <a:r>
              <a:rPr lang="en-US" dirty="0"/>
              <a:t>…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FBC8C019-281E-41AD-B602-CC07C0A26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fld id="{E58EDE0D-0787-4A03-969A-A1D77559C4A6}" type="slidenum">
              <a:rPr lang="ru-RU" smtClean="0"/>
              <a:t>6</a:t>
            </a:fld>
            <a:endParaRPr lang="ru-RU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849EFE35-9C94-4F3F-B355-1E9E5B876E0C}"/>
              </a:ext>
            </a:extLst>
          </p:cNvPr>
          <p:cNvPicPr>
            <a:picLocks noChangeAspect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r="64245" b="19910"/>
          <a:stretch/>
        </p:blipFill>
        <p:spPr>
          <a:xfrm>
            <a:off x="11292840" y="-3660"/>
            <a:ext cx="916940" cy="770229"/>
          </a:xfrm>
          <a:prstGeom prst="rect">
            <a:avLst/>
          </a:prstGeom>
          <a:solidFill>
            <a:schemeClr val="bg2"/>
          </a:solidFill>
          <a:ln>
            <a:noFill/>
          </a:ln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1E7EEFE9-8149-4210-9C83-09018E950F97}"/>
              </a:ext>
            </a:extLst>
          </p:cNvPr>
          <p:cNvGrpSpPr/>
          <p:nvPr/>
        </p:nvGrpSpPr>
        <p:grpSpPr>
          <a:xfrm>
            <a:off x="6956977" y="1929725"/>
            <a:ext cx="1844292" cy="2998549"/>
            <a:chOff x="7240555" y="1354529"/>
            <a:chExt cx="1844292" cy="2998549"/>
          </a:xfrm>
        </p:grpSpPr>
        <p:pic>
          <p:nvPicPr>
            <p:cNvPr id="9" name="Picture 8" descr="A person sitting in a chair&#10;&#10;Description automatically generated with low confidence">
              <a:extLst>
                <a:ext uri="{FF2B5EF4-FFF2-40B4-BE49-F238E27FC236}">
                  <a16:creationId xmlns:a16="http://schemas.microsoft.com/office/drawing/2014/main" id="{A48202C8-444F-45B2-BAC7-267D7E9459D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46800" y="1354529"/>
              <a:ext cx="1838047" cy="2409884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E8A8686-7E89-424B-97D0-364446D0D83C}"/>
                </a:ext>
              </a:extLst>
            </p:cNvPr>
            <p:cNvSpPr txBox="1"/>
            <p:nvPr/>
          </p:nvSpPr>
          <p:spPr>
            <a:xfrm>
              <a:off x="7240555" y="3768303"/>
              <a:ext cx="183804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dirty="0"/>
                <a:t>Bjarne Stroustrup</a:t>
              </a:r>
              <a:endParaRPr lang="ru-RU" sz="1600" dirty="0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2A905BC-905F-4BC3-8256-490C803EFE1C}"/>
              </a:ext>
            </a:extLst>
          </p:cNvPr>
          <p:cNvGrpSpPr/>
          <p:nvPr/>
        </p:nvGrpSpPr>
        <p:grpSpPr>
          <a:xfrm>
            <a:off x="9010884" y="3134667"/>
            <a:ext cx="1838046" cy="2812113"/>
            <a:chOff x="9337456" y="3532865"/>
            <a:chExt cx="1838046" cy="2812113"/>
          </a:xfrm>
        </p:grpSpPr>
        <p:pic>
          <p:nvPicPr>
            <p:cNvPr id="7" name="Picture 6" descr="A picture containing person, wall, indoor, posing&#10;&#10;Description automatically generated">
              <a:extLst>
                <a:ext uri="{FF2B5EF4-FFF2-40B4-BE49-F238E27FC236}">
                  <a16:creationId xmlns:a16="http://schemas.microsoft.com/office/drawing/2014/main" id="{472DAA01-59B3-4C85-B41E-6AA9DFCE352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37456" y="3532865"/>
              <a:ext cx="1838046" cy="2462981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A70391D-2B0C-48A5-BE74-5B8598E52D8E}"/>
                </a:ext>
              </a:extLst>
            </p:cNvPr>
            <p:cNvSpPr txBox="1"/>
            <p:nvPr/>
          </p:nvSpPr>
          <p:spPr>
            <a:xfrm>
              <a:off x="9337456" y="6006424"/>
              <a:ext cx="1838046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dirty="0"/>
                <a:t>Scott Meyers</a:t>
              </a:r>
              <a:endParaRPr lang="ru-RU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23202265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8D5310-05AC-625F-BDA1-A3F3E855FB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6</a:t>
            </a:r>
            <a:endParaRPr lang="ru-RU" dirty="0"/>
          </a:p>
        </p:txBody>
      </p:sp>
      <p:sp>
        <p:nvSpPr>
          <p:cNvPr id="6" name="Заголовок 4">
            <a:extLst>
              <a:ext uri="{FF2B5EF4-FFF2-40B4-BE49-F238E27FC236}">
                <a16:creationId xmlns:a16="http://schemas.microsoft.com/office/drawing/2014/main" id="{B18D0386-24AD-65BE-960A-D3E66158C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236200" cy="1325563"/>
          </a:xfrm>
        </p:spPr>
        <p:txBody>
          <a:bodyPr/>
          <a:lstStyle/>
          <a:p>
            <a:r>
              <a:rPr lang="ru-RU" dirty="0"/>
              <a:t>Ресурсы по </a:t>
            </a:r>
            <a:r>
              <a:rPr lang="ru-RU" i="1" dirty="0"/>
              <a:t>нашему курсу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3863B0FC-8FC2-89F2-BFC9-D899B0FC27A0}"/>
              </a:ext>
            </a:extLst>
          </p:cNvPr>
          <p:cNvSpPr txBox="1">
            <a:spLocks/>
          </p:cNvSpPr>
          <p:nvPr/>
        </p:nvSpPr>
        <p:spPr>
          <a:xfrm>
            <a:off x="359781" y="5167312"/>
            <a:ext cx="4241800" cy="5127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i="1" dirty="0"/>
              <a:t>cpp-python-nsu.inp.nsk.su</a:t>
            </a:r>
            <a:endParaRPr lang="ru-RU" i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475B7BF-4BD0-2792-6361-6570CCA705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635" y="1690688"/>
            <a:ext cx="3482093" cy="3465512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75C4FB7-3A50-4AF0-F57C-59EEF87AB1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0883" y="1749954"/>
            <a:ext cx="6194362" cy="3346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14901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279A42D3-1DAE-49D2-BAF4-CAF6133E07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/>
              <a:t>C++</a:t>
            </a:r>
            <a:r>
              <a:rPr lang="en-US"/>
              <a:t> </a:t>
            </a:r>
            <a:r>
              <a:rPr lang="ru-RU"/>
              <a:t>быстрый старт</a:t>
            </a:r>
            <a:endParaRPr lang="ru-RU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BEB8E6D-A79F-4E15-9D84-F28963530C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89F786-7DA9-4433-B47D-0791B07FC3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985769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82109-C30B-4857-B271-8B3C62A0B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Hello, student!</a:t>
            </a:r>
            <a:endParaRPr lang="ru-RU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24CD7D-4D94-44B1-B749-14F73C0F1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fld id="{E58EDE0D-0787-4A03-969A-A1D77559C4A6}" type="slidenum">
              <a:rPr lang="ru-RU" smtClean="0"/>
              <a:t>9</a:t>
            </a:fld>
            <a:endParaRPr lang="ru-RU"/>
          </a:p>
        </p:txBody>
      </p:sp>
      <p:sp>
        <p:nvSpPr>
          <p:cNvPr id="8" name="Объект 1">
            <a:extLst>
              <a:ext uri="{FF2B5EF4-FFF2-40B4-BE49-F238E27FC236}">
                <a16:creationId xmlns:a16="http://schemas.microsoft.com/office/drawing/2014/main" id="{D878F302-48BB-451B-B4FD-F6348D96292D}"/>
              </a:ext>
            </a:extLst>
          </p:cNvPr>
          <p:cNvSpPr txBox="1">
            <a:spLocks/>
          </p:cNvSpPr>
          <p:nvPr/>
        </p:nvSpPr>
        <p:spPr>
          <a:xfrm>
            <a:off x="4540050" y="2307761"/>
            <a:ext cx="5760945" cy="3842676"/>
          </a:xfrm>
          <a:custGeom>
            <a:avLst/>
            <a:gdLst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60945" h="3842676">
                <a:moveTo>
                  <a:pt x="0" y="0"/>
                </a:moveTo>
                <a:lnTo>
                  <a:pt x="5760945" y="0"/>
                </a:lnTo>
                <a:cubicBezTo>
                  <a:pt x="5471696" y="1402190"/>
                  <a:pt x="5760945" y="2561784"/>
                  <a:pt x="5760945" y="3842676"/>
                </a:cubicBezTo>
                <a:lnTo>
                  <a:pt x="0" y="3842676"/>
                </a:lnTo>
                <a:lnTo>
                  <a:pt x="0" y="0"/>
                </a:lnTo>
                <a:close/>
              </a:path>
            </a:pathLst>
          </a:cu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>
            <a:normAutofit lnSpcReduction="10000"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1800" kern="1200" spc="1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AF00DB"/>
                </a:solidFill>
                <a:latin typeface="Consolas" panose="020B0609020204030204" pitchFamily="49" charset="0"/>
              </a:rPr>
              <a:t>#include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 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&lt;iostream&gt;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AF00DB"/>
                </a:solidFill>
                <a:latin typeface="Consolas" panose="020B0609020204030204" pitchFamily="49" charset="0"/>
              </a:rPr>
              <a:t>#include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 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&lt;string&gt;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AF00DB"/>
                </a:solidFill>
                <a:latin typeface="Consolas" panose="020B0609020204030204" pitchFamily="49" charset="0"/>
              </a:rPr>
              <a:t>using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namespace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dirty="0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() {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&lt;&lt; 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"What is your name? 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name;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&gt;&gt; name;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&lt;&lt; 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"Hello, 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&lt;&lt; name &lt;&lt; 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"!"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&lt;&lt; 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dirty="0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dirty="0">
                <a:solidFill>
                  <a:srgbClr val="09885A"/>
                </a:solidFill>
                <a:latin typeface="Consolas" panose="020B0609020204030204" pitchFamily="49" charset="0"/>
              </a:rPr>
              <a:t>0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3" name="Speech Bubble: Rectangle with Corners Rounded 12">
            <a:extLst>
              <a:ext uri="{FF2B5EF4-FFF2-40B4-BE49-F238E27FC236}">
                <a16:creationId xmlns:a16="http://schemas.microsoft.com/office/drawing/2014/main" id="{EB4062EF-3444-4F97-8424-E04FA295418B}"/>
              </a:ext>
            </a:extLst>
          </p:cNvPr>
          <p:cNvSpPr/>
          <p:nvPr/>
        </p:nvSpPr>
        <p:spPr>
          <a:xfrm>
            <a:off x="755780" y="2068274"/>
            <a:ext cx="3265714" cy="478973"/>
          </a:xfrm>
          <a:prstGeom prst="wedgeRoundRectCallout">
            <a:avLst>
              <a:gd name="adj1" fmla="val 66863"/>
              <a:gd name="adj2" fmla="val 50096"/>
              <a:gd name="adj3" fmla="val 16667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dirty="0"/>
              <a:t>Подключаем библиотеки</a:t>
            </a:r>
          </a:p>
        </p:txBody>
      </p: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7B5C0ADC-DFB2-492A-ABA6-F8B05677EAAF}"/>
              </a:ext>
            </a:extLst>
          </p:cNvPr>
          <p:cNvSpPr/>
          <p:nvPr/>
        </p:nvSpPr>
        <p:spPr>
          <a:xfrm>
            <a:off x="755780" y="2811830"/>
            <a:ext cx="3265714" cy="478973"/>
          </a:xfrm>
          <a:prstGeom prst="wedgeRoundRectCallout">
            <a:avLst>
              <a:gd name="adj1" fmla="val 66863"/>
              <a:gd name="adj2" fmla="val 65680"/>
              <a:gd name="adj3" fmla="val 16667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dirty="0"/>
              <a:t>Поговорим об этом позже</a:t>
            </a:r>
          </a:p>
        </p:txBody>
      </p:sp>
      <p:sp>
        <p:nvSpPr>
          <p:cNvPr id="15" name="Speech Bubble: Rectangle with Corners Rounded 14">
            <a:extLst>
              <a:ext uri="{FF2B5EF4-FFF2-40B4-BE49-F238E27FC236}">
                <a16:creationId xmlns:a16="http://schemas.microsoft.com/office/drawing/2014/main" id="{038834D0-E1F2-4ED4-9DE7-E7A1EE4C2174}"/>
              </a:ext>
            </a:extLst>
          </p:cNvPr>
          <p:cNvSpPr/>
          <p:nvPr/>
        </p:nvSpPr>
        <p:spPr>
          <a:xfrm>
            <a:off x="755780" y="3552074"/>
            <a:ext cx="3265714" cy="643812"/>
          </a:xfrm>
          <a:prstGeom prst="wedgeRoundRectCallout">
            <a:avLst>
              <a:gd name="adj1" fmla="val 74474"/>
              <a:gd name="adj2" fmla="val 66848"/>
              <a:gd name="adj3" fmla="val 16667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dirty="0"/>
              <a:t>Вывод текста в стандартный поток вывода</a:t>
            </a:r>
          </a:p>
        </p:txBody>
      </p:sp>
      <p:sp>
        <p:nvSpPr>
          <p:cNvPr id="16" name="Speech Bubble: Rectangle with Corners Rounded 15">
            <a:extLst>
              <a:ext uri="{FF2B5EF4-FFF2-40B4-BE49-F238E27FC236}">
                <a16:creationId xmlns:a16="http://schemas.microsoft.com/office/drawing/2014/main" id="{36E54749-E1AA-42AC-9D19-E5A704AA6F2E}"/>
              </a:ext>
            </a:extLst>
          </p:cNvPr>
          <p:cNvSpPr/>
          <p:nvPr/>
        </p:nvSpPr>
        <p:spPr>
          <a:xfrm>
            <a:off x="755780" y="4457157"/>
            <a:ext cx="3265714" cy="441170"/>
          </a:xfrm>
          <a:prstGeom prst="wedgeRoundRectCallout">
            <a:avLst>
              <a:gd name="adj1" fmla="val 73332"/>
              <a:gd name="adj2" fmla="val -13923"/>
              <a:gd name="adj3" fmla="val 16667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dirty="0"/>
              <a:t>Строковая переменная</a:t>
            </a:r>
          </a:p>
        </p:txBody>
      </p:sp>
      <p:sp>
        <p:nvSpPr>
          <p:cNvPr id="17" name="Speech Bubble: Rectangle with Corners Rounded 16">
            <a:extLst>
              <a:ext uri="{FF2B5EF4-FFF2-40B4-BE49-F238E27FC236}">
                <a16:creationId xmlns:a16="http://schemas.microsoft.com/office/drawing/2014/main" id="{B68A800D-4C09-4BA6-A286-5563A4B81872}"/>
              </a:ext>
            </a:extLst>
          </p:cNvPr>
          <p:cNvSpPr/>
          <p:nvPr/>
        </p:nvSpPr>
        <p:spPr>
          <a:xfrm>
            <a:off x="755780" y="5159367"/>
            <a:ext cx="3265714" cy="643812"/>
          </a:xfrm>
          <a:prstGeom prst="wedgeRoundRectCallout">
            <a:avLst>
              <a:gd name="adj1" fmla="val 73046"/>
              <a:gd name="adj2" fmla="val -66486"/>
              <a:gd name="adj3" fmla="val 16667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dirty="0"/>
              <a:t>Ввод из стандартного потока ввода</a:t>
            </a:r>
          </a:p>
        </p:txBody>
      </p:sp>
    </p:spTree>
    <p:extLst>
      <p:ext uri="{BB962C8B-B14F-4D97-AF65-F5344CB8AC3E}">
        <p14:creationId xmlns:p14="http://schemas.microsoft.com/office/powerpoint/2010/main" val="841660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BACDA-4E11-46C7-ADA6-80B833C74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Потоки ввода-вывода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54AA6E-0F30-4F87-B4BF-72483C52D5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4956" y="1778874"/>
            <a:ext cx="6148236" cy="4393325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ru-RU" dirty="0"/>
              <a:t>Ввод и вывод в </a:t>
            </a:r>
            <a:r>
              <a:rPr lang="en-US" i="1" dirty="0"/>
              <a:t>C++</a:t>
            </a:r>
            <a:r>
              <a:rPr lang="ru-RU" dirty="0"/>
              <a:t> реализован с помощью </a:t>
            </a:r>
            <a:r>
              <a:rPr lang="ru-RU" i="1" dirty="0"/>
              <a:t>потоков</a:t>
            </a:r>
          </a:p>
          <a:p>
            <a:pPr marL="617220" lvl="1" indent="-342900">
              <a:buFont typeface="+mj-lt"/>
              <a:buAutoNum type="arabicPeriod"/>
            </a:pPr>
            <a:r>
              <a:rPr lang="ru-RU" dirty="0"/>
              <a:t>Стандартные потоки:</a:t>
            </a:r>
            <a:r>
              <a:rPr lang="en-US" dirty="0"/>
              <a:t> </a:t>
            </a:r>
            <a:r>
              <a:rPr lang="en-US" dirty="0">
                <a:solidFill>
                  <a:srgbClr val="C00000"/>
                </a:solidFill>
              </a:rPr>
              <a:t>stdin</a:t>
            </a:r>
            <a:r>
              <a:rPr lang="en-US" dirty="0"/>
              <a:t>, </a:t>
            </a:r>
            <a:r>
              <a:rPr lang="en-US" dirty="0" err="1">
                <a:solidFill>
                  <a:srgbClr val="C00000"/>
                </a:solidFill>
              </a:rPr>
              <a:t>stdout</a:t>
            </a:r>
            <a:r>
              <a:rPr lang="en-US" dirty="0"/>
              <a:t>, </a:t>
            </a:r>
            <a:r>
              <a:rPr lang="en-US" dirty="0">
                <a:solidFill>
                  <a:srgbClr val="C00000"/>
                </a:solidFill>
              </a:rPr>
              <a:t>stderr</a:t>
            </a:r>
          </a:p>
          <a:p>
            <a:pPr marL="617220" lvl="1" indent="-342900">
              <a:buFont typeface="+mj-lt"/>
              <a:buAutoNum type="arabicPeriod"/>
            </a:pPr>
            <a:r>
              <a:rPr lang="ru-RU" dirty="0"/>
              <a:t>Файловые потоки</a:t>
            </a:r>
            <a:r>
              <a:rPr lang="en-US" dirty="0"/>
              <a:t>: </a:t>
            </a:r>
            <a:r>
              <a:rPr lang="en-US" dirty="0">
                <a:solidFill>
                  <a:srgbClr val="C00000"/>
                </a:solidFill>
              </a:rPr>
              <a:t>fstream</a:t>
            </a:r>
            <a:r>
              <a:rPr lang="en-US" dirty="0"/>
              <a:t>, </a:t>
            </a:r>
            <a:r>
              <a:rPr lang="en-US" dirty="0">
                <a:solidFill>
                  <a:srgbClr val="C00000"/>
                </a:solidFill>
              </a:rPr>
              <a:t>[i/o]fstream</a:t>
            </a:r>
          </a:p>
          <a:p>
            <a:pPr marL="617220" lvl="1" indent="-342900">
              <a:buFont typeface="+mj-lt"/>
              <a:buAutoNum type="arabicPeriod"/>
            </a:pPr>
            <a:r>
              <a:rPr lang="ru-RU" dirty="0"/>
              <a:t>Строковые потоки</a:t>
            </a:r>
            <a:r>
              <a:rPr lang="en-US" dirty="0"/>
              <a:t>: </a:t>
            </a:r>
            <a:r>
              <a:rPr lang="en-US" dirty="0" err="1">
                <a:solidFill>
                  <a:srgbClr val="C00000"/>
                </a:solidFill>
              </a:rPr>
              <a:t>stringstream</a:t>
            </a:r>
            <a:r>
              <a:rPr lang="en-US" dirty="0"/>
              <a:t>, </a:t>
            </a:r>
            <a:r>
              <a:rPr lang="en-US" dirty="0">
                <a:solidFill>
                  <a:srgbClr val="C00000"/>
                </a:solidFill>
              </a:rPr>
              <a:t>[i/o]</a:t>
            </a:r>
            <a:r>
              <a:rPr lang="en-US" dirty="0" err="1">
                <a:solidFill>
                  <a:srgbClr val="C00000"/>
                </a:solidFill>
              </a:rPr>
              <a:t>stringstream</a:t>
            </a:r>
            <a:endParaRPr lang="en-US" dirty="0">
              <a:solidFill>
                <a:srgbClr val="C00000"/>
              </a:solidFill>
            </a:endParaRPr>
          </a:p>
          <a:p>
            <a:r>
              <a:rPr lang="ru-RU" dirty="0">
                <a:solidFill>
                  <a:schemeClr val="tx1"/>
                </a:solidFill>
              </a:rPr>
              <a:t>Стандартные объекты</a:t>
            </a:r>
            <a:r>
              <a:rPr lang="en-US" dirty="0">
                <a:solidFill>
                  <a:schemeClr val="tx1"/>
                </a:solidFill>
              </a:rPr>
              <a:t>:</a:t>
            </a:r>
          </a:p>
          <a:p>
            <a:pPr marL="617220" lvl="1" indent="-342900">
              <a:buFont typeface="+mj-lt"/>
              <a:buAutoNum type="arabicPeriod"/>
            </a:pPr>
            <a:r>
              <a:rPr lang="en-US" dirty="0">
                <a:solidFill>
                  <a:srgbClr val="C00000"/>
                </a:solidFill>
              </a:rPr>
              <a:t>cout</a:t>
            </a:r>
            <a:r>
              <a:rPr lang="en-US" dirty="0">
                <a:solidFill>
                  <a:schemeClr val="tx1"/>
                </a:solidFill>
              </a:rPr>
              <a:t> – </a:t>
            </a:r>
            <a:r>
              <a:rPr lang="ru-RU" dirty="0">
                <a:solidFill>
                  <a:schemeClr val="tx1"/>
                </a:solidFill>
              </a:rPr>
              <a:t>вывод в </a:t>
            </a:r>
            <a:r>
              <a:rPr lang="en-US" dirty="0" err="1">
                <a:solidFill>
                  <a:schemeClr val="tx1"/>
                </a:solidFill>
              </a:rPr>
              <a:t>stdout</a:t>
            </a:r>
            <a:endParaRPr lang="en-US" dirty="0">
              <a:solidFill>
                <a:schemeClr val="tx1"/>
              </a:solidFill>
            </a:endParaRPr>
          </a:p>
          <a:p>
            <a:pPr marL="617220" lvl="1" indent="-342900">
              <a:buFont typeface="+mj-lt"/>
              <a:buAutoNum type="arabicPeriod"/>
            </a:pPr>
            <a:r>
              <a:rPr lang="en-US" dirty="0">
                <a:solidFill>
                  <a:srgbClr val="C00000"/>
                </a:solidFill>
              </a:rPr>
              <a:t>cin</a:t>
            </a:r>
            <a:r>
              <a:rPr lang="en-US" dirty="0">
                <a:solidFill>
                  <a:schemeClr val="tx1"/>
                </a:solidFill>
              </a:rPr>
              <a:t> – </a:t>
            </a:r>
            <a:r>
              <a:rPr lang="ru-RU" dirty="0">
                <a:solidFill>
                  <a:schemeClr val="tx1"/>
                </a:solidFill>
              </a:rPr>
              <a:t>ввод из </a:t>
            </a:r>
            <a:r>
              <a:rPr lang="en-US" dirty="0">
                <a:solidFill>
                  <a:schemeClr val="tx1"/>
                </a:solidFill>
              </a:rPr>
              <a:t>stdin</a:t>
            </a:r>
          </a:p>
          <a:p>
            <a:pPr marL="617220" lvl="1" indent="-342900">
              <a:buFont typeface="+mj-lt"/>
              <a:buAutoNum type="arabicPeriod"/>
            </a:pPr>
            <a:r>
              <a:rPr lang="en-US" dirty="0">
                <a:solidFill>
                  <a:srgbClr val="C00000"/>
                </a:solidFill>
              </a:rPr>
              <a:t>cerr</a:t>
            </a:r>
            <a:r>
              <a:rPr lang="en-US" dirty="0">
                <a:solidFill>
                  <a:schemeClr val="tx1"/>
                </a:solidFill>
              </a:rPr>
              <a:t> – </a:t>
            </a:r>
            <a:r>
              <a:rPr lang="ru-RU" dirty="0">
                <a:solidFill>
                  <a:schemeClr val="tx1"/>
                </a:solidFill>
              </a:rPr>
              <a:t>вывод в поток ошибок </a:t>
            </a:r>
            <a:r>
              <a:rPr lang="en-US" dirty="0">
                <a:solidFill>
                  <a:schemeClr val="tx1"/>
                </a:solidFill>
              </a:rPr>
              <a:t>stderr</a:t>
            </a:r>
          </a:p>
          <a:p>
            <a:r>
              <a:rPr lang="ru-RU" dirty="0">
                <a:solidFill>
                  <a:schemeClr val="tx1"/>
                </a:solidFill>
              </a:rPr>
              <a:t>Операторы ввода-вывода</a:t>
            </a:r>
          </a:p>
          <a:p>
            <a:pPr marL="617220" lvl="1" indent="-342900">
              <a:buFont typeface="+mj-lt"/>
              <a:buAutoNum type="arabicPeriod"/>
            </a:pPr>
            <a:r>
              <a:rPr lang="en-US" b="0" dirty="0">
                <a:solidFill>
                  <a:srgbClr val="AE3131"/>
                </a:solidFill>
                <a:effectLst/>
                <a:latin typeface="Consolas" panose="020B0609020204030204" pitchFamily="49" charset="0"/>
              </a:rPr>
              <a:t>operator&lt;&lt;</a:t>
            </a:r>
            <a:r>
              <a:rPr lang="en-US" dirty="0">
                <a:solidFill>
                  <a:srgbClr val="000000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– </a:t>
            </a:r>
            <a:r>
              <a:rPr lang="ru-RU" dirty="0">
                <a:solidFill>
                  <a:schemeClr val="tx1"/>
                </a:solidFill>
              </a:rPr>
              <a:t>оператор вывода</a:t>
            </a:r>
            <a:endParaRPr lang="en-US" b="0" dirty="0">
              <a:solidFill>
                <a:srgbClr val="000000"/>
              </a:solidFill>
              <a:effectLst/>
            </a:endParaRPr>
          </a:p>
          <a:p>
            <a:pPr marL="617220" lvl="1" indent="-342900">
              <a:buFont typeface="+mj-lt"/>
              <a:buAutoNum type="arabicPeriod"/>
            </a:pPr>
            <a:r>
              <a:rPr lang="en-US" b="0" dirty="0">
                <a:solidFill>
                  <a:srgbClr val="AE3131"/>
                </a:solidFill>
                <a:effectLst/>
                <a:latin typeface="Consolas" panose="020B0609020204030204" pitchFamily="49" charset="0"/>
              </a:rPr>
              <a:t>operator</a:t>
            </a:r>
            <a:r>
              <a:rPr lang="en-US" dirty="0">
                <a:solidFill>
                  <a:srgbClr val="AE3131"/>
                </a:solidFill>
                <a:latin typeface="Consolas" panose="020B0609020204030204" pitchFamily="49" charset="0"/>
              </a:rPr>
              <a:t>&gt;&gt;</a:t>
            </a:r>
            <a:r>
              <a:rPr lang="en-US" dirty="0">
                <a:solidFill>
                  <a:srgbClr val="AE313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– </a:t>
            </a:r>
            <a:r>
              <a:rPr lang="ru-RU" dirty="0">
                <a:solidFill>
                  <a:schemeClr val="tx1"/>
                </a:solidFill>
              </a:rPr>
              <a:t>оператор ввода</a:t>
            </a:r>
          </a:p>
          <a:p>
            <a:pPr lvl="1"/>
            <a:r>
              <a:rPr lang="ru-RU" b="0" dirty="0">
                <a:solidFill>
                  <a:srgbClr val="000000"/>
                </a:solidFill>
                <a:effectLst/>
              </a:rPr>
              <a:t>Нет необходимости указывать тип данных</a:t>
            </a:r>
          </a:p>
          <a:p>
            <a:pPr lvl="1"/>
            <a:r>
              <a:rPr lang="ru-RU" b="0" dirty="0">
                <a:solidFill>
                  <a:srgbClr val="000000"/>
                </a:solidFill>
                <a:effectLst/>
              </a:rPr>
              <a:t>Можно использовать </a:t>
            </a:r>
            <a:r>
              <a:rPr lang="ru-RU" b="0" i="1" dirty="0">
                <a:solidFill>
                  <a:srgbClr val="000000"/>
                </a:solidFill>
                <a:effectLst/>
              </a:rPr>
              <a:t>цепочки вызовов</a:t>
            </a:r>
            <a:endParaRPr lang="en-US" b="0" i="1" dirty="0">
              <a:solidFill>
                <a:srgbClr val="000000"/>
              </a:solidFill>
              <a:effectLst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C074A1-5459-4308-9EF8-16D4C19F5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fld id="{E58EDE0D-0787-4A03-969A-A1D77559C4A6}" type="slidenum">
              <a:rPr lang="ru-RU" smtClean="0"/>
              <a:t>10</a:t>
            </a:fld>
            <a:endParaRPr lang="ru-RU"/>
          </a:p>
        </p:txBody>
      </p:sp>
      <p:sp>
        <p:nvSpPr>
          <p:cNvPr id="6" name="Объект 1">
            <a:extLst>
              <a:ext uri="{FF2B5EF4-FFF2-40B4-BE49-F238E27FC236}">
                <a16:creationId xmlns:a16="http://schemas.microsoft.com/office/drawing/2014/main" id="{1960C5BB-8CE5-4305-80C1-997A25B83CB1}"/>
              </a:ext>
            </a:extLst>
          </p:cNvPr>
          <p:cNvSpPr txBox="1">
            <a:spLocks/>
          </p:cNvSpPr>
          <p:nvPr/>
        </p:nvSpPr>
        <p:spPr>
          <a:xfrm>
            <a:off x="8001707" y="1864566"/>
            <a:ext cx="1676253" cy="1481307"/>
          </a:xfrm>
          <a:custGeom>
            <a:avLst/>
            <a:gdLst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60945" h="3842676">
                <a:moveTo>
                  <a:pt x="0" y="0"/>
                </a:moveTo>
                <a:lnTo>
                  <a:pt x="5760945" y="0"/>
                </a:lnTo>
                <a:cubicBezTo>
                  <a:pt x="5471696" y="1402190"/>
                  <a:pt x="5760945" y="2561784"/>
                  <a:pt x="5760945" y="3842676"/>
                </a:cubicBezTo>
                <a:lnTo>
                  <a:pt x="0" y="3842676"/>
                </a:lnTo>
                <a:lnTo>
                  <a:pt x="0" y="0"/>
                </a:lnTo>
                <a:close/>
              </a:path>
            </a:pathLst>
          </a:cu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>
            <a:normAutofit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1800" kern="1200" spc="1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AE3131"/>
                </a:solidFill>
                <a:latin typeface="Consolas" panose="020B0609020204030204" pitchFamily="49" charset="0"/>
              </a:rPr>
              <a:t>&lt;iostream&gt;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AE3131"/>
                </a:solidFill>
                <a:latin typeface="Consolas" panose="020B0609020204030204" pitchFamily="49" charset="0"/>
              </a:rPr>
              <a:t>&lt;fstream&gt;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AE3131"/>
                </a:solidFill>
                <a:latin typeface="Consolas" panose="020B0609020204030204" pitchFamily="49" charset="0"/>
              </a:rPr>
              <a:t>&lt;sstream&gt;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AE3131"/>
                </a:solidFill>
                <a:latin typeface="Consolas" panose="020B0609020204030204" pitchFamily="49" charset="0"/>
              </a:rPr>
              <a:t>&lt;iomanip&gt;</a:t>
            </a:r>
          </a:p>
        </p:txBody>
      </p:sp>
    </p:spTree>
    <p:extLst>
      <p:ext uri="{BB962C8B-B14F-4D97-AF65-F5344CB8AC3E}">
        <p14:creationId xmlns:p14="http://schemas.microsoft.com/office/powerpoint/2010/main" val="22689974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840BF4-4083-4DF7-933F-274AECB5C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12766" y="365760"/>
            <a:ext cx="4441745" cy="1325562"/>
          </a:xfrm>
        </p:spPr>
        <p:txBody>
          <a:bodyPr>
            <a:normAutofit/>
          </a:bodyPr>
          <a:lstStyle/>
          <a:p>
            <a:r>
              <a:rPr lang="ru-RU" dirty="0"/>
              <a:t>Пример:</a:t>
            </a:r>
            <a:br>
              <a:rPr lang="en-US" dirty="0"/>
            </a:br>
            <a:r>
              <a:rPr lang="ru-RU" dirty="0"/>
              <a:t>чтение файла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E441C-BDED-44F0-9206-031E5CADD0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4694" y="1990294"/>
            <a:ext cx="3779270" cy="1325562"/>
          </a:xfrm>
        </p:spPr>
        <p:txBody>
          <a:bodyPr>
            <a:normAutofit fontScale="77500" lnSpcReduction="20000"/>
          </a:bodyPr>
          <a:lstStyle/>
          <a:p>
            <a:pPr marL="0" indent="0" algn="ctr">
              <a:buNone/>
            </a:pPr>
            <a:r>
              <a:rPr lang="ru-RU" i="1" dirty="0"/>
              <a:t>В файл записаны целые числа, разделенные пробелом. Вывести сумму чисел в стандартный поток вывода.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A54C94-F37F-4EC3-804A-E7E8A61AC2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fld id="{E58EDE0D-0787-4A03-969A-A1D77559C4A6}" type="slidenum">
              <a:rPr lang="ru-RU" smtClean="0"/>
              <a:t>11</a:t>
            </a:fld>
            <a:endParaRPr lang="ru-R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39DE3F5-2FFF-41F2-9D46-CE2216CC2992}"/>
              </a:ext>
            </a:extLst>
          </p:cNvPr>
          <p:cNvGrpSpPr/>
          <p:nvPr/>
        </p:nvGrpSpPr>
        <p:grpSpPr>
          <a:xfrm>
            <a:off x="6948789" y="3429000"/>
            <a:ext cx="3400658" cy="1572618"/>
            <a:chOff x="7493233" y="3241615"/>
            <a:chExt cx="3400658" cy="1572618"/>
          </a:xfr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0D3AB9C-3A13-46E2-9C1C-ACA84A51593B}"/>
                </a:ext>
              </a:extLst>
            </p:cNvPr>
            <p:cNvSpPr txBox="1"/>
            <p:nvPr/>
          </p:nvSpPr>
          <p:spPr>
            <a:xfrm>
              <a:off x="7493233" y="3613904"/>
              <a:ext cx="3400658" cy="1200329"/>
            </a:xfrm>
            <a:custGeom>
              <a:avLst/>
              <a:gdLst>
                <a:gd name="connsiteX0" fmla="*/ 0 w 4673074"/>
                <a:gd name="connsiteY0" fmla="*/ 0 h 369332"/>
                <a:gd name="connsiteX1" fmla="*/ 4673074 w 4673074"/>
                <a:gd name="connsiteY1" fmla="*/ 0 h 369332"/>
                <a:gd name="connsiteX2" fmla="*/ 4673074 w 4673074"/>
                <a:gd name="connsiteY2" fmla="*/ 369332 h 369332"/>
                <a:gd name="connsiteX3" fmla="*/ 0 w 4673074"/>
                <a:gd name="connsiteY3" fmla="*/ 369332 h 369332"/>
                <a:gd name="connsiteX4" fmla="*/ 0 w 4673074"/>
                <a:gd name="connsiteY4" fmla="*/ 0 h 369332"/>
                <a:gd name="connsiteX0" fmla="*/ 0 w 4673074"/>
                <a:gd name="connsiteY0" fmla="*/ 0 h 369332"/>
                <a:gd name="connsiteX1" fmla="*/ 4673074 w 4673074"/>
                <a:gd name="connsiteY1" fmla="*/ 0 h 369332"/>
                <a:gd name="connsiteX2" fmla="*/ 4645082 w 4673074"/>
                <a:gd name="connsiteY2" fmla="*/ 369332 h 369332"/>
                <a:gd name="connsiteX3" fmla="*/ 0 w 4673074"/>
                <a:gd name="connsiteY3" fmla="*/ 369332 h 369332"/>
                <a:gd name="connsiteX4" fmla="*/ 0 w 4673074"/>
                <a:gd name="connsiteY4" fmla="*/ 0 h 369332"/>
                <a:gd name="connsiteX0" fmla="*/ 0 w 4673074"/>
                <a:gd name="connsiteY0" fmla="*/ 0 h 369332"/>
                <a:gd name="connsiteX1" fmla="*/ 4673074 w 4673074"/>
                <a:gd name="connsiteY1" fmla="*/ 0 h 369332"/>
                <a:gd name="connsiteX2" fmla="*/ 4645082 w 4673074"/>
                <a:gd name="connsiteY2" fmla="*/ 369332 h 369332"/>
                <a:gd name="connsiteX3" fmla="*/ 0 w 4673074"/>
                <a:gd name="connsiteY3" fmla="*/ 369332 h 369332"/>
                <a:gd name="connsiteX4" fmla="*/ 0 w 4673074"/>
                <a:gd name="connsiteY4" fmla="*/ 0 h 369332"/>
                <a:gd name="connsiteX0" fmla="*/ 0 w 4673074"/>
                <a:gd name="connsiteY0" fmla="*/ 0 h 369332"/>
                <a:gd name="connsiteX1" fmla="*/ 4673074 w 4673074"/>
                <a:gd name="connsiteY1" fmla="*/ 0 h 369332"/>
                <a:gd name="connsiteX2" fmla="*/ 4645082 w 4673074"/>
                <a:gd name="connsiteY2" fmla="*/ 369332 h 369332"/>
                <a:gd name="connsiteX3" fmla="*/ 0 w 4673074"/>
                <a:gd name="connsiteY3" fmla="*/ 369332 h 369332"/>
                <a:gd name="connsiteX4" fmla="*/ 0 w 4673074"/>
                <a:gd name="connsiteY4" fmla="*/ 0 h 369332"/>
                <a:gd name="connsiteX0" fmla="*/ 0 w 4673074"/>
                <a:gd name="connsiteY0" fmla="*/ 0 h 369332"/>
                <a:gd name="connsiteX1" fmla="*/ 4673074 w 4673074"/>
                <a:gd name="connsiteY1" fmla="*/ 0 h 369332"/>
                <a:gd name="connsiteX2" fmla="*/ 4645082 w 4673074"/>
                <a:gd name="connsiteY2" fmla="*/ 369332 h 369332"/>
                <a:gd name="connsiteX3" fmla="*/ 0 w 4673074"/>
                <a:gd name="connsiteY3" fmla="*/ 369332 h 369332"/>
                <a:gd name="connsiteX4" fmla="*/ 0 w 4673074"/>
                <a:gd name="connsiteY4" fmla="*/ 0 h 369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73074" h="369332">
                  <a:moveTo>
                    <a:pt x="0" y="0"/>
                  </a:moveTo>
                  <a:lnTo>
                    <a:pt x="4673074" y="0"/>
                  </a:lnTo>
                  <a:lnTo>
                    <a:pt x="4645082" y="369332"/>
                  </a:lnTo>
                  <a:cubicBezTo>
                    <a:pt x="3469696" y="261097"/>
                    <a:pt x="1548361" y="369332"/>
                    <a:pt x="0" y="369332"/>
                  </a:cubicBezTo>
                  <a:lnTo>
                    <a:pt x="0" y="0"/>
                  </a:lnTo>
                  <a:close/>
                </a:path>
              </a:pathLst>
            </a:cu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ru-RU" dirty="0">
                  <a:solidFill>
                    <a:schemeClr val="accent2">
                      <a:lumMod val="50000"/>
                    </a:schemeClr>
                  </a:solidFill>
                  <a:latin typeface="Consolas" panose="020B0609020204030204" pitchFamily="49" charset="0"/>
                </a:rPr>
                <a:t>1 1 2 3 5 8 13 21 34 55 89 144 233 377 610 987 1597 2584 4181 6765</a:t>
              </a:r>
              <a:endParaRPr lang="en-US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endParaRPr>
            </a:p>
            <a:p>
              <a:endParaRPr lang="ru-RU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D31B164-6B1D-4C67-A843-6BAC4B778841}"/>
                </a:ext>
              </a:extLst>
            </p:cNvPr>
            <p:cNvSpPr txBox="1"/>
            <p:nvPr/>
          </p:nvSpPr>
          <p:spPr>
            <a:xfrm>
              <a:off x="7493233" y="3241615"/>
              <a:ext cx="3400658" cy="36933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numbers.txt</a:t>
              </a:r>
              <a:endParaRPr lang="ru-RU" dirty="0">
                <a:latin typeface="Consolas" panose="020B0609020204030204" pitchFamily="49" charset="0"/>
              </a:endParaRPr>
            </a:p>
          </p:txBody>
        </p:sp>
      </p:grpSp>
      <p:sp>
        <p:nvSpPr>
          <p:cNvPr id="9" name="Объект 1">
            <a:extLst>
              <a:ext uri="{FF2B5EF4-FFF2-40B4-BE49-F238E27FC236}">
                <a16:creationId xmlns:a16="http://schemas.microsoft.com/office/drawing/2014/main" id="{071C8A29-9C87-46F4-910D-0FC597838CB6}"/>
              </a:ext>
            </a:extLst>
          </p:cNvPr>
          <p:cNvSpPr txBox="1">
            <a:spLocks/>
          </p:cNvSpPr>
          <p:nvPr/>
        </p:nvSpPr>
        <p:spPr>
          <a:xfrm>
            <a:off x="847979" y="793102"/>
            <a:ext cx="5404958" cy="5786930"/>
          </a:xfrm>
          <a:custGeom>
            <a:avLst/>
            <a:gdLst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60945" h="3842676">
                <a:moveTo>
                  <a:pt x="0" y="0"/>
                </a:moveTo>
                <a:lnTo>
                  <a:pt x="5760945" y="0"/>
                </a:lnTo>
                <a:cubicBezTo>
                  <a:pt x="5471696" y="1402190"/>
                  <a:pt x="5760945" y="2561784"/>
                  <a:pt x="5760945" y="3842676"/>
                </a:cubicBezTo>
                <a:lnTo>
                  <a:pt x="0" y="3842676"/>
                </a:lnTo>
                <a:lnTo>
                  <a:pt x="0" y="0"/>
                </a:lnTo>
                <a:close/>
              </a:path>
            </a:pathLst>
          </a:cu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>
            <a:normAutofit fontScale="92500" lnSpcReduction="20000"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1800" kern="1200" spc="1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&lt;fstream&gt;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 {</a:t>
            </a:r>
          </a:p>
          <a:p>
            <a:pPr marL="0" indent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"numbers.txt"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ifstream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ifile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ios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(!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ifile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good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 {</a:t>
            </a:r>
          </a:p>
          <a:p>
            <a:pPr marL="0" indent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    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"Can't load file "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    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    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}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value, sum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= 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    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(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ifile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 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+= 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"Sum equals 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1F2C8B0-F590-4A57-A4DF-EE1CAB289121}"/>
              </a:ext>
            </a:extLst>
          </p:cNvPr>
          <p:cNvSpPr txBox="1"/>
          <p:nvPr/>
        </p:nvSpPr>
        <p:spPr>
          <a:xfrm>
            <a:off x="6948789" y="5529805"/>
            <a:ext cx="3400658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&gt; Sum equals 24475</a:t>
            </a:r>
            <a:endParaRPr lang="ru-RU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64411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0D613-1ED0-4AF7-97CC-74BCE24EA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Чтение из файла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AE1F1D-79AD-474A-B760-CC54457AC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1"/>
            <a:ext cx="3394104" cy="457200"/>
          </a:xfrm>
        </p:spPr>
        <p:txBody>
          <a:bodyPr>
            <a:normAutofit lnSpcReduction="10000"/>
          </a:bodyPr>
          <a:lstStyle/>
          <a:p>
            <a:r>
              <a:rPr lang="ru-RU" dirty="0"/>
              <a:t>Чтение по символу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178431-E622-4D9D-AB22-E44E21BE5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fld id="{E58EDE0D-0787-4A03-969A-A1D77559C4A6}" type="slidenum">
              <a:rPr lang="ru-RU" smtClean="0"/>
              <a:t>12</a:t>
            </a:fld>
            <a:endParaRPr lang="ru-RU"/>
          </a:p>
        </p:txBody>
      </p:sp>
      <p:sp>
        <p:nvSpPr>
          <p:cNvPr id="6" name="Объект 1">
            <a:extLst>
              <a:ext uri="{FF2B5EF4-FFF2-40B4-BE49-F238E27FC236}">
                <a16:creationId xmlns:a16="http://schemas.microsoft.com/office/drawing/2014/main" id="{3F0057FD-048C-4B7D-8C00-B89F78E87413}"/>
              </a:ext>
            </a:extLst>
          </p:cNvPr>
          <p:cNvSpPr txBox="1">
            <a:spLocks/>
          </p:cNvSpPr>
          <p:nvPr/>
        </p:nvSpPr>
        <p:spPr>
          <a:xfrm>
            <a:off x="1575516" y="2286001"/>
            <a:ext cx="3780253" cy="1212979"/>
          </a:xfrm>
          <a:custGeom>
            <a:avLst/>
            <a:gdLst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60945" h="3842676">
                <a:moveTo>
                  <a:pt x="0" y="0"/>
                </a:moveTo>
                <a:lnTo>
                  <a:pt x="5760945" y="0"/>
                </a:lnTo>
                <a:cubicBezTo>
                  <a:pt x="5471696" y="1402190"/>
                  <a:pt x="5760945" y="2561784"/>
                  <a:pt x="5760945" y="3842676"/>
                </a:cubicBezTo>
                <a:lnTo>
                  <a:pt x="0" y="3842676"/>
                </a:lnTo>
                <a:lnTo>
                  <a:pt x="0" y="0"/>
                </a:lnTo>
                <a:close/>
              </a:path>
            </a:pathLst>
          </a:cu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>
            <a:noAutofit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1800" kern="1200" spc="1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(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ifile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(c)) {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&lt;&lt; c;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AA9B9B0-299F-4403-A967-7ED5F405BB10}"/>
              </a:ext>
            </a:extLst>
          </p:cNvPr>
          <p:cNvSpPr txBox="1">
            <a:spLocks/>
          </p:cNvSpPr>
          <p:nvPr/>
        </p:nvSpPr>
        <p:spPr>
          <a:xfrm>
            <a:off x="1261872" y="3744686"/>
            <a:ext cx="3394104" cy="457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1800" kern="1200" spc="1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Чтение по строке</a:t>
            </a:r>
          </a:p>
        </p:txBody>
      </p:sp>
      <p:sp>
        <p:nvSpPr>
          <p:cNvPr id="8" name="Объект 1">
            <a:extLst>
              <a:ext uri="{FF2B5EF4-FFF2-40B4-BE49-F238E27FC236}">
                <a16:creationId xmlns:a16="http://schemas.microsoft.com/office/drawing/2014/main" id="{0EC4BE81-1D92-4F26-A9B8-2F4A18E4C6E2}"/>
              </a:ext>
            </a:extLst>
          </p:cNvPr>
          <p:cNvSpPr txBox="1">
            <a:spLocks/>
          </p:cNvSpPr>
          <p:nvPr/>
        </p:nvSpPr>
        <p:spPr>
          <a:xfrm>
            <a:off x="1575517" y="4201886"/>
            <a:ext cx="3780254" cy="1212979"/>
          </a:xfrm>
          <a:custGeom>
            <a:avLst/>
            <a:gdLst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60945" h="3842676">
                <a:moveTo>
                  <a:pt x="0" y="0"/>
                </a:moveTo>
                <a:lnTo>
                  <a:pt x="5760945" y="0"/>
                </a:lnTo>
                <a:cubicBezTo>
                  <a:pt x="5471696" y="1402190"/>
                  <a:pt x="5760945" y="2561784"/>
                  <a:pt x="5760945" y="3842676"/>
                </a:cubicBezTo>
                <a:lnTo>
                  <a:pt x="0" y="3842676"/>
                </a:lnTo>
                <a:lnTo>
                  <a:pt x="0" y="0"/>
                </a:lnTo>
                <a:close/>
              </a:path>
            </a:pathLst>
          </a:cu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>
            <a:normAutofit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1800" kern="1200" spc="1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(</a:t>
            </a:r>
            <a:r>
              <a:rPr lang="en-US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getline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ifile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 {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 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6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7F472616-4590-42D1-B879-96340544BF44}"/>
              </a:ext>
            </a:extLst>
          </p:cNvPr>
          <p:cNvSpPr txBox="1">
            <a:spLocks/>
          </p:cNvSpPr>
          <p:nvPr/>
        </p:nvSpPr>
        <p:spPr>
          <a:xfrm>
            <a:off x="5855644" y="1828801"/>
            <a:ext cx="3394104" cy="457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1800" kern="1200" spc="1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Чтение бинарных данных</a:t>
            </a:r>
          </a:p>
        </p:txBody>
      </p:sp>
      <p:sp>
        <p:nvSpPr>
          <p:cNvPr id="10" name="Объект 1">
            <a:extLst>
              <a:ext uri="{FF2B5EF4-FFF2-40B4-BE49-F238E27FC236}">
                <a16:creationId xmlns:a16="http://schemas.microsoft.com/office/drawing/2014/main" id="{AE314DF9-E832-4469-A71B-1EDBBF91160C}"/>
              </a:ext>
            </a:extLst>
          </p:cNvPr>
          <p:cNvSpPr txBox="1">
            <a:spLocks/>
          </p:cNvSpPr>
          <p:nvPr/>
        </p:nvSpPr>
        <p:spPr>
          <a:xfrm>
            <a:off x="5855644" y="2286002"/>
            <a:ext cx="4760840" cy="1458684"/>
          </a:xfrm>
          <a:custGeom>
            <a:avLst/>
            <a:gdLst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60945" h="3842676">
                <a:moveTo>
                  <a:pt x="0" y="0"/>
                </a:moveTo>
                <a:lnTo>
                  <a:pt x="5760945" y="0"/>
                </a:lnTo>
                <a:cubicBezTo>
                  <a:pt x="5471696" y="1402190"/>
                  <a:pt x="5760945" y="2561784"/>
                  <a:pt x="5760945" y="3842676"/>
                </a:cubicBezTo>
                <a:lnTo>
                  <a:pt x="0" y="3842676"/>
                </a:lnTo>
                <a:lnTo>
                  <a:pt x="0" y="0"/>
                </a:lnTo>
                <a:close/>
              </a:path>
            </a:pathLst>
          </a:cu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>
            <a:normAutofit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1800" kern="1200" spc="1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ifstream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ifile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ios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binary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(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ifile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 {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 '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86BAE5D-C5B8-4358-A04E-57F6DCC644CD}"/>
              </a:ext>
            </a:extLst>
          </p:cNvPr>
          <p:cNvSpPr txBox="1">
            <a:spLocks/>
          </p:cNvSpPr>
          <p:nvPr/>
        </p:nvSpPr>
        <p:spPr>
          <a:xfrm>
            <a:off x="5855643" y="4145901"/>
            <a:ext cx="5012039" cy="14586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1800" kern="1200" spc="1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Метод </a:t>
            </a:r>
            <a:r>
              <a:rPr lang="en-US" dirty="0">
                <a:solidFill>
                  <a:srgbClr val="001080"/>
                </a:solidFill>
                <a:latin typeface="Consolas" panose="020B0609020204030204" pitchFamily="49" charset="0"/>
              </a:rPr>
              <a:t>fstream::</a:t>
            </a:r>
            <a:r>
              <a:rPr lang="en-US" dirty="0" err="1">
                <a:solidFill>
                  <a:srgbClr val="001080"/>
                </a:solidFill>
                <a:latin typeface="Consolas" panose="020B0609020204030204" pitchFamily="49" charset="0"/>
              </a:rPr>
              <a:t>eof</a:t>
            </a:r>
            <a:r>
              <a:rPr lang="en-US" dirty="0">
                <a:solidFill>
                  <a:srgbClr val="001080"/>
                </a:solidFill>
                <a:latin typeface="Consolas" panose="020B0609020204030204" pitchFamily="49" charset="0"/>
              </a:rPr>
              <a:t>()</a:t>
            </a:r>
            <a:r>
              <a:rPr lang="en-US" dirty="0"/>
              <a:t> </a:t>
            </a:r>
            <a:r>
              <a:rPr lang="ru-RU" dirty="0"/>
              <a:t>позволяет узнать достигнут ли конец файла</a:t>
            </a:r>
          </a:p>
        </p:txBody>
      </p:sp>
    </p:spTree>
    <p:extLst>
      <p:ext uri="{BB962C8B-B14F-4D97-AF65-F5344CB8AC3E}">
        <p14:creationId xmlns:p14="http://schemas.microsoft.com/office/powerpoint/2010/main" val="18190165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бъект 1">
            <a:extLst>
              <a:ext uri="{FF2B5EF4-FFF2-40B4-BE49-F238E27FC236}">
                <a16:creationId xmlns:a16="http://schemas.microsoft.com/office/drawing/2014/main" id="{071C8A29-9C87-46F4-910D-0FC597838CB6}"/>
              </a:ext>
            </a:extLst>
          </p:cNvPr>
          <p:cNvSpPr txBox="1">
            <a:spLocks/>
          </p:cNvSpPr>
          <p:nvPr/>
        </p:nvSpPr>
        <p:spPr>
          <a:xfrm>
            <a:off x="463451" y="572652"/>
            <a:ext cx="6569858" cy="6108065"/>
          </a:xfrm>
          <a:custGeom>
            <a:avLst/>
            <a:gdLst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5914 h 3848590"/>
              <a:gd name="connsiteX1" fmla="*/ 5122766 w 5760945"/>
              <a:gd name="connsiteY1" fmla="*/ 0 h 3848590"/>
              <a:gd name="connsiteX2" fmla="*/ 5760945 w 5760945"/>
              <a:gd name="connsiteY2" fmla="*/ 3848590 h 3848590"/>
              <a:gd name="connsiteX3" fmla="*/ 0 w 5760945"/>
              <a:gd name="connsiteY3" fmla="*/ 3848590 h 3848590"/>
              <a:gd name="connsiteX4" fmla="*/ 0 w 5760945"/>
              <a:gd name="connsiteY4" fmla="*/ 5914 h 38485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60945" h="3848590">
                <a:moveTo>
                  <a:pt x="0" y="5914"/>
                </a:moveTo>
                <a:lnTo>
                  <a:pt x="5122766" y="0"/>
                </a:lnTo>
                <a:cubicBezTo>
                  <a:pt x="4833517" y="1402190"/>
                  <a:pt x="5760945" y="2567698"/>
                  <a:pt x="5760945" y="3848590"/>
                </a:cubicBezTo>
                <a:lnTo>
                  <a:pt x="0" y="3848590"/>
                </a:lnTo>
                <a:lnTo>
                  <a:pt x="0" y="5914"/>
                </a:lnTo>
                <a:close/>
              </a:path>
            </a:pathLst>
          </a:cu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>
            <a:normAutofit lnSpcReduction="10000"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1800" kern="1200" spc="1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600" b="0" dirty="0">
              <a:solidFill>
                <a:srgbClr val="AF00DB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&lt;sstream&gt;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&lt;utility&gt;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  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 std::pair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600" b="0" dirty="0">
              <a:solidFill>
                <a:srgbClr val="008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pair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parse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 {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istringstream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lat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ignore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 // skip '('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lat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ignore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 // skip ", "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{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lat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fr-FR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fr-F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 {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fr-F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fr-F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[lat1, lon1] = </a:t>
            </a:r>
            <a:r>
              <a:rPr lang="fr-FR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parse</a:t>
            </a:r>
            <a:r>
              <a:rPr lang="fr-F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"(54.847830, 83.094392)"</a:t>
            </a:r>
            <a:r>
              <a:rPr lang="fr-F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fr-F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fr-F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[lat2, lon2] = </a:t>
            </a:r>
            <a:r>
              <a:rPr lang="fr-FR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parse</a:t>
            </a:r>
            <a:r>
              <a:rPr lang="fr-F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"(54.835815, 83.101360)"</a:t>
            </a:r>
            <a:r>
              <a:rPr lang="fr-F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fr-FR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fr-F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&lt;&lt; </a:t>
            </a:r>
            <a:r>
              <a:rPr lang="fr-F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dist</a:t>
            </a:r>
            <a:r>
              <a:rPr lang="fr-F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(lat1, lon1, lat2, lon2)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&lt;&lt; 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 km"</a:t>
            </a:r>
            <a:r>
              <a:rPr lang="fr-F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&lt;&lt; </a:t>
            </a:r>
            <a:r>
              <a:rPr lang="fr-FR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fr-F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840BF4-4083-4DF7-933F-274AECB5C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12766" y="365760"/>
            <a:ext cx="4441745" cy="1325562"/>
          </a:xfrm>
        </p:spPr>
        <p:txBody>
          <a:bodyPr>
            <a:normAutofit/>
          </a:bodyPr>
          <a:lstStyle/>
          <a:p>
            <a:r>
              <a:rPr lang="ru-RU" dirty="0"/>
              <a:t>Пример:</a:t>
            </a:r>
            <a:br>
              <a:rPr lang="en-US" dirty="0"/>
            </a:br>
            <a:r>
              <a:rPr lang="ru-RU" dirty="0"/>
              <a:t>строковый поток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E441C-BDED-44F0-9206-031E5CADD0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59483" y="1947540"/>
            <a:ext cx="3779270" cy="1325562"/>
          </a:xfrm>
        </p:spPr>
        <p:txBody>
          <a:bodyPr>
            <a:normAutofit fontScale="77500" lnSpcReduction="20000"/>
          </a:bodyPr>
          <a:lstStyle/>
          <a:p>
            <a:pPr marL="0" indent="0" algn="ctr">
              <a:buNone/>
            </a:pPr>
            <a:r>
              <a:rPr lang="ru-RU" i="1" dirty="0"/>
              <a:t>Вэб-сервер вернул географические координаты двух точек в виде строк. Найти расстояние между точками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A54C94-F37F-4EC3-804A-E7E8A61AC2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fld id="{E58EDE0D-0787-4A03-969A-A1D77559C4A6}" type="slidenum">
              <a:rPr lang="ru-RU" smtClean="0"/>
              <a:t>13</a:t>
            </a:fld>
            <a:endParaRPr lang="ru-R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39DE3F5-2FFF-41F2-9D46-CE2216CC2992}"/>
              </a:ext>
            </a:extLst>
          </p:cNvPr>
          <p:cNvGrpSpPr/>
          <p:nvPr/>
        </p:nvGrpSpPr>
        <p:grpSpPr>
          <a:xfrm>
            <a:off x="7033309" y="3429000"/>
            <a:ext cx="3400658" cy="1295619"/>
            <a:chOff x="7493233" y="3241615"/>
            <a:chExt cx="3400658" cy="1295619"/>
          </a:xfr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0D3AB9C-3A13-46E2-9C1C-ACA84A51593B}"/>
                </a:ext>
              </a:extLst>
            </p:cNvPr>
            <p:cNvSpPr txBox="1"/>
            <p:nvPr/>
          </p:nvSpPr>
          <p:spPr>
            <a:xfrm>
              <a:off x="7493233" y="3613904"/>
              <a:ext cx="3400658" cy="923330"/>
            </a:xfrm>
            <a:custGeom>
              <a:avLst/>
              <a:gdLst>
                <a:gd name="connsiteX0" fmla="*/ 0 w 4673074"/>
                <a:gd name="connsiteY0" fmla="*/ 0 h 369332"/>
                <a:gd name="connsiteX1" fmla="*/ 4673074 w 4673074"/>
                <a:gd name="connsiteY1" fmla="*/ 0 h 369332"/>
                <a:gd name="connsiteX2" fmla="*/ 4673074 w 4673074"/>
                <a:gd name="connsiteY2" fmla="*/ 369332 h 369332"/>
                <a:gd name="connsiteX3" fmla="*/ 0 w 4673074"/>
                <a:gd name="connsiteY3" fmla="*/ 369332 h 369332"/>
                <a:gd name="connsiteX4" fmla="*/ 0 w 4673074"/>
                <a:gd name="connsiteY4" fmla="*/ 0 h 369332"/>
                <a:gd name="connsiteX0" fmla="*/ 0 w 4673074"/>
                <a:gd name="connsiteY0" fmla="*/ 0 h 369332"/>
                <a:gd name="connsiteX1" fmla="*/ 4673074 w 4673074"/>
                <a:gd name="connsiteY1" fmla="*/ 0 h 369332"/>
                <a:gd name="connsiteX2" fmla="*/ 4645082 w 4673074"/>
                <a:gd name="connsiteY2" fmla="*/ 369332 h 369332"/>
                <a:gd name="connsiteX3" fmla="*/ 0 w 4673074"/>
                <a:gd name="connsiteY3" fmla="*/ 369332 h 369332"/>
                <a:gd name="connsiteX4" fmla="*/ 0 w 4673074"/>
                <a:gd name="connsiteY4" fmla="*/ 0 h 369332"/>
                <a:gd name="connsiteX0" fmla="*/ 0 w 4673074"/>
                <a:gd name="connsiteY0" fmla="*/ 0 h 369332"/>
                <a:gd name="connsiteX1" fmla="*/ 4673074 w 4673074"/>
                <a:gd name="connsiteY1" fmla="*/ 0 h 369332"/>
                <a:gd name="connsiteX2" fmla="*/ 4645082 w 4673074"/>
                <a:gd name="connsiteY2" fmla="*/ 369332 h 369332"/>
                <a:gd name="connsiteX3" fmla="*/ 0 w 4673074"/>
                <a:gd name="connsiteY3" fmla="*/ 369332 h 369332"/>
                <a:gd name="connsiteX4" fmla="*/ 0 w 4673074"/>
                <a:gd name="connsiteY4" fmla="*/ 0 h 369332"/>
                <a:gd name="connsiteX0" fmla="*/ 0 w 4673074"/>
                <a:gd name="connsiteY0" fmla="*/ 0 h 369332"/>
                <a:gd name="connsiteX1" fmla="*/ 4673074 w 4673074"/>
                <a:gd name="connsiteY1" fmla="*/ 0 h 369332"/>
                <a:gd name="connsiteX2" fmla="*/ 4645082 w 4673074"/>
                <a:gd name="connsiteY2" fmla="*/ 369332 h 369332"/>
                <a:gd name="connsiteX3" fmla="*/ 0 w 4673074"/>
                <a:gd name="connsiteY3" fmla="*/ 369332 h 369332"/>
                <a:gd name="connsiteX4" fmla="*/ 0 w 4673074"/>
                <a:gd name="connsiteY4" fmla="*/ 0 h 369332"/>
                <a:gd name="connsiteX0" fmla="*/ 0 w 4673074"/>
                <a:gd name="connsiteY0" fmla="*/ 0 h 369332"/>
                <a:gd name="connsiteX1" fmla="*/ 4673074 w 4673074"/>
                <a:gd name="connsiteY1" fmla="*/ 0 h 369332"/>
                <a:gd name="connsiteX2" fmla="*/ 4645082 w 4673074"/>
                <a:gd name="connsiteY2" fmla="*/ 369332 h 369332"/>
                <a:gd name="connsiteX3" fmla="*/ 0 w 4673074"/>
                <a:gd name="connsiteY3" fmla="*/ 369332 h 369332"/>
                <a:gd name="connsiteX4" fmla="*/ 0 w 4673074"/>
                <a:gd name="connsiteY4" fmla="*/ 0 h 369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73074" h="369332">
                  <a:moveTo>
                    <a:pt x="0" y="0"/>
                  </a:moveTo>
                  <a:lnTo>
                    <a:pt x="4673074" y="0"/>
                  </a:lnTo>
                  <a:lnTo>
                    <a:pt x="4645082" y="369332"/>
                  </a:lnTo>
                  <a:cubicBezTo>
                    <a:pt x="3469696" y="261097"/>
                    <a:pt x="1548361" y="369332"/>
                    <a:pt x="0" y="369332"/>
                  </a:cubicBezTo>
                  <a:lnTo>
                    <a:pt x="0" y="0"/>
                  </a:lnTo>
                  <a:close/>
                </a:path>
              </a:pathLst>
            </a:cu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ru-RU" b="0" dirty="0">
                  <a:solidFill>
                    <a:srgbClr val="A31515"/>
                  </a:solidFill>
                  <a:effectLst/>
                  <a:latin typeface="Consolas" panose="020B0609020204030204" pitchFamily="49" charset="0"/>
                </a:rPr>
                <a:t>"(54.847830, 83.094392)"</a:t>
              </a:r>
              <a:endPara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endParaRPr>
            </a:p>
            <a:p>
              <a:r>
                <a:rPr lang="ru-RU" b="0" dirty="0">
                  <a:solidFill>
                    <a:srgbClr val="A31515"/>
                  </a:solidFill>
                  <a:effectLst/>
                  <a:latin typeface="Consolas" panose="020B0609020204030204" pitchFamily="49" charset="0"/>
                </a:rPr>
                <a:t>"(54.835815, 83.101360)"</a:t>
              </a:r>
              <a:endPara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endParaRPr>
            </a:p>
            <a:p>
              <a:endPara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D31B164-6B1D-4C67-A843-6BAC4B778841}"/>
                </a:ext>
              </a:extLst>
            </p:cNvPr>
            <p:cNvSpPr txBox="1"/>
            <p:nvPr/>
          </p:nvSpPr>
          <p:spPr>
            <a:xfrm>
              <a:off x="7493233" y="3241615"/>
              <a:ext cx="3400658" cy="36933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Input</a:t>
              </a:r>
              <a:endParaRPr lang="ru-RU" dirty="0">
                <a:latin typeface="Consolas" panose="020B0609020204030204" pitchFamily="49" charset="0"/>
              </a:endParaRP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41F2C8B0-F590-4A57-A4DF-EE1CAB289121}"/>
              </a:ext>
            </a:extLst>
          </p:cNvPr>
          <p:cNvSpPr txBox="1"/>
          <p:nvPr/>
        </p:nvSpPr>
        <p:spPr>
          <a:xfrm>
            <a:off x="7287208" y="5529805"/>
            <a:ext cx="3062238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&gt; 1.40854 km</a:t>
            </a:r>
            <a:endParaRPr lang="ru-RU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6628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21775E-B84A-444B-8BA0-6983801E1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4000" dirty="0"/>
              <a:t>Отступление</a:t>
            </a:r>
            <a:r>
              <a:rPr lang="en-US" sz="4000" dirty="0"/>
              <a:t>: </a:t>
            </a:r>
            <a:r>
              <a:rPr lang="en-US" sz="4000" dirty="0">
                <a:latin typeface="Consolas" panose="020B0609020204030204" pitchFamily="49" charset="0"/>
              </a:rPr>
              <a:t>pair</a:t>
            </a:r>
            <a:r>
              <a:rPr lang="en-US" sz="4000" dirty="0"/>
              <a:t> </a:t>
            </a:r>
            <a:r>
              <a:rPr lang="ru-RU" sz="4000" dirty="0"/>
              <a:t>и </a:t>
            </a:r>
            <a:r>
              <a:rPr lang="en-US" sz="4000" dirty="0">
                <a:latin typeface="Consolas" panose="020B0609020204030204" pitchFamily="49" charset="0"/>
              </a:rPr>
              <a:t>tuple</a:t>
            </a:r>
            <a:endParaRPr lang="ru-RU" sz="4000" dirty="0">
              <a:latin typeface="Consolas" panose="020B0609020204030204" pitchFamily="49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BD957C-E739-445D-9CB4-1FD259FBF4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8595360" cy="475861"/>
          </a:xfrm>
        </p:spPr>
        <p:txBody>
          <a:bodyPr>
            <a:normAutofit fontScale="92500"/>
          </a:bodyPr>
          <a:lstStyle/>
          <a:p>
            <a:r>
              <a:rPr lang="ru-RU" dirty="0"/>
              <a:t>Объект </a:t>
            </a:r>
            <a:r>
              <a:rPr lang="en-US" dirty="0">
                <a:solidFill>
                  <a:srgbClr val="001080"/>
                </a:solidFill>
                <a:latin typeface="Consolas" panose="020B0609020204030204" pitchFamily="49" charset="0"/>
              </a:rPr>
              <a:t>pair</a:t>
            </a:r>
            <a:r>
              <a:rPr lang="ru-RU" dirty="0"/>
              <a:t> может хранить пару объектов любых типов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453784-CCE7-407B-A237-D43E60919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fld id="{E58EDE0D-0787-4A03-969A-A1D77559C4A6}" type="slidenum">
              <a:rPr lang="ru-RU" smtClean="0"/>
              <a:t>14</a:t>
            </a:fld>
            <a:endParaRPr lang="ru-RU"/>
          </a:p>
        </p:txBody>
      </p:sp>
      <p:sp>
        <p:nvSpPr>
          <p:cNvPr id="6" name="Объект 1">
            <a:extLst>
              <a:ext uri="{FF2B5EF4-FFF2-40B4-BE49-F238E27FC236}">
                <a16:creationId xmlns:a16="http://schemas.microsoft.com/office/drawing/2014/main" id="{3346A2C5-3B04-4994-A270-AA658857E922}"/>
              </a:ext>
            </a:extLst>
          </p:cNvPr>
          <p:cNvSpPr txBox="1">
            <a:spLocks/>
          </p:cNvSpPr>
          <p:nvPr/>
        </p:nvSpPr>
        <p:spPr>
          <a:xfrm>
            <a:off x="1575515" y="2286001"/>
            <a:ext cx="5879643" cy="709126"/>
          </a:xfrm>
          <a:custGeom>
            <a:avLst/>
            <a:gdLst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60945" h="3842676">
                <a:moveTo>
                  <a:pt x="0" y="0"/>
                </a:moveTo>
                <a:lnTo>
                  <a:pt x="5760945" y="0"/>
                </a:lnTo>
                <a:cubicBezTo>
                  <a:pt x="5471696" y="1402190"/>
                  <a:pt x="5760945" y="2561784"/>
                  <a:pt x="5760945" y="3842676"/>
                </a:cubicBezTo>
                <a:lnTo>
                  <a:pt x="0" y="3842676"/>
                </a:lnTo>
                <a:lnTo>
                  <a:pt x="0" y="0"/>
                </a:lnTo>
                <a:close/>
              </a:path>
            </a:pathLst>
          </a:cu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>
            <a:noAutofit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1800" kern="1200" spc="1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pair</a:t>
            </a:r>
            <a:r>
              <a:rPr lang="fr-F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fr-F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fr-F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fr-F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fr-F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 </a:t>
            </a:r>
            <a:r>
              <a:rPr lang="fr-FR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fr-F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= </a:t>
            </a:r>
            <a:r>
              <a:rPr lang="fr-F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make_pair</a:t>
            </a:r>
            <a:r>
              <a:rPr lang="fr-F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lat</a:t>
            </a:r>
            <a:r>
              <a:rPr lang="fr-F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fr-F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lon</a:t>
            </a:r>
            <a:r>
              <a:rPr lang="fr-F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fr-F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fr-FR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fr-F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fr-F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fr-F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first</a:t>
            </a:r>
            <a:r>
              <a:rPr lang="fr-F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fr-FR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fr-F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fr-F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", " </a:t>
            </a:r>
            <a:r>
              <a:rPr lang="fr-FR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fr-F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fr-F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fr-F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second</a:t>
            </a:r>
            <a:r>
              <a:rPr lang="fr-F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7" name="Объект 1">
            <a:extLst>
              <a:ext uri="{FF2B5EF4-FFF2-40B4-BE49-F238E27FC236}">
                <a16:creationId xmlns:a16="http://schemas.microsoft.com/office/drawing/2014/main" id="{B46E9AAE-9227-4179-825E-CAF61CABDE05}"/>
              </a:ext>
            </a:extLst>
          </p:cNvPr>
          <p:cNvSpPr txBox="1">
            <a:spLocks/>
          </p:cNvSpPr>
          <p:nvPr/>
        </p:nvSpPr>
        <p:spPr>
          <a:xfrm>
            <a:off x="8770775" y="553618"/>
            <a:ext cx="1676253" cy="894183"/>
          </a:xfrm>
          <a:custGeom>
            <a:avLst/>
            <a:gdLst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60945" h="3842676">
                <a:moveTo>
                  <a:pt x="0" y="0"/>
                </a:moveTo>
                <a:lnTo>
                  <a:pt x="5760945" y="0"/>
                </a:lnTo>
                <a:cubicBezTo>
                  <a:pt x="5471696" y="1402190"/>
                  <a:pt x="5760945" y="2561784"/>
                  <a:pt x="5760945" y="3842676"/>
                </a:cubicBezTo>
                <a:lnTo>
                  <a:pt x="0" y="3842676"/>
                </a:lnTo>
                <a:lnTo>
                  <a:pt x="0" y="0"/>
                </a:lnTo>
                <a:close/>
              </a:path>
            </a:pathLst>
          </a:cu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>
            <a:normAutofit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1800" kern="1200" spc="1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AE3131"/>
                </a:solidFill>
                <a:latin typeface="Consolas" panose="020B0609020204030204" pitchFamily="49" charset="0"/>
              </a:rPr>
              <a:t>&lt;utility&gt;</a:t>
            </a:r>
          </a:p>
          <a:p>
            <a:pPr marL="0" indent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&lt;tuple&gt;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D8E4BFF-CDEE-4093-82E9-90ABC2B40848}"/>
              </a:ext>
            </a:extLst>
          </p:cNvPr>
          <p:cNvSpPr txBox="1">
            <a:spLocks/>
          </p:cNvSpPr>
          <p:nvPr/>
        </p:nvSpPr>
        <p:spPr>
          <a:xfrm>
            <a:off x="1261871" y="3315477"/>
            <a:ext cx="6818440" cy="7993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1800" kern="1200" spc="1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Объект </a:t>
            </a:r>
            <a:r>
              <a:rPr lang="en-US" dirty="0">
                <a:solidFill>
                  <a:srgbClr val="001080"/>
                </a:solidFill>
                <a:latin typeface="Consolas" panose="020B0609020204030204" pitchFamily="49" charset="0"/>
              </a:rPr>
              <a:t>tuple</a:t>
            </a:r>
            <a:r>
              <a:rPr lang="ru-RU" dirty="0"/>
              <a:t> может хранить фиксированное количество гетерогенных объектов</a:t>
            </a:r>
          </a:p>
        </p:txBody>
      </p:sp>
      <p:sp>
        <p:nvSpPr>
          <p:cNvPr id="9" name="Объект 1">
            <a:extLst>
              <a:ext uri="{FF2B5EF4-FFF2-40B4-BE49-F238E27FC236}">
                <a16:creationId xmlns:a16="http://schemas.microsoft.com/office/drawing/2014/main" id="{88AA0560-5177-4E69-969E-D026CE666D61}"/>
              </a:ext>
            </a:extLst>
          </p:cNvPr>
          <p:cNvSpPr txBox="1">
            <a:spLocks/>
          </p:cNvSpPr>
          <p:nvPr/>
        </p:nvSpPr>
        <p:spPr>
          <a:xfrm>
            <a:off x="1575515" y="4077475"/>
            <a:ext cx="7195261" cy="2057401"/>
          </a:xfrm>
          <a:custGeom>
            <a:avLst/>
            <a:gdLst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60945" h="3842676">
                <a:moveTo>
                  <a:pt x="0" y="0"/>
                </a:moveTo>
                <a:lnTo>
                  <a:pt x="5760945" y="0"/>
                </a:lnTo>
                <a:cubicBezTo>
                  <a:pt x="5471696" y="1402190"/>
                  <a:pt x="5760945" y="2561784"/>
                  <a:pt x="5760945" y="3842676"/>
                </a:cubicBezTo>
                <a:lnTo>
                  <a:pt x="0" y="3842676"/>
                </a:lnTo>
                <a:lnTo>
                  <a:pt x="0" y="0"/>
                </a:lnTo>
                <a:close/>
              </a:path>
            </a:pathLst>
          </a:cu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>
            <a:noAutofit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1800" kern="1200" spc="1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= 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"Vitaly"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= 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= 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1.05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tuple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record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=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tie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record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", "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record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", "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record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10" name="Объект 1">
            <a:extLst>
              <a:ext uri="{FF2B5EF4-FFF2-40B4-BE49-F238E27FC236}">
                <a16:creationId xmlns:a16="http://schemas.microsoft.com/office/drawing/2014/main" id="{97B05C08-C7A9-4264-9B22-4AE971866333}"/>
              </a:ext>
            </a:extLst>
          </p:cNvPr>
          <p:cNvSpPr txBox="1">
            <a:spLocks/>
          </p:cNvSpPr>
          <p:nvPr/>
        </p:nvSpPr>
        <p:spPr>
          <a:xfrm>
            <a:off x="1575515" y="2285997"/>
            <a:ext cx="5879643" cy="709126"/>
          </a:xfrm>
          <a:custGeom>
            <a:avLst/>
            <a:gdLst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60945" h="3842676">
                <a:moveTo>
                  <a:pt x="0" y="0"/>
                </a:moveTo>
                <a:lnTo>
                  <a:pt x="5760945" y="0"/>
                </a:lnTo>
                <a:cubicBezTo>
                  <a:pt x="5471696" y="1402190"/>
                  <a:pt x="5760945" y="2561784"/>
                  <a:pt x="5760945" y="3842676"/>
                </a:cubicBezTo>
                <a:lnTo>
                  <a:pt x="0" y="3842676"/>
                </a:lnTo>
                <a:lnTo>
                  <a:pt x="0" y="0"/>
                </a:lnTo>
                <a:close/>
              </a:path>
            </a:pathLst>
          </a:cu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>
            <a:noAutofit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1800" kern="1200" spc="1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sz="1600" dirty="0">
                <a:solidFill>
                  <a:srgbClr val="001080"/>
                </a:solidFill>
                <a:latin typeface="Consolas" panose="020B0609020204030204" pitchFamily="49" charset="0"/>
              </a:rPr>
              <a:t>point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= </a:t>
            </a:r>
            <a:r>
              <a:rPr lang="en-US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make_pair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lat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 </a:t>
            </a:r>
            <a:r>
              <a:rPr lang="en-US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lon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fr-FR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fr-F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fr-FR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fr-F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fr-F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fr-F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first</a:t>
            </a:r>
            <a:r>
              <a:rPr lang="fr-F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fr-FR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fr-F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fr-F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", " </a:t>
            </a:r>
            <a:r>
              <a:rPr lang="fr-FR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fr-F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fr-F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fr-F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second</a:t>
            </a:r>
            <a:r>
              <a:rPr lang="fr-F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11" name="Объект 1">
            <a:extLst>
              <a:ext uri="{FF2B5EF4-FFF2-40B4-BE49-F238E27FC236}">
                <a16:creationId xmlns:a16="http://schemas.microsoft.com/office/drawing/2014/main" id="{A3833BA2-5FEF-41FE-A616-B811F92C612A}"/>
              </a:ext>
            </a:extLst>
          </p:cNvPr>
          <p:cNvSpPr txBox="1">
            <a:spLocks/>
          </p:cNvSpPr>
          <p:nvPr/>
        </p:nvSpPr>
        <p:spPr>
          <a:xfrm>
            <a:off x="1575514" y="4077474"/>
            <a:ext cx="7195261" cy="2057401"/>
          </a:xfrm>
          <a:custGeom>
            <a:avLst/>
            <a:gdLst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60945" h="3842676">
                <a:moveTo>
                  <a:pt x="0" y="0"/>
                </a:moveTo>
                <a:lnTo>
                  <a:pt x="5760945" y="0"/>
                </a:lnTo>
                <a:cubicBezTo>
                  <a:pt x="5471696" y="1402190"/>
                  <a:pt x="5760945" y="2561784"/>
                  <a:pt x="5760945" y="3842676"/>
                </a:cubicBezTo>
                <a:lnTo>
                  <a:pt x="0" y="3842676"/>
                </a:lnTo>
                <a:lnTo>
                  <a:pt x="0" y="0"/>
                </a:lnTo>
                <a:close/>
              </a:path>
            </a:pathLst>
          </a:cu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>
            <a:noAutofit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1800" kern="1200" spc="1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= 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"Vitaly"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= 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= 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1.05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record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=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tie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record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", "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record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", "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record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3664839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xit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22" presetClass="exit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 animBg="1"/>
      <p:bldP spid="10" grpId="0" animBg="1"/>
      <p:bldP spid="1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21775E-B84A-444B-8BA0-6983801E1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4000" dirty="0"/>
              <a:t>Отступление</a:t>
            </a:r>
            <a:r>
              <a:rPr lang="en-US" sz="4000" dirty="0"/>
              <a:t>: </a:t>
            </a:r>
            <a:r>
              <a:rPr lang="en-US" sz="4000" dirty="0">
                <a:latin typeface="Consolas" panose="020B0609020204030204" pitchFamily="49" charset="0"/>
              </a:rPr>
              <a:t>pair</a:t>
            </a:r>
            <a:r>
              <a:rPr lang="en-US" sz="4000" dirty="0"/>
              <a:t> </a:t>
            </a:r>
            <a:r>
              <a:rPr lang="ru-RU" sz="4000" dirty="0"/>
              <a:t>и </a:t>
            </a:r>
            <a:r>
              <a:rPr lang="en-US" sz="4000" dirty="0">
                <a:latin typeface="Consolas" panose="020B0609020204030204" pitchFamily="49" charset="0"/>
              </a:rPr>
              <a:t>tuple</a:t>
            </a:r>
            <a:endParaRPr lang="ru-RU" sz="4000" dirty="0">
              <a:latin typeface="Consolas" panose="020B0609020204030204" pitchFamily="49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BD957C-E739-445D-9CB4-1FD259FBF4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37692" y="3185475"/>
            <a:ext cx="4242191" cy="2668555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solidFill>
                  <a:srgbClr val="001080"/>
                </a:solidFill>
                <a:latin typeface="Consolas" panose="020B0609020204030204" pitchFamily="49" charset="0"/>
              </a:rPr>
              <a:t>pair</a:t>
            </a:r>
            <a:r>
              <a:rPr lang="ru-RU" dirty="0"/>
              <a:t> и </a:t>
            </a:r>
            <a:r>
              <a:rPr lang="en-US" dirty="0">
                <a:solidFill>
                  <a:srgbClr val="001080"/>
                </a:solidFill>
                <a:latin typeface="Consolas" panose="020B0609020204030204" pitchFamily="49" charset="0"/>
              </a:rPr>
              <a:t>tuple</a:t>
            </a:r>
            <a:r>
              <a:rPr lang="ru-RU" dirty="0"/>
              <a:t> удобно использовать</a:t>
            </a:r>
            <a:r>
              <a:rPr lang="en-US" dirty="0"/>
              <a:t> </a:t>
            </a:r>
            <a:r>
              <a:rPr lang="ru-RU" dirty="0"/>
              <a:t>для возвращения из функции несколько объектов</a:t>
            </a:r>
          </a:p>
          <a:p>
            <a:r>
              <a:rPr lang="ru-RU" dirty="0"/>
              <a:t>Использование </a:t>
            </a:r>
            <a:r>
              <a:rPr lang="ru-RU" i="1" dirty="0"/>
              <a:t>псевдонимов</a:t>
            </a:r>
            <a:r>
              <a:rPr lang="ru-RU" dirty="0"/>
              <a:t> позволяет сделать код проще для чтения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453784-CCE7-407B-A237-D43E60919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fld id="{E58EDE0D-0787-4A03-969A-A1D77559C4A6}" type="slidenum">
              <a:rPr lang="ru-RU" smtClean="0"/>
              <a:t>15</a:t>
            </a:fld>
            <a:endParaRPr lang="ru-RU"/>
          </a:p>
        </p:txBody>
      </p:sp>
      <p:sp>
        <p:nvSpPr>
          <p:cNvPr id="9" name="Объект 1">
            <a:extLst>
              <a:ext uri="{FF2B5EF4-FFF2-40B4-BE49-F238E27FC236}">
                <a16:creationId xmlns:a16="http://schemas.microsoft.com/office/drawing/2014/main" id="{88AA0560-5177-4E69-969E-D026CE666D61}"/>
              </a:ext>
            </a:extLst>
          </p:cNvPr>
          <p:cNvSpPr txBox="1">
            <a:spLocks/>
          </p:cNvSpPr>
          <p:nvPr/>
        </p:nvSpPr>
        <p:spPr>
          <a:xfrm>
            <a:off x="1049098" y="2015412"/>
            <a:ext cx="5788594" cy="4156788"/>
          </a:xfrm>
          <a:custGeom>
            <a:avLst/>
            <a:gdLst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4738714 w 5760945"/>
              <a:gd name="connsiteY1" fmla="*/ 9752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697551 w 5760945"/>
              <a:gd name="connsiteY1" fmla="*/ 18378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60945" h="3842676">
                <a:moveTo>
                  <a:pt x="0" y="0"/>
                </a:moveTo>
                <a:lnTo>
                  <a:pt x="5697551" y="18378"/>
                </a:lnTo>
                <a:cubicBezTo>
                  <a:pt x="5408302" y="1420568"/>
                  <a:pt x="5760945" y="2561784"/>
                  <a:pt x="5760945" y="3842676"/>
                </a:cubicBezTo>
                <a:lnTo>
                  <a:pt x="0" y="3842676"/>
                </a:lnTo>
                <a:lnTo>
                  <a:pt x="0" y="0"/>
                </a:lnTo>
                <a:close/>
              </a:path>
            </a:pathLst>
          </a:cu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>
            <a:noAutofit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1800" kern="1200" spc="1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AF00DB"/>
                </a:solidFill>
                <a:latin typeface="Consolas" panose="020B0609020204030204" pitchFamily="49" charset="0"/>
              </a:rPr>
              <a:t>using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sz="1600" dirty="0">
                <a:solidFill>
                  <a:srgbClr val="267F99"/>
                </a:solidFill>
                <a:latin typeface="Consolas" panose="020B0609020204030204" pitchFamily="49" charset="0"/>
              </a:rPr>
              <a:t>Record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= </a:t>
            </a:r>
            <a:r>
              <a:rPr lang="en-US" sz="1600" dirty="0">
                <a:solidFill>
                  <a:srgbClr val="267F99"/>
                </a:solidFill>
                <a:latin typeface="Consolas" panose="020B0609020204030204" pitchFamily="49" charset="0"/>
              </a:rPr>
              <a:t>tuple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600" dirty="0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 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 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float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&gt;;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1600" dirty="0">
                <a:solidFill>
                  <a:srgbClr val="267F99"/>
                </a:solidFill>
                <a:latin typeface="Consolas" panose="020B0609020204030204" pitchFamily="49" charset="0"/>
              </a:rPr>
              <a:t>Record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get_record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() {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sz="1600" dirty="0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sz="1600" dirty="0">
                <a:solidFill>
                  <a:srgbClr val="001080"/>
                </a:solidFill>
                <a:latin typeface="Consolas" panose="020B0609020204030204" pitchFamily="49" charset="0"/>
              </a:rPr>
              <a:t>name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= 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"Vitaly"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sz="1600" dirty="0">
                <a:solidFill>
                  <a:srgbClr val="001080"/>
                </a:solidFill>
                <a:latin typeface="Consolas" panose="020B0609020204030204" pitchFamily="49" charset="0"/>
              </a:rPr>
              <a:t>age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= </a:t>
            </a:r>
            <a:r>
              <a:rPr lang="en-US" sz="1600" dirty="0">
                <a:solidFill>
                  <a:srgbClr val="098658"/>
                </a:solidFill>
                <a:latin typeface="Consolas" panose="020B0609020204030204" pitchFamily="49" charset="0"/>
              </a:rPr>
              <a:t>32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float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sz="1600" dirty="0">
                <a:solidFill>
                  <a:srgbClr val="001080"/>
                </a:solidFill>
                <a:latin typeface="Consolas" panose="020B0609020204030204" pitchFamily="49" charset="0"/>
              </a:rPr>
              <a:t>score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= </a:t>
            </a:r>
            <a:r>
              <a:rPr lang="en-US" sz="1600" dirty="0">
                <a:solidFill>
                  <a:srgbClr val="098658"/>
                </a:solidFill>
                <a:latin typeface="Consolas" panose="020B0609020204030204" pitchFamily="49" charset="0"/>
              </a:rPr>
              <a:t>1.05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sz="1600" dirty="0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{</a:t>
            </a:r>
            <a:r>
              <a:rPr lang="en-US" sz="1600" dirty="0">
                <a:solidFill>
                  <a:srgbClr val="001080"/>
                </a:solidFill>
                <a:latin typeface="Consolas" panose="020B0609020204030204" pitchFamily="49" charset="0"/>
              </a:rPr>
              <a:t>name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 </a:t>
            </a:r>
            <a:r>
              <a:rPr lang="en-US" sz="1600" dirty="0">
                <a:solidFill>
                  <a:srgbClr val="001080"/>
                </a:solidFill>
                <a:latin typeface="Consolas" panose="020B0609020204030204" pitchFamily="49" charset="0"/>
              </a:rPr>
              <a:t>age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 </a:t>
            </a:r>
            <a:r>
              <a:rPr lang="en-US" sz="1600" dirty="0">
                <a:solidFill>
                  <a:srgbClr val="001080"/>
                </a:solidFill>
                <a:latin typeface="Consolas" panose="020B0609020204030204" pitchFamily="49" charset="0"/>
              </a:rPr>
              <a:t>score}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-RU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sz="1600" dirty="0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() {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[name, age, score] = </a:t>
            </a:r>
            <a:r>
              <a:rPr lang="en-US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get_record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sz="1600" dirty="0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&lt;&lt; name &lt;&lt; 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", 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&lt;&lt; age &lt;&lt; 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", "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&lt;&lt; score &lt;&lt; </a:t>
            </a:r>
            <a:r>
              <a:rPr lang="en-US" sz="1600" dirty="0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b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sz="1600" dirty="0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sz="16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Объект 1">
            <a:extLst>
              <a:ext uri="{FF2B5EF4-FFF2-40B4-BE49-F238E27FC236}">
                <a16:creationId xmlns:a16="http://schemas.microsoft.com/office/drawing/2014/main" id="{630DEAED-94C3-BA82-8CE8-B653DAC58ECE}"/>
              </a:ext>
            </a:extLst>
          </p:cNvPr>
          <p:cNvSpPr txBox="1">
            <a:spLocks/>
          </p:cNvSpPr>
          <p:nvPr/>
        </p:nvSpPr>
        <p:spPr>
          <a:xfrm>
            <a:off x="8770775" y="553618"/>
            <a:ext cx="1676253" cy="894183"/>
          </a:xfrm>
          <a:custGeom>
            <a:avLst/>
            <a:gdLst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60945" h="3842676">
                <a:moveTo>
                  <a:pt x="0" y="0"/>
                </a:moveTo>
                <a:lnTo>
                  <a:pt x="5760945" y="0"/>
                </a:lnTo>
                <a:cubicBezTo>
                  <a:pt x="5471696" y="1402190"/>
                  <a:pt x="5760945" y="2561784"/>
                  <a:pt x="5760945" y="3842676"/>
                </a:cubicBezTo>
                <a:lnTo>
                  <a:pt x="0" y="3842676"/>
                </a:lnTo>
                <a:lnTo>
                  <a:pt x="0" y="0"/>
                </a:lnTo>
                <a:close/>
              </a:path>
            </a:pathLst>
          </a:cu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>
            <a:normAutofit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1800" kern="1200" spc="1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AE3131"/>
                </a:solidFill>
                <a:latin typeface="Consolas" panose="020B0609020204030204" pitchFamily="49" charset="0"/>
              </a:rPr>
              <a:t>&lt;utility&gt;</a:t>
            </a:r>
          </a:p>
          <a:p>
            <a:pPr marL="0" indent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&lt;tuple&gt;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88720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E6482-C876-47FC-8F4A-6D4641095E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Передача аргументов </a:t>
            </a:r>
            <a:r>
              <a:rPr lang="en-US" dirty="0"/>
              <a:t>I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E49B61-193E-470D-B5FD-748D08F19E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23313" y="1828800"/>
            <a:ext cx="4124131" cy="3433665"/>
          </a:xfrm>
        </p:spPr>
        <p:txBody>
          <a:bodyPr>
            <a:normAutofit fontScale="92500" lnSpcReduction="20000"/>
          </a:bodyPr>
          <a:lstStyle/>
          <a:p>
            <a:r>
              <a:rPr lang="ru-RU" dirty="0"/>
              <a:t>В функцию по умолчанию передаются копии параметров</a:t>
            </a:r>
          </a:p>
          <a:p>
            <a:r>
              <a:rPr lang="ru-RU" dirty="0"/>
              <a:t>А давайте вернем новую строку!</a:t>
            </a:r>
          </a:p>
          <a:p>
            <a:pPr lvl="1"/>
            <a:r>
              <a:rPr lang="ru-RU" dirty="0"/>
              <a:t>Для добавления одного символа мы скопировали строку два раза…</a:t>
            </a:r>
            <a:endParaRPr lang="en-US" dirty="0"/>
          </a:p>
          <a:p>
            <a:r>
              <a:rPr lang="ru-RU" dirty="0"/>
              <a:t>Передача строки </a:t>
            </a:r>
            <a:r>
              <a:rPr lang="ru-RU" i="1" dirty="0"/>
              <a:t>по ссылке</a:t>
            </a:r>
            <a:r>
              <a:rPr lang="ru-RU" dirty="0"/>
              <a:t> – то что нужно в этой ситуации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C7D5E1-3ABB-483C-9F42-51DEC39EC3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fld id="{E58EDE0D-0787-4A03-969A-A1D77559C4A6}" type="slidenum">
              <a:rPr lang="ru-RU" smtClean="0"/>
              <a:t>16</a:t>
            </a:fld>
            <a:endParaRPr lang="ru-RU"/>
          </a:p>
        </p:txBody>
      </p:sp>
      <p:sp>
        <p:nvSpPr>
          <p:cNvPr id="6" name="Объект 1">
            <a:extLst>
              <a:ext uri="{FF2B5EF4-FFF2-40B4-BE49-F238E27FC236}">
                <a16:creationId xmlns:a16="http://schemas.microsoft.com/office/drawing/2014/main" id="{1A65B473-E8AF-4840-89EB-CE5FD489FD50}"/>
              </a:ext>
            </a:extLst>
          </p:cNvPr>
          <p:cNvSpPr txBox="1">
            <a:spLocks/>
          </p:cNvSpPr>
          <p:nvPr/>
        </p:nvSpPr>
        <p:spPr>
          <a:xfrm>
            <a:off x="965556" y="2015412"/>
            <a:ext cx="5788594" cy="4156788"/>
          </a:xfrm>
          <a:custGeom>
            <a:avLst/>
            <a:gdLst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4738714 w 5760945"/>
              <a:gd name="connsiteY1" fmla="*/ 9752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697551 w 5760945"/>
              <a:gd name="connsiteY1" fmla="*/ 18378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60945" h="3842676">
                <a:moveTo>
                  <a:pt x="0" y="0"/>
                </a:moveTo>
                <a:lnTo>
                  <a:pt x="5697551" y="18378"/>
                </a:lnTo>
                <a:cubicBezTo>
                  <a:pt x="5408302" y="1420568"/>
                  <a:pt x="5760945" y="2561784"/>
                  <a:pt x="5760945" y="3842676"/>
                </a:cubicBezTo>
                <a:lnTo>
                  <a:pt x="0" y="3842676"/>
                </a:lnTo>
                <a:lnTo>
                  <a:pt x="0" y="0"/>
                </a:lnTo>
                <a:close/>
              </a:path>
            </a:pathLst>
          </a:cu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>
            <a:noAutofit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1800" kern="1200" spc="1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&lt;string&gt;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add_exclamation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 {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'!'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 {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"Hello, world"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add_exclamation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0EDFBC-E759-4684-A5C2-30732D6E4E98}"/>
              </a:ext>
            </a:extLst>
          </p:cNvPr>
          <p:cNvSpPr txBox="1"/>
          <p:nvPr/>
        </p:nvSpPr>
        <p:spPr>
          <a:xfrm>
            <a:off x="7149756" y="5802868"/>
            <a:ext cx="3400658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&gt; Hello, world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8" name="Объект 1">
            <a:extLst>
              <a:ext uri="{FF2B5EF4-FFF2-40B4-BE49-F238E27FC236}">
                <a16:creationId xmlns:a16="http://schemas.microsoft.com/office/drawing/2014/main" id="{C7C2AC23-31D4-4B60-AE2E-F00E2790E1B8}"/>
              </a:ext>
            </a:extLst>
          </p:cNvPr>
          <p:cNvSpPr txBox="1">
            <a:spLocks/>
          </p:cNvSpPr>
          <p:nvPr/>
        </p:nvSpPr>
        <p:spPr>
          <a:xfrm>
            <a:off x="965556" y="2015412"/>
            <a:ext cx="5788594" cy="4476828"/>
          </a:xfrm>
          <a:custGeom>
            <a:avLst/>
            <a:gdLst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4738714 w 5760945"/>
              <a:gd name="connsiteY1" fmla="*/ 9752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697551 w 5760945"/>
              <a:gd name="connsiteY1" fmla="*/ 18378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60945" h="3842676">
                <a:moveTo>
                  <a:pt x="0" y="0"/>
                </a:moveTo>
                <a:lnTo>
                  <a:pt x="5697551" y="18378"/>
                </a:lnTo>
                <a:cubicBezTo>
                  <a:pt x="5408302" y="1420568"/>
                  <a:pt x="5760945" y="2561784"/>
                  <a:pt x="5760945" y="3842676"/>
                </a:cubicBezTo>
                <a:lnTo>
                  <a:pt x="0" y="3842676"/>
                </a:lnTo>
                <a:lnTo>
                  <a:pt x="0" y="0"/>
                </a:lnTo>
                <a:close/>
              </a:path>
            </a:pathLst>
          </a:cu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>
            <a:noAutofit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1800" kern="1200" spc="1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&lt;string&gt;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dirty="0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add_exclamation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 {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'!’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AF00DB"/>
                </a:solidFill>
                <a:latin typeface="Consolas" panose="020B0609020204030204" pitchFamily="49" charset="0"/>
              </a:rPr>
              <a:t>    return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str;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 {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"Hello, world"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001080"/>
                </a:solidFill>
                <a:latin typeface="Consolas" panose="020B0609020204030204" pitchFamily="49" charset="0"/>
              </a:rPr>
              <a:t>    line =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add_exclamation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B435163-FC33-4C84-8885-97EBF779D2FC}"/>
              </a:ext>
            </a:extLst>
          </p:cNvPr>
          <p:cNvSpPr txBox="1"/>
          <p:nvPr/>
        </p:nvSpPr>
        <p:spPr>
          <a:xfrm>
            <a:off x="7149756" y="5802868"/>
            <a:ext cx="3400658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&gt; Hello, world!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10" name="Объект 1">
            <a:extLst>
              <a:ext uri="{FF2B5EF4-FFF2-40B4-BE49-F238E27FC236}">
                <a16:creationId xmlns:a16="http://schemas.microsoft.com/office/drawing/2014/main" id="{66FA65F6-FDA8-4303-B12A-8FE724BE4E91}"/>
              </a:ext>
            </a:extLst>
          </p:cNvPr>
          <p:cNvSpPr txBox="1">
            <a:spLocks/>
          </p:cNvSpPr>
          <p:nvPr/>
        </p:nvSpPr>
        <p:spPr>
          <a:xfrm>
            <a:off x="965556" y="2010897"/>
            <a:ext cx="5788594" cy="4458165"/>
          </a:xfrm>
          <a:custGeom>
            <a:avLst/>
            <a:gdLst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4738714 w 5760945"/>
              <a:gd name="connsiteY1" fmla="*/ 9752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697551 w 5760945"/>
              <a:gd name="connsiteY1" fmla="*/ 18378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60945" h="3842676">
                <a:moveTo>
                  <a:pt x="0" y="0"/>
                </a:moveTo>
                <a:lnTo>
                  <a:pt x="5697551" y="18378"/>
                </a:lnTo>
                <a:cubicBezTo>
                  <a:pt x="5408302" y="1420568"/>
                  <a:pt x="5760945" y="2561784"/>
                  <a:pt x="5760945" y="3842676"/>
                </a:cubicBezTo>
                <a:lnTo>
                  <a:pt x="0" y="3842676"/>
                </a:lnTo>
                <a:lnTo>
                  <a:pt x="0" y="0"/>
                </a:lnTo>
                <a:close/>
              </a:path>
            </a:pathLst>
          </a:cu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>
            <a:noAutofit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1800" kern="1200" spc="1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&lt;string&gt;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add_exclamation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ru-RU" sz="16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 {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'!'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 {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"Hello, world"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add_exclamation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209529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8" grpId="1" animBg="1"/>
      <p:bldP spid="9" grpId="0" animBg="1"/>
      <p:bldP spid="1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56FEE-1039-49B0-80DE-E8E351402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Передача аргументов</a:t>
            </a:r>
            <a:r>
              <a:rPr lang="en-US" dirty="0"/>
              <a:t> II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2830DB-6302-46D8-9FC0-6F29EEBEA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1" y="1828800"/>
            <a:ext cx="8858873" cy="2722417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10000"/>
              </a:lnSpc>
            </a:pPr>
            <a:r>
              <a:rPr lang="ru-RU" dirty="0"/>
              <a:t>Передача аргумента по ссылке позволяет решить две задачи:</a:t>
            </a:r>
          </a:p>
          <a:p>
            <a:pPr marL="617220" lvl="1" indent="-342900">
              <a:lnSpc>
                <a:spcPct val="110000"/>
              </a:lnSpc>
              <a:buFont typeface="+mj-lt"/>
              <a:buAutoNum type="arabicPeriod"/>
            </a:pPr>
            <a:r>
              <a:rPr lang="ru-RU" dirty="0"/>
              <a:t>Передать объект в функцию (а не его копию)</a:t>
            </a:r>
          </a:p>
          <a:p>
            <a:pPr marL="617220" lvl="1" indent="-342900">
              <a:lnSpc>
                <a:spcPct val="110000"/>
              </a:lnSpc>
              <a:buFont typeface="+mj-lt"/>
              <a:buAutoNum type="arabicPeriod"/>
            </a:pPr>
            <a:r>
              <a:rPr lang="ru-RU" dirty="0"/>
              <a:t>Избежать лишнего (иногда очень дорогого!) копирования</a:t>
            </a:r>
          </a:p>
          <a:p>
            <a:pPr>
              <a:lnSpc>
                <a:spcPct val="110000"/>
              </a:lnSpc>
            </a:pPr>
            <a:r>
              <a:rPr lang="ru-RU" i="1" dirty="0"/>
              <a:t>Константная ссылка </a:t>
            </a:r>
            <a:r>
              <a:rPr lang="ru-RU" dirty="0"/>
              <a:t>обеспечивает эффективную передачу аргумента и гарантирует, что объект не будет изменен</a:t>
            </a:r>
            <a:endParaRPr lang="en-US" dirty="0"/>
          </a:p>
          <a:p>
            <a:pPr lvl="1">
              <a:lnSpc>
                <a:spcPct val="110000"/>
              </a:lnSpc>
            </a:pPr>
            <a:r>
              <a:rPr lang="ru-RU" dirty="0"/>
              <a:t>Нет смысла передавать базовые типы (</a:t>
            </a:r>
            <a:r>
              <a:rPr lang="en-US" dirty="0">
                <a:latin typeface="Consolas" panose="020B0609020204030204" pitchFamily="49" charset="0"/>
              </a:rPr>
              <a:t>int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float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double</a:t>
            </a:r>
            <a:r>
              <a:rPr lang="ru-RU" dirty="0"/>
              <a:t>) по константной ссылке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D270A9-0D7E-4821-AA38-620CB28FE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fld id="{E58EDE0D-0787-4A03-969A-A1D77559C4A6}" type="slidenum">
              <a:rPr lang="ru-RU" smtClean="0"/>
              <a:t>17</a:t>
            </a:fld>
            <a:endParaRPr lang="ru-RU"/>
          </a:p>
        </p:txBody>
      </p:sp>
      <p:sp>
        <p:nvSpPr>
          <p:cNvPr id="6" name="Объект 1">
            <a:extLst>
              <a:ext uri="{FF2B5EF4-FFF2-40B4-BE49-F238E27FC236}">
                <a16:creationId xmlns:a16="http://schemas.microsoft.com/office/drawing/2014/main" id="{5749880B-F8CE-4BCC-AD6F-C47213C6EAF6}"/>
              </a:ext>
            </a:extLst>
          </p:cNvPr>
          <p:cNvSpPr txBox="1">
            <a:spLocks/>
          </p:cNvSpPr>
          <p:nvPr/>
        </p:nvSpPr>
        <p:spPr>
          <a:xfrm>
            <a:off x="2766436" y="4535225"/>
            <a:ext cx="5619028" cy="1007918"/>
          </a:xfrm>
          <a:custGeom>
            <a:avLst/>
            <a:gdLst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60945" h="3842676">
                <a:moveTo>
                  <a:pt x="0" y="0"/>
                </a:moveTo>
                <a:lnTo>
                  <a:pt x="5760945" y="0"/>
                </a:lnTo>
                <a:cubicBezTo>
                  <a:pt x="5471696" y="1402190"/>
                  <a:pt x="5760945" y="2561784"/>
                  <a:pt x="5760945" y="3842676"/>
                </a:cubicBezTo>
                <a:lnTo>
                  <a:pt x="0" y="3842676"/>
                </a:lnTo>
                <a:lnTo>
                  <a:pt x="0" y="0"/>
                </a:lnTo>
                <a:close/>
              </a:path>
            </a:pathLst>
          </a:cu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>
            <a:noAutofit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1800" kern="1200" spc="1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greetings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 {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"Good morning, 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"!</a:t>
            </a:r>
            <a:r>
              <a:rPr lang="en-US" sz="16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2492342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CBDCF-64F1-4632-A737-29423D91D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onsolas" panose="020B0609020204030204" pitchFamily="49" charset="0"/>
              </a:rPr>
              <a:t>std::string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8BC32-319F-4158-9EAE-441EBBF466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43085" y="1836265"/>
            <a:ext cx="3295490" cy="4351337"/>
          </a:xfrm>
        </p:spPr>
        <p:txBody>
          <a:bodyPr>
            <a:normAutofit fontScale="77500" lnSpcReduction="20000"/>
          </a:bodyPr>
          <a:lstStyle/>
          <a:p>
            <a:r>
              <a:rPr lang="ru-RU" dirty="0"/>
              <a:t>Класс</a:t>
            </a:r>
            <a:r>
              <a:rPr lang="en-US" dirty="0"/>
              <a:t>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alibri" panose="020F0502020204030204" pitchFamily="34" charset="0"/>
              </a:rPr>
              <a:t>string</a:t>
            </a:r>
            <a:r>
              <a:rPr lang="ru-RU" dirty="0"/>
              <a:t> работает с 8-битовыми символьными строками</a:t>
            </a:r>
            <a:endParaRPr lang="en-US" dirty="0"/>
          </a:p>
          <a:p>
            <a:r>
              <a:rPr lang="ru-RU" dirty="0"/>
              <a:t>Поддерживает множество операций (смотрите документацию)</a:t>
            </a:r>
          </a:p>
          <a:p>
            <a:r>
              <a:rPr lang="ru-RU" dirty="0"/>
              <a:t>Поддерживают операторы сравнения (лексикографический порядок) и операторы ввода-вывода</a:t>
            </a:r>
          </a:p>
          <a:p>
            <a:r>
              <a:rPr lang="ru-RU" dirty="0"/>
              <a:t>Имеет инструменты для поиска внутри строки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490286-366C-47EB-8788-7EE56E2BD2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fld id="{E58EDE0D-0787-4A03-969A-A1D77559C4A6}" type="slidenum">
              <a:rPr lang="ru-RU" smtClean="0"/>
              <a:t>18</a:t>
            </a:fld>
            <a:endParaRPr lang="ru-RU"/>
          </a:p>
        </p:txBody>
      </p:sp>
      <p:sp>
        <p:nvSpPr>
          <p:cNvPr id="6" name="Объект 1">
            <a:extLst>
              <a:ext uri="{FF2B5EF4-FFF2-40B4-BE49-F238E27FC236}">
                <a16:creationId xmlns:a16="http://schemas.microsoft.com/office/drawing/2014/main" id="{082CC107-E171-4AE5-AA7C-D9AEFE310E3E}"/>
              </a:ext>
            </a:extLst>
          </p:cNvPr>
          <p:cNvSpPr txBox="1">
            <a:spLocks/>
          </p:cNvSpPr>
          <p:nvPr/>
        </p:nvSpPr>
        <p:spPr>
          <a:xfrm>
            <a:off x="9278259" y="962845"/>
            <a:ext cx="1676253" cy="474069"/>
          </a:xfrm>
          <a:custGeom>
            <a:avLst/>
            <a:gdLst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60945" h="3842676">
                <a:moveTo>
                  <a:pt x="0" y="0"/>
                </a:moveTo>
                <a:lnTo>
                  <a:pt x="5760945" y="0"/>
                </a:lnTo>
                <a:cubicBezTo>
                  <a:pt x="5471696" y="1402190"/>
                  <a:pt x="5760945" y="2561784"/>
                  <a:pt x="5760945" y="3842676"/>
                </a:cubicBezTo>
                <a:lnTo>
                  <a:pt x="0" y="3842676"/>
                </a:lnTo>
                <a:lnTo>
                  <a:pt x="0" y="0"/>
                </a:lnTo>
                <a:close/>
              </a:path>
            </a:pathLst>
          </a:cu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>
            <a:normAutofit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1800" kern="1200" spc="1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AE3131"/>
                </a:solidFill>
                <a:latin typeface="Consolas" panose="020B0609020204030204" pitchFamily="49" charset="0"/>
              </a:rPr>
              <a:t>&lt;string&gt;</a:t>
            </a:r>
          </a:p>
        </p:txBody>
      </p:sp>
      <p:sp>
        <p:nvSpPr>
          <p:cNvPr id="7" name="Объект 1">
            <a:extLst>
              <a:ext uri="{FF2B5EF4-FFF2-40B4-BE49-F238E27FC236}">
                <a16:creationId xmlns:a16="http://schemas.microsoft.com/office/drawing/2014/main" id="{19574251-3102-4CFA-B0AF-42FB4861531E}"/>
              </a:ext>
            </a:extLst>
          </p:cNvPr>
          <p:cNvSpPr txBox="1">
            <a:spLocks/>
          </p:cNvSpPr>
          <p:nvPr/>
        </p:nvSpPr>
        <p:spPr>
          <a:xfrm>
            <a:off x="713207" y="1836266"/>
            <a:ext cx="6450251" cy="4452568"/>
          </a:xfrm>
          <a:custGeom>
            <a:avLst/>
            <a:gdLst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4738714 w 5760945"/>
              <a:gd name="connsiteY1" fmla="*/ 9752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697551 w 5760945"/>
              <a:gd name="connsiteY1" fmla="*/ 18378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60945" h="3842676">
                <a:moveTo>
                  <a:pt x="0" y="0"/>
                </a:moveTo>
                <a:lnTo>
                  <a:pt x="5697551" y="18378"/>
                </a:lnTo>
                <a:cubicBezTo>
                  <a:pt x="5408302" y="1420568"/>
                  <a:pt x="5760945" y="2561784"/>
                  <a:pt x="5760945" y="3842676"/>
                </a:cubicBezTo>
                <a:lnTo>
                  <a:pt x="0" y="3842676"/>
                </a:lnTo>
                <a:lnTo>
                  <a:pt x="0" y="0"/>
                </a:lnTo>
                <a:close/>
              </a:path>
            </a:pathLst>
          </a:cu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>
            <a:noAutofit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1800" kern="1200" spc="1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&lt;string&gt;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 {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"world"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=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", 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"!"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 // Hello, world!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 // 13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=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substr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 // world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world_index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=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find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"world"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// 7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replace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world_index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"Mike"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 // Hello, Mike!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=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stoi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"456"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=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stod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"5.654"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pistr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= 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"pi equals 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to_string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3.1415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37728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Объект 1">
            <a:extLst>
              <a:ext uri="{FF2B5EF4-FFF2-40B4-BE49-F238E27FC236}">
                <a16:creationId xmlns:a16="http://schemas.microsoft.com/office/drawing/2014/main" id="{D14E61AE-93A9-4B99-917B-63380E70B672}"/>
              </a:ext>
            </a:extLst>
          </p:cNvPr>
          <p:cNvSpPr txBox="1">
            <a:spLocks/>
          </p:cNvSpPr>
          <p:nvPr/>
        </p:nvSpPr>
        <p:spPr>
          <a:xfrm>
            <a:off x="434278" y="337767"/>
            <a:ext cx="5975854" cy="6296298"/>
          </a:xfrm>
          <a:custGeom>
            <a:avLst/>
            <a:gdLst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4738714 w 5760945"/>
              <a:gd name="connsiteY1" fmla="*/ 9752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697551 w 5760945"/>
              <a:gd name="connsiteY1" fmla="*/ 18378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60945" h="3842676">
                <a:moveTo>
                  <a:pt x="0" y="0"/>
                </a:moveTo>
                <a:lnTo>
                  <a:pt x="5697551" y="18378"/>
                </a:lnTo>
                <a:cubicBezTo>
                  <a:pt x="5408302" y="1420568"/>
                  <a:pt x="5760945" y="2561784"/>
                  <a:pt x="5760945" y="3842676"/>
                </a:cubicBezTo>
                <a:lnTo>
                  <a:pt x="0" y="3842676"/>
                </a:lnTo>
                <a:lnTo>
                  <a:pt x="0" y="0"/>
                </a:lnTo>
                <a:close/>
              </a:path>
            </a:pathLst>
          </a:cu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>
            <a:noAutofit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1800" kern="1200" spc="1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&lt;vector&gt;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 {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vec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= {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: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vec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 '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6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vec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 // 7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vec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 // 5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vec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= 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 // {1, 3, 5, 7, 10}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vec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 // {1, 3, 5, 7, 10, 12}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vec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front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 '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 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vec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back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 // 1 12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vec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pop_back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 // {1, 3, 5, 7, 10}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vec2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 // size = 10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vec2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resize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 // size = 20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vec3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 // {2, 2, 2, 2, 2}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&gt;&gt;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vec2d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vec2d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vec3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6143DB-49A8-4A4C-AFCF-71738B5458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65018" y="365760"/>
            <a:ext cx="4389494" cy="1325562"/>
          </a:xfrm>
        </p:spPr>
        <p:txBody>
          <a:bodyPr/>
          <a:lstStyle/>
          <a:p>
            <a:r>
              <a:rPr lang="en-US" dirty="0">
                <a:latin typeface="Consolas" panose="020B0609020204030204" pitchFamily="49" charset="0"/>
              </a:rPr>
              <a:t>std::vector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8963D1-7BAB-4693-92F5-A2360A449C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65019" y="2590799"/>
            <a:ext cx="4389493" cy="3581401"/>
          </a:xfrm>
        </p:spPr>
        <p:txBody>
          <a:bodyPr>
            <a:normAutofit fontScale="92500" lnSpcReduction="20000"/>
          </a:bodyPr>
          <a:lstStyle/>
          <a:p>
            <a:r>
              <a:rPr lang="ru-RU" dirty="0"/>
              <a:t>Класс</a:t>
            </a:r>
            <a:r>
              <a:rPr lang="en-US" dirty="0"/>
              <a:t> </a:t>
            </a:r>
            <a:r>
              <a:rPr lang="en-US" dirty="0">
                <a:solidFill>
                  <a:srgbClr val="AE3131"/>
                </a:solidFill>
                <a:latin typeface="Consolas" panose="020B0609020204030204" pitchFamily="49" charset="0"/>
              </a:rPr>
              <a:t>vector</a:t>
            </a:r>
            <a:r>
              <a:rPr lang="ru-RU" dirty="0"/>
              <a:t> реализует тип данных </a:t>
            </a:r>
            <a:r>
              <a:rPr lang="ru-RU" i="1" dirty="0"/>
              <a:t>динамический массив</a:t>
            </a:r>
            <a:r>
              <a:rPr lang="ru-RU" dirty="0"/>
              <a:t>.</a:t>
            </a:r>
          </a:p>
          <a:p>
            <a:pPr lvl="1"/>
            <a:r>
              <a:rPr lang="ru-RU" dirty="0"/>
              <a:t>Позволяет хранить </a:t>
            </a:r>
            <a:r>
              <a:rPr lang="ru-RU" i="1" dirty="0"/>
              <a:t>гомогенные объекты </a:t>
            </a:r>
            <a:r>
              <a:rPr lang="ru-RU" dirty="0"/>
              <a:t>любого типа</a:t>
            </a:r>
          </a:p>
          <a:p>
            <a:pPr lvl="1"/>
            <a:r>
              <a:rPr lang="ru-RU" dirty="0"/>
              <a:t>Поддерживает эффективное </a:t>
            </a:r>
            <a:r>
              <a:rPr lang="ru-RU" i="1" dirty="0"/>
              <a:t>итерирование</a:t>
            </a:r>
          </a:p>
          <a:p>
            <a:pPr lvl="1"/>
            <a:r>
              <a:rPr lang="ru-RU" dirty="0"/>
              <a:t>Поддерживает эффективную вставку и удаление </a:t>
            </a:r>
            <a:r>
              <a:rPr lang="ru-RU" i="1" dirty="0"/>
              <a:t>в конец</a:t>
            </a:r>
          </a:p>
          <a:p>
            <a:pPr lvl="1"/>
            <a:r>
              <a:rPr lang="ru-RU" dirty="0"/>
              <a:t>Поддерживает множество других методов (смотрите документацию!)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CE42AE-655F-45E5-B7F3-6B1CBB5B0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fld id="{E58EDE0D-0787-4A03-969A-A1D77559C4A6}" type="slidenum">
              <a:rPr lang="ru-RU" smtClean="0"/>
              <a:t>19</a:t>
            </a:fld>
            <a:endParaRPr lang="ru-RU"/>
          </a:p>
        </p:txBody>
      </p:sp>
      <p:sp>
        <p:nvSpPr>
          <p:cNvPr id="6" name="Объект 1">
            <a:extLst>
              <a:ext uri="{FF2B5EF4-FFF2-40B4-BE49-F238E27FC236}">
                <a16:creationId xmlns:a16="http://schemas.microsoft.com/office/drawing/2014/main" id="{C647A03F-F483-4C61-B96A-6FB85C7FA8A5}"/>
              </a:ext>
            </a:extLst>
          </p:cNvPr>
          <p:cNvSpPr txBox="1">
            <a:spLocks/>
          </p:cNvSpPr>
          <p:nvPr/>
        </p:nvSpPr>
        <p:spPr>
          <a:xfrm>
            <a:off x="9399557" y="1773712"/>
            <a:ext cx="1676253" cy="474069"/>
          </a:xfrm>
          <a:custGeom>
            <a:avLst/>
            <a:gdLst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60945" h="3842676">
                <a:moveTo>
                  <a:pt x="0" y="0"/>
                </a:moveTo>
                <a:lnTo>
                  <a:pt x="5760945" y="0"/>
                </a:lnTo>
                <a:cubicBezTo>
                  <a:pt x="5471696" y="1402190"/>
                  <a:pt x="5760945" y="2561784"/>
                  <a:pt x="5760945" y="3842676"/>
                </a:cubicBezTo>
                <a:lnTo>
                  <a:pt x="0" y="3842676"/>
                </a:lnTo>
                <a:lnTo>
                  <a:pt x="0" y="0"/>
                </a:lnTo>
                <a:close/>
              </a:path>
            </a:pathLst>
          </a:cu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>
            <a:normAutofit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1800" kern="1200" spc="1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AE3131"/>
                </a:solidFill>
                <a:latin typeface="Consolas" panose="020B0609020204030204" pitchFamily="49" charset="0"/>
              </a:rPr>
              <a:t>&lt;vector&gt;</a:t>
            </a:r>
          </a:p>
        </p:txBody>
      </p:sp>
    </p:spTree>
    <p:extLst>
      <p:ext uri="{BB962C8B-B14F-4D97-AF65-F5344CB8AC3E}">
        <p14:creationId xmlns:p14="http://schemas.microsoft.com/office/powerpoint/2010/main" val="3038165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1FC73-5262-4BB5-8F37-B51F2D81D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Итерирование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BEC58A8-3B17-4215-BB11-BB3D8ACCE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fld id="{E58EDE0D-0787-4A03-969A-A1D77559C4A6}" type="slidenum">
              <a:rPr lang="ru-RU" smtClean="0"/>
              <a:t>20</a:t>
            </a:fld>
            <a:endParaRPr lang="ru-RU"/>
          </a:p>
        </p:txBody>
      </p:sp>
      <p:sp>
        <p:nvSpPr>
          <p:cNvPr id="6" name="Объект 1">
            <a:extLst>
              <a:ext uri="{FF2B5EF4-FFF2-40B4-BE49-F238E27FC236}">
                <a16:creationId xmlns:a16="http://schemas.microsoft.com/office/drawing/2014/main" id="{BE67FA5C-436B-4886-83BE-47EA8A8A0563}"/>
              </a:ext>
            </a:extLst>
          </p:cNvPr>
          <p:cNvSpPr txBox="1">
            <a:spLocks/>
          </p:cNvSpPr>
          <p:nvPr/>
        </p:nvSpPr>
        <p:spPr>
          <a:xfrm>
            <a:off x="1261872" y="1948698"/>
            <a:ext cx="5527985" cy="4442772"/>
          </a:xfrm>
          <a:custGeom>
            <a:avLst/>
            <a:gdLst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4738714 w 5760945"/>
              <a:gd name="connsiteY1" fmla="*/ 9752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697551 w 5760945"/>
              <a:gd name="connsiteY1" fmla="*/ 18378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60945" h="3842676">
                <a:moveTo>
                  <a:pt x="0" y="0"/>
                </a:moveTo>
                <a:lnTo>
                  <a:pt x="5697551" y="18378"/>
                </a:lnTo>
                <a:cubicBezTo>
                  <a:pt x="5408302" y="1420568"/>
                  <a:pt x="5760945" y="2561784"/>
                  <a:pt x="5760945" y="3842676"/>
                </a:cubicBezTo>
                <a:lnTo>
                  <a:pt x="0" y="3842676"/>
                </a:lnTo>
                <a:lnTo>
                  <a:pt x="0" y="0"/>
                </a:lnTo>
                <a:close/>
              </a:path>
            </a:pathLst>
          </a:cu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>
            <a:noAutofit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1800" kern="1200" spc="1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 {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vec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= {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: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vec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 '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: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vec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 ++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(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= 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&lt; 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vec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 ++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vec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 '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= 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"Novosibirsk"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: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 '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9D1C53-79D8-4047-AABC-199123E81C1B}"/>
              </a:ext>
            </a:extLst>
          </p:cNvPr>
          <p:cNvSpPr txBox="1"/>
          <p:nvPr/>
        </p:nvSpPr>
        <p:spPr>
          <a:xfrm>
            <a:off x="7233733" y="3684819"/>
            <a:ext cx="3400658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pt-BR" dirty="0">
                <a:latin typeface="Consolas" panose="020B0609020204030204" pitchFamily="49" charset="0"/>
              </a:rPr>
              <a:t>&gt; 1 2 3 4 5 </a:t>
            </a:r>
          </a:p>
          <a:p>
            <a:r>
              <a:rPr lang="pt-BR" dirty="0">
                <a:latin typeface="Consolas" panose="020B0609020204030204" pitchFamily="49" charset="0"/>
              </a:rPr>
              <a:t>&gt; 2 3 4 5 6</a:t>
            </a:r>
          </a:p>
          <a:p>
            <a:r>
              <a:rPr lang="pt-BR" dirty="0">
                <a:latin typeface="Consolas" panose="020B0609020204030204" pitchFamily="49" charset="0"/>
              </a:rPr>
              <a:t>&gt; N o v o s i b i r s k</a:t>
            </a:r>
            <a:endParaRPr lang="ru-RU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80969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2550A-6E30-4A00-82C8-4567BF97F0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Заключительный пример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CBB59F-0B02-4B70-8F4D-DEE4F75569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4299173" cy="2733869"/>
          </a:xfrm>
        </p:spPr>
        <p:txBody>
          <a:bodyPr>
            <a:normAutofit fontScale="70000" lnSpcReduction="20000"/>
          </a:bodyPr>
          <a:lstStyle/>
          <a:p>
            <a:r>
              <a:rPr lang="ru-RU" dirty="0">
                <a:solidFill>
                  <a:srgbClr val="C00000"/>
                </a:solidFill>
              </a:rPr>
              <a:t>Дано</a:t>
            </a:r>
            <a:r>
              <a:rPr lang="ru-RU" dirty="0"/>
              <a:t>: текстовый файл со списком городов, их географическим расположением (широта и долгота) и населением</a:t>
            </a:r>
          </a:p>
          <a:p>
            <a:r>
              <a:rPr lang="ru-RU" dirty="0">
                <a:solidFill>
                  <a:srgbClr val="C00000"/>
                </a:solidFill>
              </a:rPr>
              <a:t>Найти</a:t>
            </a:r>
            <a:r>
              <a:rPr lang="ru-RU" dirty="0"/>
              <a:t>: пару городов</a:t>
            </a:r>
            <a:r>
              <a:rPr lang="en-US" dirty="0"/>
              <a:t> </a:t>
            </a:r>
            <a:r>
              <a:rPr lang="ru-RU" dirty="0"/>
              <a:t>с населением в каждом</a:t>
            </a:r>
            <a:r>
              <a:rPr lang="en-US" dirty="0"/>
              <a:t> </a:t>
            </a:r>
            <a:r>
              <a:rPr lang="ru-RU" dirty="0"/>
              <a:t>из которых не меньше некоторого порога и расстояние между которыми минимально.</a:t>
            </a:r>
            <a:endParaRPr lang="en-US" dirty="0"/>
          </a:p>
          <a:p>
            <a:r>
              <a:rPr lang="ru-RU" dirty="0"/>
              <a:t>Определим удобные псевдонимы: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975744-3FD4-4E28-9BE0-74FE01579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fld id="{E58EDE0D-0787-4A03-969A-A1D77559C4A6}" type="slidenum">
              <a:rPr lang="ru-RU" smtClean="0"/>
              <a:t>21</a:t>
            </a:fld>
            <a:endParaRPr lang="ru-RU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FA2CE87-3B15-497C-81F2-7458D0C2F64F}"/>
              </a:ext>
            </a:extLst>
          </p:cNvPr>
          <p:cNvGrpSpPr/>
          <p:nvPr/>
        </p:nvGrpSpPr>
        <p:grpSpPr>
          <a:xfrm>
            <a:off x="5803640" y="2146690"/>
            <a:ext cx="5249870" cy="2000812"/>
            <a:chOff x="7493233" y="3241615"/>
            <a:chExt cx="3400659" cy="2000812"/>
          </a:xfr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ACFEC5F-A2A3-47C8-B4E1-B0BF351DA2FB}"/>
                </a:ext>
              </a:extLst>
            </p:cNvPr>
            <p:cNvSpPr txBox="1"/>
            <p:nvPr/>
          </p:nvSpPr>
          <p:spPr>
            <a:xfrm>
              <a:off x="7493234" y="3613905"/>
              <a:ext cx="3400658" cy="1628522"/>
            </a:xfrm>
            <a:custGeom>
              <a:avLst/>
              <a:gdLst>
                <a:gd name="connsiteX0" fmla="*/ 0 w 4673074"/>
                <a:gd name="connsiteY0" fmla="*/ 0 h 369332"/>
                <a:gd name="connsiteX1" fmla="*/ 4673074 w 4673074"/>
                <a:gd name="connsiteY1" fmla="*/ 0 h 369332"/>
                <a:gd name="connsiteX2" fmla="*/ 4673074 w 4673074"/>
                <a:gd name="connsiteY2" fmla="*/ 369332 h 369332"/>
                <a:gd name="connsiteX3" fmla="*/ 0 w 4673074"/>
                <a:gd name="connsiteY3" fmla="*/ 369332 h 369332"/>
                <a:gd name="connsiteX4" fmla="*/ 0 w 4673074"/>
                <a:gd name="connsiteY4" fmla="*/ 0 h 369332"/>
                <a:gd name="connsiteX0" fmla="*/ 0 w 4673074"/>
                <a:gd name="connsiteY0" fmla="*/ 0 h 369332"/>
                <a:gd name="connsiteX1" fmla="*/ 4673074 w 4673074"/>
                <a:gd name="connsiteY1" fmla="*/ 0 h 369332"/>
                <a:gd name="connsiteX2" fmla="*/ 4645082 w 4673074"/>
                <a:gd name="connsiteY2" fmla="*/ 369332 h 369332"/>
                <a:gd name="connsiteX3" fmla="*/ 0 w 4673074"/>
                <a:gd name="connsiteY3" fmla="*/ 369332 h 369332"/>
                <a:gd name="connsiteX4" fmla="*/ 0 w 4673074"/>
                <a:gd name="connsiteY4" fmla="*/ 0 h 369332"/>
                <a:gd name="connsiteX0" fmla="*/ 0 w 4673074"/>
                <a:gd name="connsiteY0" fmla="*/ 0 h 369332"/>
                <a:gd name="connsiteX1" fmla="*/ 4673074 w 4673074"/>
                <a:gd name="connsiteY1" fmla="*/ 0 h 369332"/>
                <a:gd name="connsiteX2" fmla="*/ 4645082 w 4673074"/>
                <a:gd name="connsiteY2" fmla="*/ 369332 h 369332"/>
                <a:gd name="connsiteX3" fmla="*/ 0 w 4673074"/>
                <a:gd name="connsiteY3" fmla="*/ 369332 h 369332"/>
                <a:gd name="connsiteX4" fmla="*/ 0 w 4673074"/>
                <a:gd name="connsiteY4" fmla="*/ 0 h 369332"/>
                <a:gd name="connsiteX0" fmla="*/ 0 w 4673074"/>
                <a:gd name="connsiteY0" fmla="*/ 0 h 369332"/>
                <a:gd name="connsiteX1" fmla="*/ 4673074 w 4673074"/>
                <a:gd name="connsiteY1" fmla="*/ 0 h 369332"/>
                <a:gd name="connsiteX2" fmla="*/ 4645082 w 4673074"/>
                <a:gd name="connsiteY2" fmla="*/ 369332 h 369332"/>
                <a:gd name="connsiteX3" fmla="*/ 0 w 4673074"/>
                <a:gd name="connsiteY3" fmla="*/ 369332 h 369332"/>
                <a:gd name="connsiteX4" fmla="*/ 0 w 4673074"/>
                <a:gd name="connsiteY4" fmla="*/ 0 h 369332"/>
                <a:gd name="connsiteX0" fmla="*/ 0 w 4673074"/>
                <a:gd name="connsiteY0" fmla="*/ 0 h 369332"/>
                <a:gd name="connsiteX1" fmla="*/ 4673074 w 4673074"/>
                <a:gd name="connsiteY1" fmla="*/ 0 h 369332"/>
                <a:gd name="connsiteX2" fmla="*/ 4645082 w 4673074"/>
                <a:gd name="connsiteY2" fmla="*/ 369332 h 369332"/>
                <a:gd name="connsiteX3" fmla="*/ 0 w 4673074"/>
                <a:gd name="connsiteY3" fmla="*/ 369332 h 369332"/>
                <a:gd name="connsiteX4" fmla="*/ 0 w 4673074"/>
                <a:gd name="connsiteY4" fmla="*/ 0 h 369332"/>
                <a:gd name="connsiteX0" fmla="*/ 0 w 4688325"/>
                <a:gd name="connsiteY0" fmla="*/ 0 h 371528"/>
                <a:gd name="connsiteX1" fmla="*/ 4673074 w 4688325"/>
                <a:gd name="connsiteY1" fmla="*/ 0 h 371528"/>
                <a:gd name="connsiteX2" fmla="*/ 4686609 w 4688325"/>
                <a:gd name="connsiteY2" fmla="*/ 371528 h 371528"/>
                <a:gd name="connsiteX3" fmla="*/ 0 w 4688325"/>
                <a:gd name="connsiteY3" fmla="*/ 369332 h 371528"/>
                <a:gd name="connsiteX4" fmla="*/ 0 w 4688325"/>
                <a:gd name="connsiteY4" fmla="*/ 0 h 371528"/>
                <a:gd name="connsiteX0" fmla="*/ 0 w 4673074"/>
                <a:gd name="connsiteY0" fmla="*/ 0 h 383182"/>
                <a:gd name="connsiteX1" fmla="*/ 4673074 w 4673074"/>
                <a:gd name="connsiteY1" fmla="*/ 0 h 383182"/>
                <a:gd name="connsiteX2" fmla="*/ 4669652 w 4673074"/>
                <a:gd name="connsiteY2" fmla="*/ 383182 h 383182"/>
                <a:gd name="connsiteX3" fmla="*/ 0 w 4673074"/>
                <a:gd name="connsiteY3" fmla="*/ 369332 h 383182"/>
                <a:gd name="connsiteX4" fmla="*/ 0 w 4673074"/>
                <a:gd name="connsiteY4" fmla="*/ 0 h 383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73074" h="383182">
                  <a:moveTo>
                    <a:pt x="0" y="0"/>
                  </a:moveTo>
                  <a:lnTo>
                    <a:pt x="4673074" y="0"/>
                  </a:lnTo>
                  <a:cubicBezTo>
                    <a:pt x="4663743" y="123111"/>
                    <a:pt x="4678983" y="260071"/>
                    <a:pt x="4669652" y="383182"/>
                  </a:cubicBezTo>
                  <a:cubicBezTo>
                    <a:pt x="3494266" y="274947"/>
                    <a:pt x="1548361" y="369332"/>
                    <a:pt x="0" y="369332"/>
                  </a:cubicBezTo>
                  <a:lnTo>
                    <a:pt x="0" y="0"/>
                  </a:lnTo>
                  <a:close/>
                </a:path>
              </a:pathLst>
            </a:cu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sz="1600" b="0" dirty="0">
                  <a:solidFill>
                    <a:srgbClr val="A31515"/>
                  </a:solidFill>
                  <a:effectLst/>
                  <a:latin typeface="Consolas" panose="020B0609020204030204" pitchFamily="49" charset="0"/>
                </a:rPr>
                <a:t>"Moscow" (55.7558, 37.6178) 17125000</a:t>
              </a:r>
            </a:p>
            <a:p>
              <a:r>
                <a:rPr lang="en-US" sz="1600" b="0" dirty="0">
                  <a:solidFill>
                    <a:srgbClr val="A31515"/>
                  </a:solidFill>
                  <a:effectLst/>
                  <a:latin typeface="Consolas" panose="020B0609020204030204" pitchFamily="49" charset="0"/>
                </a:rPr>
                <a:t>"Saint Petersburg" (59.9500, 30.3167) 5351935</a:t>
              </a:r>
            </a:p>
            <a:p>
              <a:r>
                <a:rPr lang="en-US" sz="1600" b="0" dirty="0">
                  <a:solidFill>
                    <a:srgbClr val="A31515"/>
                  </a:solidFill>
                  <a:effectLst/>
                  <a:latin typeface="Consolas" panose="020B0609020204030204" pitchFamily="49" charset="0"/>
                </a:rPr>
                <a:t>"Novosibirsk" (55.0333, 82.9167) 1602915</a:t>
              </a:r>
            </a:p>
            <a:p>
              <a:r>
                <a:rPr lang="en-US" sz="1600" b="0" dirty="0">
                  <a:solidFill>
                    <a:srgbClr val="A31515"/>
                  </a:solidFill>
                  <a:effectLst/>
                  <a:latin typeface="Consolas" panose="020B0609020204030204" pitchFamily="49" charset="0"/>
                </a:rPr>
                <a:t>"Yekaterinburg" (56.8356, 60.6128) 1468833</a:t>
              </a:r>
            </a:p>
            <a:p>
              <a:r>
                <a:rPr lang="en-US" sz="1600" dirty="0">
                  <a:solidFill>
                    <a:srgbClr val="A31515"/>
                  </a:solidFill>
                  <a:latin typeface="Consolas" panose="020B0609020204030204" pitchFamily="49" charset="0"/>
                </a:rPr>
                <a:t>...</a:t>
              </a:r>
            </a:p>
            <a:p>
              <a:endPara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FBBD0DB-A695-4DC6-AE73-D9FF95903CE4}"/>
                </a:ext>
              </a:extLst>
            </p:cNvPr>
            <p:cNvSpPr txBox="1"/>
            <p:nvPr/>
          </p:nvSpPr>
          <p:spPr>
            <a:xfrm>
              <a:off x="7493233" y="3241615"/>
              <a:ext cx="3400658" cy="36933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Ru.txt</a:t>
              </a:r>
              <a:endParaRPr lang="ru-RU" dirty="0">
                <a:latin typeface="Consolas" panose="020B0609020204030204" pitchFamily="49" charset="0"/>
              </a:endParaRPr>
            </a:p>
          </p:txBody>
        </p:sp>
      </p:grpSp>
      <p:sp>
        <p:nvSpPr>
          <p:cNvPr id="9" name="Объект 1">
            <a:extLst>
              <a:ext uri="{FF2B5EF4-FFF2-40B4-BE49-F238E27FC236}">
                <a16:creationId xmlns:a16="http://schemas.microsoft.com/office/drawing/2014/main" id="{281C86CB-7802-4E55-8C69-4705A6E9BA17}"/>
              </a:ext>
            </a:extLst>
          </p:cNvPr>
          <p:cNvSpPr txBox="1">
            <a:spLocks/>
          </p:cNvSpPr>
          <p:nvPr/>
        </p:nvSpPr>
        <p:spPr>
          <a:xfrm>
            <a:off x="1660628" y="4700147"/>
            <a:ext cx="7306092" cy="1017038"/>
          </a:xfrm>
          <a:custGeom>
            <a:avLst/>
            <a:gdLst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4738714 w 5760945"/>
              <a:gd name="connsiteY1" fmla="*/ 9752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697551 w 5760945"/>
              <a:gd name="connsiteY1" fmla="*/ 18378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60945" h="3842676">
                <a:moveTo>
                  <a:pt x="0" y="0"/>
                </a:moveTo>
                <a:lnTo>
                  <a:pt x="5697551" y="18378"/>
                </a:lnTo>
                <a:cubicBezTo>
                  <a:pt x="5408302" y="1420568"/>
                  <a:pt x="5760945" y="2561784"/>
                  <a:pt x="5760945" y="3842676"/>
                </a:cubicBezTo>
                <a:lnTo>
                  <a:pt x="0" y="3842676"/>
                </a:lnTo>
                <a:lnTo>
                  <a:pt x="0" y="0"/>
                </a:lnTo>
                <a:close/>
              </a:path>
            </a:pathLst>
          </a:cu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>
            <a:noAutofit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1800" kern="1200" spc="1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 City record: [City name, latitude, longitude, population]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Record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= 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tuple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RecordVec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= 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Record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&gt;;</a:t>
            </a:r>
          </a:p>
        </p:txBody>
      </p:sp>
    </p:spTree>
    <p:extLst>
      <p:ext uri="{BB962C8B-B14F-4D97-AF65-F5344CB8AC3E}">
        <p14:creationId xmlns:p14="http://schemas.microsoft.com/office/powerpoint/2010/main" val="20370339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E6A5E-ABF9-4610-9731-91DAEADFFF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Считываем данные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9AE96F-ADC8-43AD-957D-D89156FB2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fld id="{E58EDE0D-0787-4A03-969A-A1D77559C4A6}" type="slidenum">
              <a:rPr lang="ru-RU" smtClean="0"/>
              <a:t>22</a:t>
            </a:fld>
            <a:endParaRPr lang="ru-RU"/>
          </a:p>
        </p:txBody>
      </p:sp>
      <p:sp>
        <p:nvSpPr>
          <p:cNvPr id="6" name="Объект 1">
            <a:extLst>
              <a:ext uri="{FF2B5EF4-FFF2-40B4-BE49-F238E27FC236}">
                <a16:creationId xmlns:a16="http://schemas.microsoft.com/office/drawing/2014/main" id="{9FAFD6C3-A47B-4E58-AAB6-97BD7EDC8D1C}"/>
              </a:ext>
            </a:extLst>
          </p:cNvPr>
          <p:cNvSpPr txBox="1">
            <a:spLocks/>
          </p:cNvSpPr>
          <p:nvPr/>
        </p:nvSpPr>
        <p:spPr>
          <a:xfrm>
            <a:off x="700091" y="1966850"/>
            <a:ext cx="5076958" cy="4496592"/>
          </a:xfrm>
          <a:custGeom>
            <a:avLst/>
            <a:gdLst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4738714 w 5760945"/>
              <a:gd name="connsiteY1" fmla="*/ 9752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697551 w 5760945"/>
              <a:gd name="connsiteY1" fmla="*/ 18378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60945" h="3842676">
                <a:moveTo>
                  <a:pt x="0" y="0"/>
                </a:moveTo>
                <a:lnTo>
                  <a:pt x="5697551" y="18378"/>
                </a:lnTo>
                <a:cubicBezTo>
                  <a:pt x="5408302" y="1420568"/>
                  <a:pt x="5760945" y="2561784"/>
                  <a:pt x="5760945" y="3842676"/>
                </a:cubicBezTo>
                <a:lnTo>
                  <a:pt x="0" y="3842676"/>
                </a:lnTo>
                <a:lnTo>
                  <a:pt x="0" y="0"/>
                </a:lnTo>
                <a:close/>
              </a:path>
            </a:pathLst>
          </a:cu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>
            <a:noAutofit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1800" kern="1200" spc="1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Record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parse_record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 {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lat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population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istringstream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ignore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(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peek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 != 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'“'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ignore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lat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ignore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ignore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population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{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lat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population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Объект 1">
            <a:extLst>
              <a:ext uri="{FF2B5EF4-FFF2-40B4-BE49-F238E27FC236}">
                <a16:creationId xmlns:a16="http://schemas.microsoft.com/office/drawing/2014/main" id="{0B514B4D-E802-439F-8756-3CACDAAEEC02}"/>
              </a:ext>
            </a:extLst>
          </p:cNvPr>
          <p:cNvSpPr txBox="1">
            <a:spLocks/>
          </p:cNvSpPr>
          <p:nvPr/>
        </p:nvSpPr>
        <p:spPr>
          <a:xfrm>
            <a:off x="6014872" y="1972470"/>
            <a:ext cx="5076959" cy="4496592"/>
          </a:xfrm>
          <a:custGeom>
            <a:avLst/>
            <a:gdLst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4738714 w 5760945"/>
              <a:gd name="connsiteY1" fmla="*/ 9752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697551 w 5760945"/>
              <a:gd name="connsiteY1" fmla="*/ 18378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60945" h="3842676">
                <a:moveTo>
                  <a:pt x="0" y="0"/>
                </a:moveTo>
                <a:lnTo>
                  <a:pt x="5697551" y="18378"/>
                </a:lnTo>
                <a:cubicBezTo>
                  <a:pt x="5408302" y="1420568"/>
                  <a:pt x="5760945" y="2561784"/>
                  <a:pt x="5760945" y="3842676"/>
                </a:cubicBezTo>
                <a:lnTo>
                  <a:pt x="0" y="3842676"/>
                </a:lnTo>
                <a:lnTo>
                  <a:pt x="0" y="0"/>
                </a:lnTo>
                <a:close/>
              </a:path>
            </a:pathLst>
          </a:cu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>
            <a:noAutofit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1800" kern="1200" spc="1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RecordVec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read_records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min_pop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 {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ifstream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ifile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ios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(!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ifile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good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 {}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RecordVec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records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(</a:t>
            </a:r>
            <a:r>
              <a:rPr lang="en-US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getline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ifile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 {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    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record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= </a:t>
            </a:r>
            <a:r>
              <a:rPr lang="en-US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parse_record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    </a:t>
            </a:r>
            <a:r>
              <a:rPr lang="en-US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(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record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 &gt; 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min_pop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records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record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}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records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47920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819807-28B1-47B7-928E-6BD6336FF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Перегрузка операторов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D8B6B5-B7CE-4C51-883C-25A5ED3C11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1"/>
            <a:ext cx="8595360" cy="793102"/>
          </a:xfrm>
        </p:spPr>
        <p:txBody>
          <a:bodyPr>
            <a:normAutofit fontScale="70000" lnSpcReduction="20000"/>
          </a:bodyPr>
          <a:lstStyle/>
          <a:p>
            <a:r>
              <a:rPr lang="ru-RU" dirty="0"/>
              <a:t>Было бы удобно сравнивать записи оператором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</a:rPr>
              <a:t>!=</a:t>
            </a:r>
            <a:r>
              <a:rPr lang="ru-RU" dirty="0"/>
              <a:t> и выводить в их поток с помощью оператора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</a:rPr>
              <a:t>&lt;&lt;</a:t>
            </a:r>
            <a:r>
              <a:rPr lang="en-US" dirty="0"/>
              <a:t>. </a:t>
            </a:r>
            <a:r>
              <a:rPr lang="ru-RU" dirty="0"/>
              <a:t>Это возможно, но для этого необходимо </a:t>
            </a:r>
            <a:r>
              <a:rPr lang="ru-RU" i="1" dirty="0"/>
              <a:t>перегрузить операторы</a:t>
            </a:r>
            <a:r>
              <a:rPr lang="ru-RU" dirty="0"/>
              <a:t>: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6CC0C1-F9A5-45A8-930B-AEFCCAAE5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fld id="{E58EDE0D-0787-4A03-969A-A1D77559C4A6}" type="slidenum">
              <a:rPr lang="ru-RU" smtClean="0"/>
              <a:t>23</a:t>
            </a:fld>
            <a:endParaRPr lang="ru-RU"/>
          </a:p>
        </p:txBody>
      </p:sp>
      <p:sp>
        <p:nvSpPr>
          <p:cNvPr id="6" name="Объект 1">
            <a:extLst>
              <a:ext uri="{FF2B5EF4-FFF2-40B4-BE49-F238E27FC236}">
                <a16:creationId xmlns:a16="http://schemas.microsoft.com/office/drawing/2014/main" id="{B9805A49-C8CF-40AA-A136-D112525DE231}"/>
              </a:ext>
            </a:extLst>
          </p:cNvPr>
          <p:cNvSpPr txBox="1">
            <a:spLocks/>
          </p:cNvSpPr>
          <p:nvPr/>
        </p:nvSpPr>
        <p:spPr>
          <a:xfrm>
            <a:off x="1084591" y="2911151"/>
            <a:ext cx="9123101" cy="2948473"/>
          </a:xfrm>
          <a:custGeom>
            <a:avLst/>
            <a:gdLst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4738714 w 5760945"/>
              <a:gd name="connsiteY1" fmla="*/ 9752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697551 w 5760945"/>
              <a:gd name="connsiteY1" fmla="*/ 18378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60945" h="3842676">
                <a:moveTo>
                  <a:pt x="0" y="0"/>
                </a:moveTo>
                <a:lnTo>
                  <a:pt x="5697551" y="18378"/>
                </a:lnTo>
                <a:cubicBezTo>
                  <a:pt x="5408302" y="1420568"/>
                  <a:pt x="5760945" y="2561784"/>
                  <a:pt x="5760945" y="3842676"/>
                </a:cubicBezTo>
                <a:lnTo>
                  <a:pt x="0" y="3842676"/>
                </a:lnTo>
                <a:lnTo>
                  <a:pt x="0" y="0"/>
                </a:lnTo>
                <a:close/>
              </a:path>
            </a:pathLst>
          </a:cu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>
            <a:noAutofit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1800" kern="1200" spc="1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operator!=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Record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lhs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Record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rhs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 {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 [city1, lat1, lon1, pop1] = 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lhs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 [city2, lat2, lon2, pop2] = 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rhs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city1 != city2 || lat1 != lat2 || 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1 != lon2 || pop1 != pop2;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ostream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operator&lt;&lt;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ostream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Record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record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 {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 [city, 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lat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 pop] =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record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&lt;&lt; city &lt;&lt; 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 ("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&lt;&lt; 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lat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&lt;&lt; 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", 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&lt;&lt; 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&lt;&lt; 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") 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&lt;&lt; pop;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6992673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40B44D-78FB-4EE0-B380-042EE130A1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Основная логика программы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60E353-833F-478C-BC07-2C317904C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fld id="{E58EDE0D-0787-4A03-969A-A1D77559C4A6}" type="slidenum">
              <a:rPr lang="ru-RU" smtClean="0"/>
              <a:t>24</a:t>
            </a:fld>
            <a:endParaRPr lang="ru-RU"/>
          </a:p>
        </p:txBody>
      </p:sp>
      <p:sp>
        <p:nvSpPr>
          <p:cNvPr id="6" name="Объект 1">
            <a:extLst>
              <a:ext uri="{FF2B5EF4-FFF2-40B4-BE49-F238E27FC236}">
                <a16:creationId xmlns:a16="http://schemas.microsoft.com/office/drawing/2014/main" id="{8A4EB448-55FC-4A2B-8143-F969C64805BB}"/>
              </a:ext>
            </a:extLst>
          </p:cNvPr>
          <p:cNvSpPr txBox="1">
            <a:spLocks/>
          </p:cNvSpPr>
          <p:nvPr/>
        </p:nvSpPr>
        <p:spPr>
          <a:xfrm>
            <a:off x="1719074" y="1828801"/>
            <a:ext cx="7564887" cy="4190999"/>
          </a:xfrm>
          <a:custGeom>
            <a:avLst/>
            <a:gdLst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4738714 w 5760945"/>
              <a:gd name="connsiteY1" fmla="*/ 9752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697551 w 5760945"/>
              <a:gd name="connsiteY1" fmla="*/ 18378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60945" h="3842676">
                <a:moveTo>
                  <a:pt x="0" y="0"/>
                </a:moveTo>
                <a:lnTo>
                  <a:pt x="5697551" y="18378"/>
                </a:lnTo>
                <a:cubicBezTo>
                  <a:pt x="5408302" y="1420568"/>
                  <a:pt x="5760945" y="2561784"/>
                  <a:pt x="5760945" y="3842676"/>
                </a:cubicBezTo>
                <a:lnTo>
                  <a:pt x="0" y="3842676"/>
                </a:lnTo>
                <a:lnTo>
                  <a:pt x="0" y="0"/>
                </a:lnTo>
                <a:close/>
              </a:path>
            </a:pathLst>
          </a:cu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>
            <a:noAutofit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1800" kern="1200" spc="1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pair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Record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Record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 </a:t>
            </a:r>
            <a:r>
              <a:rPr lang="en-US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find_closest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RecordVec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cities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 {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min_dist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= 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1.e9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Record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 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: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cities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 {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    </a:t>
            </a:r>
            <a:r>
              <a:rPr lang="en-US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 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rj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: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cities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 </a:t>
            </a:r>
            <a:r>
              <a:rPr lang="en-US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(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!=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rj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 {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        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cur_dist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= </a:t>
            </a:r>
            <a:r>
              <a:rPr lang="en-US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dist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rj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        </a:t>
            </a:r>
            <a:r>
              <a:rPr lang="en-US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(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cur_dist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&lt; 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min_dist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 {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           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           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rj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            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min_dist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= 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cur_dist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        }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    }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}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{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DF33C49-049F-4EDE-B4FC-58357FC2DA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19074" y="6172200"/>
            <a:ext cx="7564887" cy="382555"/>
          </a:xfrm>
        </p:spPr>
        <p:txBody>
          <a:bodyPr>
            <a:normAutofit fontScale="85000" lnSpcReduction="20000"/>
          </a:bodyPr>
          <a:lstStyle/>
          <a:p>
            <a:pPr marL="0" indent="0" algn="ctr">
              <a:buNone/>
            </a:pPr>
            <a:r>
              <a:rPr lang="ru-RU" i="1" dirty="0"/>
              <a:t>Можно ли оптимизировать эту процедуру?</a:t>
            </a:r>
          </a:p>
        </p:txBody>
      </p:sp>
    </p:spTree>
    <p:extLst>
      <p:ext uri="{BB962C8B-B14F-4D97-AF65-F5344CB8AC3E}">
        <p14:creationId xmlns:p14="http://schemas.microsoft.com/office/powerpoint/2010/main" val="41790675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7596F-46A7-46E3-9610-B44288FFB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onsolas" panose="020B0609020204030204" pitchFamily="49" charset="0"/>
              </a:rPr>
              <a:t>main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0040DE-0A2E-4CBC-83D2-CA9BE8792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fld id="{E58EDE0D-0787-4A03-969A-A1D77559C4A6}" type="slidenum">
              <a:rPr lang="ru-RU" smtClean="0"/>
              <a:t>25</a:t>
            </a:fld>
            <a:endParaRPr lang="ru-RU"/>
          </a:p>
        </p:txBody>
      </p:sp>
      <p:sp>
        <p:nvSpPr>
          <p:cNvPr id="6" name="Объект 1">
            <a:extLst>
              <a:ext uri="{FF2B5EF4-FFF2-40B4-BE49-F238E27FC236}">
                <a16:creationId xmlns:a16="http://schemas.microsoft.com/office/drawing/2014/main" id="{5D7D2CFA-E75E-419B-8C4F-36F142F2E1F1}"/>
              </a:ext>
            </a:extLst>
          </p:cNvPr>
          <p:cNvSpPr txBox="1">
            <a:spLocks/>
          </p:cNvSpPr>
          <p:nvPr/>
        </p:nvSpPr>
        <p:spPr>
          <a:xfrm>
            <a:off x="1261872" y="2051016"/>
            <a:ext cx="7095528" cy="4418046"/>
          </a:xfrm>
          <a:custGeom>
            <a:avLst/>
            <a:gdLst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760945 w 5760945"/>
              <a:gd name="connsiteY1" fmla="*/ 0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4738714 w 5760945"/>
              <a:gd name="connsiteY1" fmla="*/ 9752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  <a:gd name="connsiteX0" fmla="*/ 0 w 5760945"/>
              <a:gd name="connsiteY0" fmla="*/ 0 h 3842676"/>
              <a:gd name="connsiteX1" fmla="*/ 5697551 w 5760945"/>
              <a:gd name="connsiteY1" fmla="*/ 18378 h 3842676"/>
              <a:gd name="connsiteX2" fmla="*/ 5760945 w 5760945"/>
              <a:gd name="connsiteY2" fmla="*/ 3842676 h 3842676"/>
              <a:gd name="connsiteX3" fmla="*/ 0 w 5760945"/>
              <a:gd name="connsiteY3" fmla="*/ 3842676 h 3842676"/>
              <a:gd name="connsiteX4" fmla="*/ 0 w 5760945"/>
              <a:gd name="connsiteY4" fmla="*/ 0 h 38426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60945" h="3842676">
                <a:moveTo>
                  <a:pt x="0" y="0"/>
                </a:moveTo>
                <a:lnTo>
                  <a:pt x="5697551" y="18378"/>
                </a:lnTo>
                <a:cubicBezTo>
                  <a:pt x="5408302" y="1420568"/>
                  <a:pt x="5760945" y="2561784"/>
                  <a:pt x="5760945" y="3842676"/>
                </a:cubicBezTo>
                <a:lnTo>
                  <a:pt x="0" y="3842676"/>
                </a:lnTo>
                <a:lnTo>
                  <a:pt x="0" y="0"/>
                </a:lnTo>
                <a:close/>
              </a:path>
            </a:pathLst>
          </a:cu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>
            <a:noAutofit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1800" kern="1200" spc="1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char*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argv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[]) {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(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&lt; 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 {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   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"Format: ./a.exe [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ifname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] [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minpop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]"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    </a:t>
            </a:r>
            <a:r>
              <a:rPr lang="en-US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}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ifname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= 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argv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min_pop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stoi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argv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cities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= </a:t>
            </a:r>
            <a:r>
              <a:rPr lang="en-US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read_records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ifname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min_pop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[record1, record2] = </a:t>
            </a:r>
            <a:r>
              <a:rPr lang="en-US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find_closest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cities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"Minimal distance 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&lt;&lt; </a:t>
            </a:r>
            <a:r>
              <a:rPr lang="en-US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dist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(record1, record2)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 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 km is between:</a:t>
            </a:r>
            <a:r>
              <a:rPr lang="en-US" sz="16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     &lt;&lt; 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 - 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&lt;&lt; record1 &lt;&lt; 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 and</a:t>
            </a:r>
            <a:r>
              <a:rPr lang="en-US" sz="16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     &lt;&lt; 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 - 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&lt;&lt; record2 &lt;&lt; 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9044083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9B3BC-DC03-40CB-8BFD-FECB76481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BEFC5-DB20-4C96-A33C-E464DB316D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Ввод и вывод осуществляется через потоки</a:t>
            </a:r>
          </a:p>
          <a:p>
            <a:pPr lvl="1"/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</a:rPr>
              <a:t>cout</a:t>
            </a:r>
            <a:r>
              <a:rPr lang="en-US" dirty="0"/>
              <a:t>,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</a:rPr>
              <a:t>cin</a:t>
            </a:r>
            <a:r>
              <a:rPr lang="en-US" dirty="0"/>
              <a:t>,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</a:rPr>
              <a:t>fstream</a:t>
            </a:r>
            <a:r>
              <a:rPr lang="en-US" dirty="0"/>
              <a:t>, 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</a:rPr>
              <a:t>stringstream</a:t>
            </a:r>
            <a:endParaRPr lang="en-US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ru-RU" dirty="0"/>
              <a:t>Типы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</a:rPr>
              <a:t>pair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</a:rPr>
              <a:t>tuple</a:t>
            </a:r>
            <a:r>
              <a:rPr lang="en-US" dirty="0"/>
              <a:t> </a:t>
            </a:r>
            <a:r>
              <a:rPr lang="ru-RU" dirty="0"/>
              <a:t>позволяют группировать объекты</a:t>
            </a:r>
          </a:p>
          <a:p>
            <a:r>
              <a:rPr lang="ru-RU" dirty="0"/>
              <a:t>Передавать аргументы</a:t>
            </a:r>
            <a:r>
              <a:rPr lang="en-US" dirty="0"/>
              <a:t> </a:t>
            </a:r>
            <a:r>
              <a:rPr lang="ru-RU" dirty="0"/>
              <a:t>в функцию можно</a:t>
            </a:r>
          </a:p>
          <a:p>
            <a:pPr lvl="1"/>
            <a:r>
              <a:rPr lang="ru-RU" dirty="0"/>
              <a:t>По значению (или по константному значению)</a:t>
            </a:r>
          </a:p>
          <a:p>
            <a:pPr lvl="1"/>
            <a:r>
              <a:rPr lang="ru-RU" dirty="0"/>
              <a:t>По ссылке</a:t>
            </a:r>
          </a:p>
          <a:p>
            <a:pPr lvl="1"/>
            <a:r>
              <a:rPr lang="ru-RU" dirty="0"/>
              <a:t>По константной ссылке</a:t>
            </a:r>
          </a:p>
          <a:p>
            <a:r>
              <a:rPr lang="ru-RU" dirty="0"/>
              <a:t>Строки представлены типом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</a:rPr>
              <a:t>string</a:t>
            </a:r>
          </a:p>
          <a:p>
            <a:r>
              <a:rPr lang="ru-RU" dirty="0"/>
              <a:t>Динамические массивы представлены типом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</a:rPr>
              <a:t>vector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486E3B-FC37-4056-9EBC-07B57BE17A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fld id="{E58EDE0D-0787-4A03-969A-A1D77559C4A6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49743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Изображение выглядит как черный, клавиатура, внутренний, стол&#10;&#10;Автоматически созданное описание">
            <a:extLst>
              <a:ext uri="{FF2B5EF4-FFF2-40B4-BE49-F238E27FC236}">
                <a16:creationId xmlns:a16="http://schemas.microsoft.com/office/drawing/2014/main" id="{66DD0841-9842-4AFC-8730-3F496A872EC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35000"/>
          </a:blip>
          <a:srcRect r="1" b="9409"/>
          <a:stretch/>
        </p:blipFill>
        <p:spPr>
          <a:xfrm>
            <a:off x="20" y="-2"/>
            <a:ext cx="11341080" cy="6858000"/>
          </a:xfrm>
          <a:prstGeom prst="rect">
            <a:avLst/>
          </a:prstGeom>
        </p:spPr>
      </p:pic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08AF1BA1-A592-4962-8123-486766E8BD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396317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Backup</a:t>
            </a:r>
            <a:endParaRPr lang="en-US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A6A9390D-32D2-4702-9D74-3070BC8BBD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vert="horz" lIns="91440" tIns="45720" rIns="91440" bIns="45720" rtlCol="0">
            <a:norm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77572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Заголовок 72">
            <a:extLst>
              <a:ext uri="{FF2B5EF4-FFF2-40B4-BE49-F238E27FC236}">
                <a16:creationId xmlns:a16="http://schemas.microsoft.com/office/drawing/2014/main" id="{F20DB293-32EF-4BE9-A9F0-2C4C71D7F1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</p:spPr>
        <p:txBody>
          <a:bodyPr/>
          <a:lstStyle/>
          <a:p>
            <a:r>
              <a:rPr lang="ru-RU" dirty="0"/>
              <a:t>Стандартная библиотека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6D3C804-D034-44A2-BCFB-792AC92BE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fld id="{E58EDE0D-0787-4A03-969A-A1D77559C4A6}" type="slidenum">
              <a:rPr lang="ru-RU" smtClean="0"/>
              <a:t>28</a:t>
            </a:fld>
            <a:endParaRPr lang="ru-RU"/>
          </a:p>
        </p:txBody>
      </p:sp>
      <p:grpSp>
        <p:nvGrpSpPr>
          <p:cNvPr id="72" name="Группа 71">
            <a:extLst>
              <a:ext uri="{FF2B5EF4-FFF2-40B4-BE49-F238E27FC236}">
                <a16:creationId xmlns:a16="http://schemas.microsoft.com/office/drawing/2014/main" id="{7DD6DCDE-81B5-4531-887B-3AB99704E5C1}"/>
              </a:ext>
            </a:extLst>
          </p:cNvPr>
          <p:cNvGrpSpPr/>
          <p:nvPr/>
        </p:nvGrpSpPr>
        <p:grpSpPr>
          <a:xfrm>
            <a:off x="7003899" y="498738"/>
            <a:ext cx="2701210" cy="1628259"/>
            <a:chOff x="8335741" y="154478"/>
            <a:chExt cx="2701210" cy="1628259"/>
          </a:xfrm>
        </p:grpSpPr>
        <p:pic>
          <p:nvPicPr>
            <p:cNvPr id="70" name="Рисунок 69">
              <a:extLst>
                <a:ext uri="{FF2B5EF4-FFF2-40B4-BE49-F238E27FC236}">
                  <a16:creationId xmlns:a16="http://schemas.microsoft.com/office/drawing/2014/main" id="{A86DBDAE-A953-48A8-9FCB-E4EAE3C7F68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89610" y="154478"/>
              <a:ext cx="1447341" cy="1628259"/>
            </a:xfrm>
            <a:prstGeom prst="rect">
              <a:avLst/>
            </a:prstGeom>
          </p:spPr>
        </p:pic>
        <p:sp>
          <p:nvSpPr>
            <p:cNvPr id="71" name="Прямоугольник 70">
              <a:extLst>
                <a:ext uri="{FF2B5EF4-FFF2-40B4-BE49-F238E27FC236}">
                  <a16:creationId xmlns:a16="http://schemas.microsoft.com/office/drawing/2014/main" id="{190A6601-23BF-4050-A057-ADF9AE244056}"/>
                </a:ext>
              </a:extLst>
            </p:cNvPr>
            <p:cNvSpPr/>
            <p:nvPr/>
          </p:nvSpPr>
          <p:spPr>
            <a:xfrm>
              <a:off x="8335741" y="1248145"/>
              <a:ext cx="1253869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dirty="0"/>
                <a:t>isocpp.org</a:t>
              </a:r>
            </a:p>
          </p:txBody>
        </p:sp>
      </p:grpSp>
      <p:sp>
        <p:nvSpPr>
          <p:cNvPr id="97" name="Объект 2">
            <a:extLst>
              <a:ext uri="{FF2B5EF4-FFF2-40B4-BE49-F238E27FC236}">
                <a16:creationId xmlns:a16="http://schemas.microsoft.com/office/drawing/2014/main" id="{93C1AEF2-C4D0-4CB4-B754-B6F4437B4B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2425610"/>
            <a:ext cx="5138502" cy="694737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10000"/>
              </a:lnSpc>
              <a:spcBef>
                <a:spcPts val="600"/>
              </a:spcBef>
            </a:pPr>
            <a:r>
              <a:rPr lang="ru-RU" dirty="0"/>
              <a:t>Стандартная библиотека </a:t>
            </a:r>
            <a:r>
              <a:rPr lang="en-US" i="1" dirty="0"/>
              <a:t>C++</a:t>
            </a:r>
            <a:r>
              <a:rPr lang="en-US" dirty="0"/>
              <a:t> </a:t>
            </a:r>
            <a:r>
              <a:rPr lang="ru-RU" dirty="0"/>
              <a:t>содержит множество полезных инструментов</a:t>
            </a:r>
            <a:endParaRPr lang="en-US" dirty="0"/>
          </a:p>
        </p:txBody>
      </p:sp>
      <p:grpSp>
        <p:nvGrpSpPr>
          <p:cNvPr id="19" name="Группа 18">
            <a:extLst>
              <a:ext uri="{FF2B5EF4-FFF2-40B4-BE49-F238E27FC236}">
                <a16:creationId xmlns:a16="http://schemas.microsoft.com/office/drawing/2014/main" id="{ED9A53BE-12B1-4193-9845-D64145297ACB}"/>
              </a:ext>
            </a:extLst>
          </p:cNvPr>
          <p:cNvGrpSpPr/>
          <p:nvPr/>
        </p:nvGrpSpPr>
        <p:grpSpPr>
          <a:xfrm>
            <a:off x="1230131" y="2353296"/>
            <a:ext cx="9339118" cy="4359967"/>
            <a:chOff x="1230131" y="2353296"/>
            <a:chExt cx="9339118" cy="4359967"/>
          </a:xfrm>
        </p:grpSpPr>
        <p:grpSp>
          <p:nvGrpSpPr>
            <p:cNvPr id="68" name="Группа 67">
              <a:extLst>
                <a:ext uri="{FF2B5EF4-FFF2-40B4-BE49-F238E27FC236}">
                  <a16:creationId xmlns:a16="http://schemas.microsoft.com/office/drawing/2014/main" id="{767760AF-973D-4ED9-A7FE-D48124AC608B}"/>
                </a:ext>
              </a:extLst>
            </p:cNvPr>
            <p:cNvGrpSpPr/>
            <p:nvPr/>
          </p:nvGrpSpPr>
          <p:grpSpPr>
            <a:xfrm>
              <a:off x="4698408" y="3180456"/>
              <a:ext cx="3383693" cy="1893813"/>
              <a:chOff x="6802236" y="370364"/>
              <a:chExt cx="4055153" cy="2355079"/>
            </a:xfrm>
          </p:grpSpPr>
          <p:sp>
            <p:nvSpPr>
              <p:cNvPr id="6" name="Прямоугольник 5">
                <a:extLst>
                  <a:ext uri="{FF2B5EF4-FFF2-40B4-BE49-F238E27FC236}">
                    <a16:creationId xmlns:a16="http://schemas.microsoft.com/office/drawing/2014/main" id="{9B0F3A06-75DF-44B6-B527-840151EB7C69}"/>
                  </a:ext>
                </a:extLst>
              </p:cNvPr>
              <p:cNvSpPr/>
              <p:nvPr/>
            </p:nvSpPr>
            <p:spPr>
              <a:xfrm>
                <a:off x="6802236" y="370364"/>
                <a:ext cx="4055153" cy="2355079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ru-RU" sz="140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A806C51-B487-4F9A-AC5D-EC862CDF2816}"/>
                  </a:ext>
                </a:extLst>
              </p:cNvPr>
              <p:cNvSpPr txBox="1"/>
              <p:nvPr/>
            </p:nvSpPr>
            <p:spPr>
              <a:xfrm>
                <a:off x="6802236" y="370365"/>
                <a:ext cx="4055153" cy="325464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ru-RU" sz="1400" dirty="0"/>
                  <a:t>Контейнеры </a:t>
                </a:r>
                <a:r>
                  <a:rPr lang="en-US" sz="1400" dirty="0"/>
                  <a:t>STL</a:t>
                </a:r>
                <a:endParaRPr lang="ru-RU" sz="1400" dirty="0"/>
              </a:p>
            </p:txBody>
          </p:sp>
          <p:sp>
            <p:nvSpPr>
              <p:cNvPr id="8" name="Прямоугольник: скругленные углы 7">
                <a:extLst>
                  <a:ext uri="{FF2B5EF4-FFF2-40B4-BE49-F238E27FC236}">
                    <a16:creationId xmlns:a16="http://schemas.microsoft.com/office/drawing/2014/main" id="{D3CCC350-FD4D-4AEB-B319-E87A302941F2}"/>
                  </a:ext>
                </a:extLst>
              </p:cNvPr>
              <p:cNvSpPr/>
              <p:nvPr/>
            </p:nvSpPr>
            <p:spPr>
              <a:xfrm>
                <a:off x="6889071" y="834501"/>
                <a:ext cx="825624" cy="337352"/>
              </a:xfrm>
              <a:prstGeom prst="roundRect">
                <a:avLst>
                  <a:gd name="adj" fmla="val 50000"/>
                </a:avLst>
              </a:prstGeom>
              <a:solidFill>
                <a:schemeClr val="accent6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set</a:t>
                </a:r>
                <a:endParaRPr lang="ru-RU" sz="1400" dirty="0"/>
              </a:p>
            </p:txBody>
          </p:sp>
          <p:sp>
            <p:nvSpPr>
              <p:cNvPr id="9" name="Прямоугольник: скругленные углы 8">
                <a:extLst>
                  <a:ext uri="{FF2B5EF4-FFF2-40B4-BE49-F238E27FC236}">
                    <a16:creationId xmlns:a16="http://schemas.microsoft.com/office/drawing/2014/main" id="{6A913407-D22D-4A81-8A1E-CEEE442E33CB}"/>
                  </a:ext>
                </a:extLst>
              </p:cNvPr>
              <p:cNvSpPr/>
              <p:nvPr/>
            </p:nvSpPr>
            <p:spPr>
              <a:xfrm>
                <a:off x="7810730" y="834501"/>
                <a:ext cx="825624" cy="337352"/>
              </a:xfrm>
              <a:prstGeom prst="roundRect">
                <a:avLst>
                  <a:gd name="adj" fmla="val 50000"/>
                </a:avLst>
              </a:prstGeom>
              <a:solidFill>
                <a:schemeClr val="accent6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list</a:t>
                </a:r>
                <a:endParaRPr lang="ru-RU" sz="1400" dirty="0"/>
              </a:p>
            </p:txBody>
          </p:sp>
          <p:sp>
            <p:nvSpPr>
              <p:cNvPr id="10" name="Прямоугольник: скругленные углы 9">
                <a:extLst>
                  <a:ext uri="{FF2B5EF4-FFF2-40B4-BE49-F238E27FC236}">
                    <a16:creationId xmlns:a16="http://schemas.microsoft.com/office/drawing/2014/main" id="{03786580-E156-4431-8BBD-5C9287AB5E66}"/>
                  </a:ext>
                </a:extLst>
              </p:cNvPr>
              <p:cNvSpPr/>
              <p:nvPr/>
            </p:nvSpPr>
            <p:spPr>
              <a:xfrm>
                <a:off x="8732389" y="834502"/>
                <a:ext cx="901962" cy="337352"/>
              </a:xfrm>
              <a:prstGeom prst="roundRect">
                <a:avLst>
                  <a:gd name="adj" fmla="val 50000"/>
                </a:avLst>
              </a:prstGeom>
              <a:solidFill>
                <a:schemeClr val="accent6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array</a:t>
                </a:r>
                <a:endParaRPr lang="ru-RU" sz="1400" dirty="0"/>
              </a:p>
            </p:txBody>
          </p:sp>
          <p:sp>
            <p:nvSpPr>
              <p:cNvPr id="11" name="Прямоугольник: скругленные углы 10">
                <a:extLst>
                  <a:ext uri="{FF2B5EF4-FFF2-40B4-BE49-F238E27FC236}">
                    <a16:creationId xmlns:a16="http://schemas.microsoft.com/office/drawing/2014/main" id="{7B0CEBA9-8578-4E9B-BF41-58DB6379B352}"/>
                  </a:ext>
                </a:extLst>
              </p:cNvPr>
              <p:cNvSpPr/>
              <p:nvPr/>
            </p:nvSpPr>
            <p:spPr>
              <a:xfrm>
                <a:off x="6889071" y="1326750"/>
                <a:ext cx="990739" cy="337352"/>
              </a:xfrm>
              <a:prstGeom prst="roundRect">
                <a:avLst>
                  <a:gd name="adj" fmla="val 50000"/>
                </a:avLst>
              </a:prstGeom>
              <a:solidFill>
                <a:schemeClr val="accent6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bitset</a:t>
                </a:r>
                <a:endParaRPr lang="ru-RU" sz="1400" dirty="0"/>
              </a:p>
            </p:txBody>
          </p:sp>
          <p:sp>
            <p:nvSpPr>
              <p:cNvPr id="12" name="Прямоугольник: скругленные углы 11">
                <a:extLst>
                  <a:ext uri="{FF2B5EF4-FFF2-40B4-BE49-F238E27FC236}">
                    <a16:creationId xmlns:a16="http://schemas.microsoft.com/office/drawing/2014/main" id="{C878636B-BC07-4BA0-9439-346B417565AA}"/>
                  </a:ext>
                </a:extLst>
              </p:cNvPr>
              <p:cNvSpPr/>
              <p:nvPr/>
            </p:nvSpPr>
            <p:spPr>
              <a:xfrm>
                <a:off x="7966644" y="1347926"/>
                <a:ext cx="1019058" cy="337352"/>
              </a:xfrm>
              <a:prstGeom prst="roundRect">
                <a:avLst>
                  <a:gd name="adj" fmla="val 50000"/>
                </a:avLst>
              </a:prstGeom>
              <a:solidFill>
                <a:schemeClr val="accent6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vector</a:t>
                </a:r>
                <a:endParaRPr lang="ru-RU" sz="1400" dirty="0"/>
              </a:p>
            </p:txBody>
          </p:sp>
          <p:sp>
            <p:nvSpPr>
              <p:cNvPr id="13" name="Прямоугольник: скругленные углы 12">
                <a:extLst>
                  <a:ext uri="{FF2B5EF4-FFF2-40B4-BE49-F238E27FC236}">
                    <a16:creationId xmlns:a16="http://schemas.microsoft.com/office/drawing/2014/main" id="{8162F980-1848-477C-936F-0BDF3F2C03CF}"/>
                  </a:ext>
                </a:extLst>
              </p:cNvPr>
              <p:cNvSpPr/>
              <p:nvPr/>
            </p:nvSpPr>
            <p:spPr>
              <a:xfrm>
                <a:off x="9727608" y="834501"/>
                <a:ext cx="800714" cy="337352"/>
              </a:xfrm>
              <a:prstGeom prst="roundRect">
                <a:avLst>
                  <a:gd name="adj" fmla="val 50000"/>
                </a:avLst>
              </a:prstGeom>
              <a:solidFill>
                <a:schemeClr val="accent6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map</a:t>
                </a:r>
                <a:endParaRPr lang="ru-RU" sz="1400" dirty="0"/>
              </a:p>
            </p:txBody>
          </p:sp>
          <p:sp>
            <p:nvSpPr>
              <p:cNvPr id="14" name="Прямоугольник: скругленные углы 13">
                <a:extLst>
                  <a:ext uri="{FF2B5EF4-FFF2-40B4-BE49-F238E27FC236}">
                    <a16:creationId xmlns:a16="http://schemas.microsoft.com/office/drawing/2014/main" id="{8E8C1FB4-826E-4DDE-AE66-9D225819538A}"/>
                  </a:ext>
                </a:extLst>
              </p:cNvPr>
              <p:cNvSpPr/>
              <p:nvPr/>
            </p:nvSpPr>
            <p:spPr>
              <a:xfrm>
                <a:off x="9072536" y="1321183"/>
                <a:ext cx="901962" cy="337352"/>
              </a:xfrm>
              <a:prstGeom prst="roundRect">
                <a:avLst>
                  <a:gd name="adj" fmla="val 50000"/>
                </a:avLst>
              </a:prstGeom>
              <a:solidFill>
                <a:schemeClr val="accent6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stack</a:t>
                </a:r>
                <a:endParaRPr lang="ru-RU" sz="1400" dirty="0"/>
              </a:p>
            </p:txBody>
          </p:sp>
          <p:sp>
            <p:nvSpPr>
              <p:cNvPr id="15" name="Прямоугольник: скругленные углы 14">
                <a:extLst>
                  <a:ext uri="{FF2B5EF4-FFF2-40B4-BE49-F238E27FC236}">
                    <a16:creationId xmlns:a16="http://schemas.microsoft.com/office/drawing/2014/main" id="{E82AC80A-31EE-45FD-8738-262205E6AED4}"/>
                  </a:ext>
                </a:extLst>
              </p:cNvPr>
              <p:cNvSpPr/>
              <p:nvPr/>
            </p:nvSpPr>
            <p:spPr>
              <a:xfrm>
                <a:off x="6889071" y="1820384"/>
                <a:ext cx="1019058" cy="337352"/>
              </a:xfrm>
              <a:prstGeom prst="roundRect">
                <a:avLst>
                  <a:gd name="adj" fmla="val 50000"/>
                </a:avLst>
              </a:prstGeom>
              <a:solidFill>
                <a:schemeClr val="accent6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queue</a:t>
                </a:r>
                <a:endParaRPr lang="ru-RU" sz="1400" dirty="0"/>
              </a:p>
            </p:txBody>
          </p:sp>
          <p:sp>
            <p:nvSpPr>
              <p:cNvPr id="16" name="Прямоугольник: скругленные углы 15">
                <a:extLst>
                  <a:ext uri="{FF2B5EF4-FFF2-40B4-BE49-F238E27FC236}">
                    <a16:creationId xmlns:a16="http://schemas.microsoft.com/office/drawing/2014/main" id="{92803CDC-29F6-4CFB-8E41-52265869C529}"/>
                  </a:ext>
                </a:extLst>
              </p:cNvPr>
              <p:cNvSpPr/>
              <p:nvPr/>
            </p:nvSpPr>
            <p:spPr>
              <a:xfrm>
                <a:off x="6889071" y="2272331"/>
                <a:ext cx="1800444" cy="337352"/>
              </a:xfrm>
              <a:prstGeom prst="roundRect">
                <a:avLst>
                  <a:gd name="adj" fmla="val 50000"/>
                </a:avLst>
              </a:prstGeom>
              <a:solidFill>
                <a:schemeClr val="accent6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unordered_set</a:t>
                </a:r>
                <a:endParaRPr lang="ru-RU" sz="1400" dirty="0"/>
              </a:p>
            </p:txBody>
          </p:sp>
          <p:sp>
            <p:nvSpPr>
              <p:cNvPr id="17" name="Прямоугольник: скругленные углы 16">
                <a:extLst>
                  <a:ext uri="{FF2B5EF4-FFF2-40B4-BE49-F238E27FC236}">
                    <a16:creationId xmlns:a16="http://schemas.microsoft.com/office/drawing/2014/main" id="{E658C8F9-D280-48B5-BDF5-780734C3422A}"/>
                  </a:ext>
                </a:extLst>
              </p:cNvPr>
              <p:cNvSpPr/>
              <p:nvPr/>
            </p:nvSpPr>
            <p:spPr>
              <a:xfrm>
                <a:off x="8810023" y="2266764"/>
                <a:ext cx="1981444" cy="337352"/>
              </a:xfrm>
              <a:prstGeom prst="roundRect">
                <a:avLst>
                  <a:gd name="adj" fmla="val 50000"/>
                </a:avLst>
              </a:prstGeom>
              <a:solidFill>
                <a:schemeClr val="accent6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unordered_map</a:t>
                </a:r>
                <a:endParaRPr lang="ru-RU" sz="1400" dirty="0"/>
              </a:p>
            </p:txBody>
          </p:sp>
          <p:sp>
            <p:nvSpPr>
              <p:cNvPr id="18" name="Прямоугольник: скругленные углы 17">
                <a:extLst>
                  <a:ext uri="{FF2B5EF4-FFF2-40B4-BE49-F238E27FC236}">
                    <a16:creationId xmlns:a16="http://schemas.microsoft.com/office/drawing/2014/main" id="{A1ECB7D3-67F0-4CD2-BF64-008A06DF51BA}"/>
                  </a:ext>
                </a:extLst>
              </p:cNvPr>
              <p:cNvSpPr/>
              <p:nvPr/>
            </p:nvSpPr>
            <p:spPr>
              <a:xfrm>
                <a:off x="7994963" y="1820384"/>
                <a:ext cx="1656333" cy="337352"/>
              </a:xfrm>
              <a:prstGeom prst="roundRect">
                <a:avLst>
                  <a:gd name="adj" fmla="val 50000"/>
                </a:avLst>
              </a:prstGeom>
              <a:solidFill>
                <a:schemeClr val="accent6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forward_list</a:t>
                </a:r>
                <a:endParaRPr lang="ru-RU" sz="1400" dirty="0"/>
              </a:p>
            </p:txBody>
          </p:sp>
        </p:grpSp>
        <p:grpSp>
          <p:nvGrpSpPr>
            <p:cNvPr id="36" name="Группа 35">
              <a:extLst>
                <a:ext uri="{FF2B5EF4-FFF2-40B4-BE49-F238E27FC236}">
                  <a16:creationId xmlns:a16="http://schemas.microsoft.com/office/drawing/2014/main" id="{526F8CC0-6232-4F09-B5A3-D54871EB9D33}"/>
                </a:ext>
              </a:extLst>
            </p:cNvPr>
            <p:cNvGrpSpPr/>
            <p:nvPr/>
          </p:nvGrpSpPr>
          <p:grpSpPr>
            <a:xfrm>
              <a:off x="4698408" y="5191337"/>
              <a:ext cx="3383693" cy="1079150"/>
              <a:chOff x="6798767" y="3543081"/>
              <a:chExt cx="3579230" cy="1455047"/>
            </a:xfrm>
          </p:grpSpPr>
          <p:sp>
            <p:nvSpPr>
              <p:cNvPr id="21" name="Прямоугольник 20">
                <a:extLst>
                  <a:ext uri="{FF2B5EF4-FFF2-40B4-BE49-F238E27FC236}">
                    <a16:creationId xmlns:a16="http://schemas.microsoft.com/office/drawing/2014/main" id="{3D473D7D-6783-456E-BD0F-2EC3792ED46E}"/>
                  </a:ext>
                </a:extLst>
              </p:cNvPr>
              <p:cNvSpPr/>
              <p:nvPr/>
            </p:nvSpPr>
            <p:spPr>
              <a:xfrm>
                <a:off x="6798767" y="3543081"/>
                <a:ext cx="3579230" cy="1455047"/>
              </a:xfrm>
              <a:prstGeom prst="rect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ru-RU" sz="1400" dirty="0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759A28A-9EF4-4DE8-B086-D128B1A6115F}"/>
                  </a:ext>
                </a:extLst>
              </p:cNvPr>
              <p:cNvSpPr txBox="1"/>
              <p:nvPr/>
            </p:nvSpPr>
            <p:spPr>
              <a:xfrm>
                <a:off x="6798767" y="3545946"/>
                <a:ext cx="3579230" cy="352882"/>
              </a:xfrm>
              <a:prstGeom prst="rect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ru-RU" sz="1400" dirty="0"/>
                  <a:t>Многопоточность</a:t>
                </a:r>
              </a:p>
            </p:txBody>
          </p:sp>
          <p:sp>
            <p:nvSpPr>
              <p:cNvPr id="23" name="Прямоугольник: скругленные углы 22">
                <a:extLst>
                  <a:ext uri="{FF2B5EF4-FFF2-40B4-BE49-F238E27FC236}">
                    <a16:creationId xmlns:a16="http://schemas.microsoft.com/office/drawing/2014/main" id="{37FCF60D-1EE8-4650-9BB3-3DC42C7BB51F}"/>
                  </a:ext>
                </a:extLst>
              </p:cNvPr>
              <p:cNvSpPr/>
              <p:nvPr/>
            </p:nvSpPr>
            <p:spPr>
              <a:xfrm>
                <a:off x="7094129" y="4018960"/>
                <a:ext cx="859165" cy="312894"/>
              </a:xfrm>
              <a:prstGeom prst="roundRect">
                <a:avLst>
                  <a:gd name="adj" fmla="val 50000"/>
                </a:avLst>
              </a:prstGeom>
              <a:solidFill>
                <a:schemeClr val="accent5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thread</a:t>
                </a:r>
                <a:endParaRPr lang="ru-RU" sz="1400" dirty="0"/>
              </a:p>
            </p:txBody>
          </p:sp>
          <p:sp>
            <p:nvSpPr>
              <p:cNvPr id="25" name="Прямоугольник: скругленные углы 24">
                <a:extLst>
                  <a:ext uri="{FF2B5EF4-FFF2-40B4-BE49-F238E27FC236}">
                    <a16:creationId xmlns:a16="http://schemas.microsoft.com/office/drawing/2014/main" id="{CE07D313-E276-4250-B760-E54B6FF3DE15}"/>
                  </a:ext>
                </a:extLst>
              </p:cNvPr>
              <p:cNvSpPr/>
              <p:nvPr/>
            </p:nvSpPr>
            <p:spPr>
              <a:xfrm>
                <a:off x="8098521" y="4018960"/>
                <a:ext cx="859165" cy="312893"/>
              </a:xfrm>
              <a:prstGeom prst="roundRect">
                <a:avLst>
                  <a:gd name="adj" fmla="val 50000"/>
                </a:avLst>
              </a:prstGeom>
              <a:solidFill>
                <a:schemeClr val="accent5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mutex</a:t>
                </a:r>
                <a:endParaRPr lang="ru-RU" sz="1400" dirty="0"/>
              </a:p>
            </p:txBody>
          </p:sp>
          <p:sp>
            <p:nvSpPr>
              <p:cNvPr id="28" name="Прямоугольник: скругленные углы 27">
                <a:extLst>
                  <a:ext uri="{FF2B5EF4-FFF2-40B4-BE49-F238E27FC236}">
                    <a16:creationId xmlns:a16="http://schemas.microsoft.com/office/drawing/2014/main" id="{51175F77-12E7-4547-93AB-64A9F35582F0}"/>
                  </a:ext>
                </a:extLst>
              </p:cNvPr>
              <p:cNvSpPr/>
              <p:nvPr/>
            </p:nvSpPr>
            <p:spPr>
              <a:xfrm>
                <a:off x="7625039" y="4488551"/>
                <a:ext cx="1881884" cy="352880"/>
              </a:xfrm>
              <a:prstGeom prst="roundRect">
                <a:avLst>
                  <a:gd name="adj" fmla="val 50000"/>
                </a:avLst>
              </a:prstGeom>
              <a:solidFill>
                <a:schemeClr val="accent5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condition_variable</a:t>
                </a:r>
                <a:endParaRPr lang="ru-RU" sz="1400" dirty="0"/>
              </a:p>
            </p:txBody>
          </p:sp>
          <p:sp>
            <p:nvSpPr>
              <p:cNvPr id="29" name="Прямоугольник: скругленные углы 28">
                <a:extLst>
                  <a:ext uri="{FF2B5EF4-FFF2-40B4-BE49-F238E27FC236}">
                    <a16:creationId xmlns:a16="http://schemas.microsoft.com/office/drawing/2014/main" id="{4736FF17-E764-4DB0-B8F6-8F864DA9BFD9}"/>
                  </a:ext>
                </a:extLst>
              </p:cNvPr>
              <p:cNvSpPr/>
              <p:nvPr/>
            </p:nvSpPr>
            <p:spPr>
              <a:xfrm>
                <a:off x="9102913" y="4018958"/>
                <a:ext cx="857313" cy="312895"/>
              </a:xfrm>
              <a:prstGeom prst="roundRect">
                <a:avLst>
                  <a:gd name="adj" fmla="val 50000"/>
                </a:avLst>
              </a:prstGeom>
              <a:solidFill>
                <a:schemeClr val="accent5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future</a:t>
                </a:r>
                <a:endParaRPr lang="ru-RU" sz="1400" dirty="0"/>
              </a:p>
            </p:txBody>
          </p:sp>
        </p:grpSp>
        <p:grpSp>
          <p:nvGrpSpPr>
            <p:cNvPr id="44" name="Группа 43">
              <a:extLst>
                <a:ext uri="{FF2B5EF4-FFF2-40B4-BE49-F238E27FC236}">
                  <a16:creationId xmlns:a16="http://schemas.microsoft.com/office/drawing/2014/main" id="{9E68380A-27E3-4AE6-95CB-923D7A2B773F}"/>
                </a:ext>
              </a:extLst>
            </p:cNvPr>
            <p:cNvGrpSpPr/>
            <p:nvPr/>
          </p:nvGrpSpPr>
          <p:grpSpPr>
            <a:xfrm>
              <a:off x="8216885" y="3180456"/>
              <a:ext cx="2345210" cy="1079150"/>
              <a:chOff x="6796606" y="4694681"/>
              <a:chExt cx="2773522" cy="1461060"/>
            </a:xfrm>
          </p:grpSpPr>
          <p:sp>
            <p:nvSpPr>
              <p:cNvPr id="38" name="Прямоугольник 37">
                <a:extLst>
                  <a:ext uri="{FF2B5EF4-FFF2-40B4-BE49-F238E27FC236}">
                    <a16:creationId xmlns:a16="http://schemas.microsoft.com/office/drawing/2014/main" id="{6BE85A98-3274-4EE4-AAC2-F8A1103A86AF}"/>
                  </a:ext>
                </a:extLst>
              </p:cNvPr>
              <p:cNvSpPr/>
              <p:nvPr/>
            </p:nvSpPr>
            <p:spPr>
              <a:xfrm>
                <a:off x="6796606" y="4700694"/>
                <a:ext cx="2773522" cy="1455047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ru-RU" sz="1400" dirty="0"/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934E27E-1833-44F0-8D09-5EA2B8466D23}"/>
                  </a:ext>
                </a:extLst>
              </p:cNvPr>
              <p:cNvSpPr txBox="1"/>
              <p:nvPr/>
            </p:nvSpPr>
            <p:spPr>
              <a:xfrm>
                <a:off x="6796606" y="4694681"/>
                <a:ext cx="2773522" cy="354341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ru-RU" sz="1400" dirty="0"/>
                  <a:t>Численные библиотеки</a:t>
                </a:r>
              </a:p>
            </p:txBody>
          </p:sp>
          <p:sp>
            <p:nvSpPr>
              <p:cNvPr id="40" name="Прямоугольник: скругленные углы 39">
                <a:extLst>
                  <a:ext uri="{FF2B5EF4-FFF2-40B4-BE49-F238E27FC236}">
                    <a16:creationId xmlns:a16="http://schemas.microsoft.com/office/drawing/2014/main" id="{83BB43AA-2B66-4004-AC6E-ED95EB0813E9}"/>
                  </a:ext>
                </a:extLst>
              </p:cNvPr>
              <p:cNvSpPr/>
              <p:nvPr/>
            </p:nvSpPr>
            <p:spPr>
              <a:xfrm>
                <a:off x="6913542" y="5176573"/>
                <a:ext cx="1181807" cy="337352"/>
              </a:xfrm>
              <a:prstGeom prst="roundRect">
                <a:avLst>
                  <a:gd name="adj" fmla="val 50000"/>
                </a:avLst>
              </a:prstGeom>
              <a:solidFill>
                <a:schemeClr val="accent4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complex</a:t>
                </a:r>
                <a:endParaRPr lang="ru-RU" sz="1400" dirty="0"/>
              </a:p>
            </p:txBody>
          </p:sp>
          <p:sp>
            <p:nvSpPr>
              <p:cNvPr id="41" name="Прямоугольник: скругленные углы 40">
                <a:extLst>
                  <a:ext uri="{FF2B5EF4-FFF2-40B4-BE49-F238E27FC236}">
                    <a16:creationId xmlns:a16="http://schemas.microsoft.com/office/drawing/2014/main" id="{F1295BCD-FE3A-4319-9B2F-BF8EC58CE348}"/>
                  </a:ext>
                </a:extLst>
              </p:cNvPr>
              <p:cNvSpPr/>
              <p:nvPr/>
            </p:nvSpPr>
            <p:spPr>
              <a:xfrm>
                <a:off x="8141902" y="5176574"/>
                <a:ext cx="1145089" cy="337352"/>
              </a:xfrm>
              <a:prstGeom prst="roundRect">
                <a:avLst>
                  <a:gd name="adj" fmla="val 50000"/>
                </a:avLst>
              </a:prstGeom>
              <a:solidFill>
                <a:schemeClr val="accent4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random</a:t>
                </a:r>
                <a:endParaRPr lang="ru-RU" sz="1400" dirty="0"/>
              </a:p>
            </p:txBody>
          </p:sp>
          <p:sp>
            <p:nvSpPr>
              <p:cNvPr id="42" name="Прямоугольник: скругленные углы 41">
                <a:extLst>
                  <a:ext uri="{FF2B5EF4-FFF2-40B4-BE49-F238E27FC236}">
                    <a16:creationId xmlns:a16="http://schemas.microsoft.com/office/drawing/2014/main" id="{8243CF3A-0166-48B1-97C0-1C82007A7D60}"/>
                  </a:ext>
                </a:extLst>
              </p:cNvPr>
              <p:cNvSpPr/>
              <p:nvPr/>
            </p:nvSpPr>
            <p:spPr>
              <a:xfrm>
                <a:off x="6918573" y="5646165"/>
                <a:ext cx="1223329" cy="337352"/>
              </a:xfrm>
              <a:prstGeom prst="roundRect">
                <a:avLst>
                  <a:gd name="adj" fmla="val 50000"/>
                </a:avLst>
              </a:prstGeom>
              <a:solidFill>
                <a:schemeClr val="accent4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valarray</a:t>
                </a:r>
                <a:endParaRPr lang="ru-RU" sz="1400" dirty="0"/>
              </a:p>
            </p:txBody>
          </p:sp>
          <p:sp>
            <p:nvSpPr>
              <p:cNvPr id="43" name="Прямоугольник: скругленные углы 42">
                <a:extLst>
                  <a:ext uri="{FF2B5EF4-FFF2-40B4-BE49-F238E27FC236}">
                    <a16:creationId xmlns:a16="http://schemas.microsoft.com/office/drawing/2014/main" id="{85E48313-D1D6-4C59-AC90-C8CAA5438A29}"/>
                  </a:ext>
                </a:extLst>
              </p:cNvPr>
              <p:cNvSpPr/>
              <p:nvPr/>
            </p:nvSpPr>
            <p:spPr>
              <a:xfrm>
                <a:off x="8207294" y="5646165"/>
                <a:ext cx="1205458" cy="337352"/>
              </a:xfrm>
              <a:prstGeom prst="roundRect">
                <a:avLst>
                  <a:gd name="adj" fmla="val 50000"/>
                </a:avLst>
              </a:prstGeom>
              <a:solidFill>
                <a:schemeClr val="accent4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numeric</a:t>
                </a:r>
                <a:endParaRPr lang="ru-RU" sz="1400" dirty="0"/>
              </a:p>
            </p:txBody>
          </p:sp>
        </p:grpSp>
        <p:grpSp>
          <p:nvGrpSpPr>
            <p:cNvPr id="56" name="Группа 55">
              <a:extLst>
                <a:ext uri="{FF2B5EF4-FFF2-40B4-BE49-F238E27FC236}">
                  <a16:creationId xmlns:a16="http://schemas.microsoft.com/office/drawing/2014/main" id="{2EE6A8C1-D220-481E-A88A-93C3ACA9372A}"/>
                </a:ext>
              </a:extLst>
            </p:cNvPr>
            <p:cNvGrpSpPr/>
            <p:nvPr/>
          </p:nvGrpSpPr>
          <p:grpSpPr>
            <a:xfrm>
              <a:off x="1281713" y="3180456"/>
              <a:ext cx="3273674" cy="1419928"/>
              <a:chOff x="276916" y="364888"/>
              <a:chExt cx="3636716" cy="1792848"/>
            </a:xfrm>
          </p:grpSpPr>
          <p:sp>
            <p:nvSpPr>
              <p:cNvPr id="46" name="Прямоугольник 45">
                <a:extLst>
                  <a:ext uri="{FF2B5EF4-FFF2-40B4-BE49-F238E27FC236}">
                    <a16:creationId xmlns:a16="http://schemas.microsoft.com/office/drawing/2014/main" id="{06F01E91-3772-4691-9F9C-605A31826039}"/>
                  </a:ext>
                </a:extLst>
              </p:cNvPr>
              <p:cNvSpPr/>
              <p:nvPr/>
            </p:nvSpPr>
            <p:spPr>
              <a:xfrm>
                <a:off x="276917" y="365337"/>
                <a:ext cx="3636715" cy="1792399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ru-RU" sz="1400" dirty="0"/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16800BD7-7470-4201-B0C1-4F816F220006}"/>
                  </a:ext>
                </a:extLst>
              </p:cNvPr>
              <p:cNvSpPr txBox="1"/>
              <p:nvPr/>
            </p:nvSpPr>
            <p:spPr>
              <a:xfrm>
                <a:off x="276916" y="364888"/>
                <a:ext cx="3636715" cy="33855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ru-RU" sz="1400" dirty="0"/>
                  <a:t>Потоки ввода-вывода</a:t>
                </a:r>
              </a:p>
            </p:txBody>
          </p:sp>
          <p:sp>
            <p:nvSpPr>
              <p:cNvPr id="48" name="Прямоугольник: скругленные углы 47">
                <a:extLst>
                  <a:ext uri="{FF2B5EF4-FFF2-40B4-BE49-F238E27FC236}">
                    <a16:creationId xmlns:a16="http://schemas.microsoft.com/office/drawing/2014/main" id="{63D6A555-F381-4D07-9075-A23F0B03AE30}"/>
                  </a:ext>
                </a:extLst>
              </p:cNvPr>
              <p:cNvSpPr/>
              <p:nvPr/>
            </p:nvSpPr>
            <p:spPr>
              <a:xfrm>
                <a:off x="393853" y="841216"/>
                <a:ext cx="670475" cy="337352"/>
              </a:xfrm>
              <a:prstGeom prst="roundRect">
                <a:avLst>
                  <a:gd name="adj" fmla="val 50000"/>
                </a:avLst>
              </a:prstGeom>
              <a:solidFill>
                <a:schemeClr val="accent3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ios</a:t>
                </a:r>
                <a:endParaRPr lang="ru-RU" sz="1400" dirty="0"/>
              </a:p>
            </p:txBody>
          </p:sp>
          <p:sp>
            <p:nvSpPr>
              <p:cNvPr id="49" name="Прямоугольник: скругленные углы 48">
                <a:extLst>
                  <a:ext uri="{FF2B5EF4-FFF2-40B4-BE49-F238E27FC236}">
                    <a16:creationId xmlns:a16="http://schemas.microsoft.com/office/drawing/2014/main" id="{6C3AAF60-1924-4436-B317-2A987B7F168C}"/>
                  </a:ext>
                </a:extLst>
              </p:cNvPr>
              <p:cNvSpPr/>
              <p:nvPr/>
            </p:nvSpPr>
            <p:spPr>
              <a:xfrm>
                <a:off x="1172685" y="847710"/>
                <a:ext cx="1223329" cy="337352"/>
              </a:xfrm>
              <a:prstGeom prst="roundRect">
                <a:avLst>
                  <a:gd name="adj" fmla="val 50000"/>
                </a:avLst>
              </a:prstGeom>
              <a:solidFill>
                <a:schemeClr val="accent3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iostream</a:t>
                </a:r>
                <a:endParaRPr lang="ru-RU" sz="1400" dirty="0"/>
              </a:p>
            </p:txBody>
          </p:sp>
          <p:sp>
            <p:nvSpPr>
              <p:cNvPr id="50" name="Прямоугольник: скругленные углы 49">
                <a:extLst>
                  <a:ext uri="{FF2B5EF4-FFF2-40B4-BE49-F238E27FC236}">
                    <a16:creationId xmlns:a16="http://schemas.microsoft.com/office/drawing/2014/main" id="{322512BD-5EE9-4CF4-BE0D-677A718F6045}"/>
                  </a:ext>
                </a:extLst>
              </p:cNvPr>
              <p:cNvSpPr/>
              <p:nvPr/>
            </p:nvSpPr>
            <p:spPr>
              <a:xfrm>
                <a:off x="2504373" y="844844"/>
                <a:ext cx="1101122" cy="337352"/>
              </a:xfrm>
              <a:prstGeom prst="roundRect">
                <a:avLst>
                  <a:gd name="adj" fmla="val 50000"/>
                </a:avLst>
              </a:prstGeom>
              <a:solidFill>
                <a:schemeClr val="accent3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fstream</a:t>
                </a:r>
                <a:endParaRPr lang="ru-RU" sz="1400" dirty="0"/>
              </a:p>
            </p:txBody>
          </p:sp>
          <p:sp>
            <p:nvSpPr>
              <p:cNvPr id="51" name="Прямоугольник: скругленные углы 50">
                <a:extLst>
                  <a:ext uri="{FF2B5EF4-FFF2-40B4-BE49-F238E27FC236}">
                    <a16:creationId xmlns:a16="http://schemas.microsoft.com/office/drawing/2014/main" id="{EAC4C703-0359-454F-BE15-FF0037A82D7E}"/>
                  </a:ext>
                </a:extLst>
              </p:cNvPr>
              <p:cNvSpPr/>
              <p:nvPr/>
            </p:nvSpPr>
            <p:spPr>
              <a:xfrm>
                <a:off x="393853" y="1279866"/>
                <a:ext cx="1142339" cy="337352"/>
              </a:xfrm>
              <a:prstGeom prst="roundRect">
                <a:avLst>
                  <a:gd name="adj" fmla="val 50000"/>
                </a:avLst>
              </a:prstGeom>
              <a:solidFill>
                <a:schemeClr val="accent3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iomanip</a:t>
                </a:r>
                <a:endParaRPr lang="ru-RU" sz="1400" dirty="0"/>
              </a:p>
            </p:txBody>
          </p:sp>
          <p:sp>
            <p:nvSpPr>
              <p:cNvPr id="52" name="Прямоугольник: скругленные углы 51">
                <a:extLst>
                  <a:ext uri="{FF2B5EF4-FFF2-40B4-BE49-F238E27FC236}">
                    <a16:creationId xmlns:a16="http://schemas.microsoft.com/office/drawing/2014/main" id="{460F8E4C-B448-4F9E-9BF8-315946695296}"/>
                  </a:ext>
                </a:extLst>
              </p:cNvPr>
              <p:cNvSpPr/>
              <p:nvPr/>
            </p:nvSpPr>
            <p:spPr>
              <a:xfrm>
                <a:off x="1623026" y="1278845"/>
                <a:ext cx="1142339" cy="337352"/>
              </a:xfrm>
              <a:prstGeom prst="roundRect">
                <a:avLst>
                  <a:gd name="adj" fmla="val 50000"/>
                </a:avLst>
              </a:prstGeom>
              <a:solidFill>
                <a:schemeClr val="accent3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sstream</a:t>
                </a:r>
                <a:endParaRPr lang="ru-RU" sz="1400" dirty="0"/>
              </a:p>
            </p:txBody>
          </p:sp>
          <p:sp>
            <p:nvSpPr>
              <p:cNvPr id="53" name="Прямоугольник: скругленные углы 52">
                <a:extLst>
                  <a:ext uri="{FF2B5EF4-FFF2-40B4-BE49-F238E27FC236}">
                    <a16:creationId xmlns:a16="http://schemas.microsoft.com/office/drawing/2014/main" id="{58C86C51-1B10-45C8-B8DA-1869C6526ABB}"/>
                  </a:ext>
                </a:extLst>
              </p:cNvPr>
              <p:cNvSpPr/>
              <p:nvPr/>
            </p:nvSpPr>
            <p:spPr>
              <a:xfrm>
                <a:off x="398866" y="1712022"/>
                <a:ext cx="1142339" cy="337352"/>
              </a:xfrm>
              <a:prstGeom prst="roundRect">
                <a:avLst>
                  <a:gd name="adj" fmla="val 50000"/>
                </a:avLst>
              </a:prstGeom>
              <a:solidFill>
                <a:schemeClr val="accent3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ostream</a:t>
                </a:r>
                <a:endParaRPr lang="ru-RU" sz="1400" dirty="0"/>
              </a:p>
            </p:txBody>
          </p:sp>
          <p:sp>
            <p:nvSpPr>
              <p:cNvPr id="54" name="Прямоугольник: скругленные углы 53">
                <a:extLst>
                  <a:ext uri="{FF2B5EF4-FFF2-40B4-BE49-F238E27FC236}">
                    <a16:creationId xmlns:a16="http://schemas.microsoft.com/office/drawing/2014/main" id="{3703685D-286C-4D63-9264-2B2F0441F67B}"/>
                  </a:ext>
                </a:extLst>
              </p:cNvPr>
              <p:cNvSpPr/>
              <p:nvPr/>
            </p:nvSpPr>
            <p:spPr>
              <a:xfrm>
                <a:off x="2847184" y="1278845"/>
                <a:ext cx="967775" cy="337352"/>
              </a:xfrm>
              <a:prstGeom prst="roundRect">
                <a:avLst>
                  <a:gd name="adj" fmla="val 50000"/>
                </a:avLst>
              </a:prstGeom>
              <a:solidFill>
                <a:schemeClr val="accent3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iosfwd</a:t>
                </a:r>
                <a:endParaRPr lang="ru-RU" sz="1400" dirty="0"/>
              </a:p>
            </p:txBody>
          </p:sp>
          <p:sp>
            <p:nvSpPr>
              <p:cNvPr id="55" name="Прямоугольник: скругленные углы 54">
                <a:extLst>
                  <a:ext uri="{FF2B5EF4-FFF2-40B4-BE49-F238E27FC236}">
                    <a16:creationId xmlns:a16="http://schemas.microsoft.com/office/drawing/2014/main" id="{4F1A983C-4504-4924-A58C-5182FB0D8267}"/>
                  </a:ext>
                </a:extLst>
              </p:cNvPr>
              <p:cNvSpPr/>
              <p:nvPr/>
            </p:nvSpPr>
            <p:spPr>
              <a:xfrm>
                <a:off x="1623026" y="1717495"/>
                <a:ext cx="1392627" cy="337352"/>
              </a:xfrm>
              <a:prstGeom prst="roundRect">
                <a:avLst>
                  <a:gd name="adj" fmla="val 50000"/>
                </a:avLst>
              </a:prstGeom>
              <a:solidFill>
                <a:schemeClr val="accent3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streambuf</a:t>
                </a:r>
                <a:endParaRPr lang="ru-RU" sz="1400" dirty="0"/>
              </a:p>
            </p:txBody>
          </p:sp>
        </p:grpSp>
        <p:grpSp>
          <p:nvGrpSpPr>
            <p:cNvPr id="82" name="Группа 81">
              <a:extLst>
                <a:ext uri="{FF2B5EF4-FFF2-40B4-BE49-F238E27FC236}">
                  <a16:creationId xmlns:a16="http://schemas.microsoft.com/office/drawing/2014/main" id="{545D10AB-DA79-4CC7-9649-6AB73795530D}"/>
                </a:ext>
              </a:extLst>
            </p:cNvPr>
            <p:cNvGrpSpPr/>
            <p:nvPr/>
          </p:nvGrpSpPr>
          <p:grpSpPr>
            <a:xfrm>
              <a:off x="6533854" y="2353296"/>
              <a:ext cx="2345210" cy="721870"/>
              <a:chOff x="7764920" y="2306648"/>
              <a:chExt cx="2489003" cy="945656"/>
            </a:xfrm>
          </p:grpSpPr>
          <p:sp>
            <p:nvSpPr>
              <p:cNvPr id="76" name="Прямоугольник 75">
                <a:extLst>
                  <a:ext uri="{FF2B5EF4-FFF2-40B4-BE49-F238E27FC236}">
                    <a16:creationId xmlns:a16="http://schemas.microsoft.com/office/drawing/2014/main" id="{C89A0C91-C7CF-41C6-AE50-76A745F25FB1}"/>
                  </a:ext>
                </a:extLst>
              </p:cNvPr>
              <p:cNvSpPr/>
              <p:nvPr/>
            </p:nvSpPr>
            <p:spPr>
              <a:xfrm>
                <a:off x="7764921" y="2312662"/>
                <a:ext cx="2489002" cy="93964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ru-RU" sz="1400" dirty="0"/>
              </a:p>
            </p:txBody>
          </p:sp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7FC4938B-B182-461D-B6E3-AD55F6620B41}"/>
                  </a:ext>
                </a:extLst>
              </p:cNvPr>
              <p:cNvSpPr txBox="1"/>
              <p:nvPr/>
            </p:nvSpPr>
            <p:spPr>
              <a:xfrm>
                <a:off x="7764920" y="2306648"/>
                <a:ext cx="2489003" cy="342854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ru-RU" sz="1400" dirty="0"/>
                  <a:t>Строки</a:t>
                </a:r>
              </a:p>
            </p:txBody>
          </p:sp>
          <p:sp>
            <p:nvSpPr>
              <p:cNvPr id="78" name="Прямоугольник: скругленные углы 77">
                <a:extLst>
                  <a:ext uri="{FF2B5EF4-FFF2-40B4-BE49-F238E27FC236}">
                    <a16:creationId xmlns:a16="http://schemas.microsoft.com/office/drawing/2014/main" id="{0C4DC526-963D-4509-97D4-3C7DBFD4FC95}"/>
                  </a:ext>
                </a:extLst>
              </p:cNvPr>
              <p:cNvSpPr/>
              <p:nvPr/>
            </p:nvSpPr>
            <p:spPr>
              <a:xfrm>
                <a:off x="7873669" y="2788540"/>
                <a:ext cx="1099068" cy="337352"/>
              </a:xfrm>
              <a:prstGeom prst="roundRect">
                <a:avLst>
                  <a:gd name="adj" fmla="val 50000"/>
                </a:avLst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string</a:t>
                </a:r>
                <a:endParaRPr lang="ru-RU" sz="1400" dirty="0"/>
              </a:p>
            </p:txBody>
          </p:sp>
          <p:sp>
            <p:nvSpPr>
              <p:cNvPr id="79" name="Прямоугольник: скругленные углы 78">
                <a:extLst>
                  <a:ext uri="{FF2B5EF4-FFF2-40B4-BE49-F238E27FC236}">
                    <a16:creationId xmlns:a16="http://schemas.microsoft.com/office/drawing/2014/main" id="{37F2EA86-2CF5-4419-8450-EF261B31A3CD}"/>
                  </a:ext>
                </a:extLst>
              </p:cNvPr>
              <p:cNvSpPr/>
              <p:nvPr/>
            </p:nvSpPr>
            <p:spPr>
              <a:xfrm>
                <a:off x="9016031" y="2788541"/>
                <a:ext cx="1064921" cy="337352"/>
              </a:xfrm>
              <a:prstGeom prst="roundRect">
                <a:avLst>
                  <a:gd name="adj" fmla="val 50000"/>
                </a:avLst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regex</a:t>
                </a:r>
                <a:endParaRPr lang="ru-RU" sz="1400" dirty="0"/>
              </a:p>
            </p:txBody>
          </p:sp>
        </p:grpSp>
        <p:grpSp>
          <p:nvGrpSpPr>
            <p:cNvPr id="83" name="Группа 82">
              <a:extLst>
                <a:ext uri="{FF2B5EF4-FFF2-40B4-BE49-F238E27FC236}">
                  <a16:creationId xmlns:a16="http://schemas.microsoft.com/office/drawing/2014/main" id="{0A20E428-688D-4BDE-90D5-1DD9CBBC5975}"/>
                </a:ext>
              </a:extLst>
            </p:cNvPr>
            <p:cNvGrpSpPr/>
            <p:nvPr/>
          </p:nvGrpSpPr>
          <p:grpSpPr>
            <a:xfrm>
              <a:off x="8224039" y="5552484"/>
              <a:ext cx="2338056" cy="719043"/>
              <a:chOff x="7764920" y="2304625"/>
              <a:chExt cx="2489003" cy="947679"/>
            </a:xfrm>
          </p:grpSpPr>
          <p:sp>
            <p:nvSpPr>
              <p:cNvPr id="84" name="Прямоугольник 83">
                <a:extLst>
                  <a:ext uri="{FF2B5EF4-FFF2-40B4-BE49-F238E27FC236}">
                    <a16:creationId xmlns:a16="http://schemas.microsoft.com/office/drawing/2014/main" id="{E7BD760E-5261-4226-8D27-A1793EF599F5}"/>
                  </a:ext>
                </a:extLst>
              </p:cNvPr>
              <p:cNvSpPr/>
              <p:nvPr/>
            </p:nvSpPr>
            <p:spPr>
              <a:xfrm>
                <a:off x="7764921" y="2312662"/>
                <a:ext cx="2489002" cy="93964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ru-RU" sz="1400" dirty="0"/>
              </a:p>
            </p:txBody>
          </p:sp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5045403F-DAE2-4426-8BB7-0751EC9065EF}"/>
                  </a:ext>
                </a:extLst>
              </p:cNvPr>
              <p:cNvSpPr txBox="1"/>
              <p:nvPr/>
            </p:nvSpPr>
            <p:spPr>
              <a:xfrm>
                <a:off x="7764920" y="2304625"/>
                <a:ext cx="2489003" cy="342854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ru-RU" sz="1400" dirty="0"/>
                  <a:t>Локализация</a:t>
                </a:r>
              </a:p>
            </p:txBody>
          </p:sp>
          <p:sp>
            <p:nvSpPr>
              <p:cNvPr id="86" name="Прямоугольник: скругленные углы 85">
                <a:extLst>
                  <a:ext uri="{FF2B5EF4-FFF2-40B4-BE49-F238E27FC236}">
                    <a16:creationId xmlns:a16="http://schemas.microsoft.com/office/drawing/2014/main" id="{3B0C3937-6D8B-480A-BB8E-54445AA96B8C}"/>
                  </a:ext>
                </a:extLst>
              </p:cNvPr>
              <p:cNvSpPr/>
              <p:nvPr/>
            </p:nvSpPr>
            <p:spPr>
              <a:xfrm>
                <a:off x="7873669" y="2788540"/>
                <a:ext cx="1099068" cy="337352"/>
              </a:xfrm>
              <a:prstGeom prst="roundRect">
                <a:avLst>
                  <a:gd name="adj" fmla="val 50000"/>
                </a:avLst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locale</a:t>
                </a:r>
                <a:endParaRPr lang="ru-RU" sz="1400" dirty="0"/>
              </a:p>
            </p:txBody>
          </p:sp>
          <p:sp>
            <p:nvSpPr>
              <p:cNvPr id="87" name="Прямоугольник: скругленные углы 86">
                <a:extLst>
                  <a:ext uri="{FF2B5EF4-FFF2-40B4-BE49-F238E27FC236}">
                    <a16:creationId xmlns:a16="http://schemas.microsoft.com/office/drawing/2014/main" id="{E2DDF6B8-C855-4470-B51B-E042E3CE903A}"/>
                  </a:ext>
                </a:extLst>
              </p:cNvPr>
              <p:cNvSpPr/>
              <p:nvPr/>
            </p:nvSpPr>
            <p:spPr>
              <a:xfrm>
                <a:off x="9016031" y="2788541"/>
                <a:ext cx="1064921" cy="337352"/>
              </a:xfrm>
              <a:prstGeom prst="roundRect">
                <a:avLst>
                  <a:gd name="adj" fmla="val 50000"/>
                </a:avLst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codesvt</a:t>
                </a:r>
                <a:endParaRPr lang="ru-RU" sz="1400" dirty="0"/>
              </a:p>
            </p:txBody>
          </p:sp>
        </p:grpSp>
        <p:grpSp>
          <p:nvGrpSpPr>
            <p:cNvPr id="94" name="Группа 93">
              <a:extLst>
                <a:ext uri="{FF2B5EF4-FFF2-40B4-BE49-F238E27FC236}">
                  <a16:creationId xmlns:a16="http://schemas.microsoft.com/office/drawing/2014/main" id="{AD60C1D1-85E5-4EF0-A3CA-754A8FCB965E}"/>
                </a:ext>
              </a:extLst>
            </p:cNvPr>
            <p:cNvGrpSpPr/>
            <p:nvPr/>
          </p:nvGrpSpPr>
          <p:grpSpPr>
            <a:xfrm>
              <a:off x="9012543" y="2353296"/>
              <a:ext cx="1556706" cy="732178"/>
              <a:chOff x="8368828" y="5907143"/>
              <a:chExt cx="2489003" cy="867136"/>
            </a:xfrm>
          </p:grpSpPr>
          <p:sp>
            <p:nvSpPr>
              <p:cNvPr id="89" name="Прямоугольник 88">
                <a:extLst>
                  <a:ext uri="{FF2B5EF4-FFF2-40B4-BE49-F238E27FC236}">
                    <a16:creationId xmlns:a16="http://schemas.microsoft.com/office/drawing/2014/main" id="{F03C2666-BC4E-4D5A-B03D-36FAF3DADF96}"/>
                  </a:ext>
                </a:extLst>
              </p:cNvPr>
              <p:cNvSpPr/>
              <p:nvPr/>
            </p:nvSpPr>
            <p:spPr>
              <a:xfrm>
                <a:off x="8368830" y="5913157"/>
                <a:ext cx="2489001" cy="861122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ru-RU" sz="1400" dirty="0"/>
              </a:p>
            </p:txBody>
          </p: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7A333D96-8CCF-48C9-8FC8-41BAED577236}"/>
                  </a:ext>
                </a:extLst>
              </p:cNvPr>
              <p:cNvSpPr txBox="1"/>
              <p:nvPr/>
            </p:nvSpPr>
            <p:spPr>
              <a:xfrm>
                <a:off x="8368828" y="6306370"/>
                <a:ext cx="2489003" cy="307776"/>
              </a:xfrm>
              <a:prstGeom prst="rect">
                <a:avLst/>
              </a:prstGeom>
              <a:ln>
                <a:noFill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[21 </a:t>
                </a:r>
                <a:r>
                  <a:rPr lang="ru-RU" sz="1400" dirty="0"/>
                  <a:t>файл</a:t>
                </a:r>
                <a:r>
                  <a:rPr lang="en-US" sz="1400" dirty="0"/>
                  <a:t>]</a:t>
                </a:r>
                <a:endParaRPr lang="ru-RU" sz="1400" dirty="0"/>
              </a:p>
            </p:txBody>
          </p:sp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8F4E84E6-DEC3-4A15-BB81-97BC612CBE94}"/>
                  </a:ext>
                </a:extLst>
              </p:cNvPr>
              <p:cNvSpPr txBox="1"/>
              <p:nvPr/>
            </p:nvSpPr>
            <p:spPr>
              <a:xfrm>
                <a:off x="8368828" y="5907143"/>
                <a:ext cx="2489003" cy="361941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ru-RU" sz="1400" dirty="0"/>
                  <a:t>Библиотеки </a:t>
                </a:r>
                <a:r>
                  <a:rPr lang="en-US" sz="1400" dirty="0"/>
                  <a:t>C</a:t>
                </a:r>
                <a:endParaRPr lang="ru-RU" sz="1400" dirty="0"/>
              </a:p>
            </p:txBody>
          </p:sp>
        </p:grpSp>
        <p:grpSp>
          <p:nvGrpSpPr>
            <p:cNvPr id="96" name="Группа 95">
              <a:extLst>
                <a:ext uri="{FF2B5EF4-FFF2-40B4-BE49-F238E27FC236}">
                  <a16:creationId xmlns:a16="http://schemas.microsoft.com/office/drawing/2014/main" id="{7B62AB75-03CF-4BBE-95A7-57A7FE3EE257}"/>
                </a:ext>
              </a:extLst>
            </p:cNvPr>
            <p:cNvGrpSpPr/>
            <p:nvPr/>
          </p:nvGrpSpPr>
          <p:grpSpPr>
            <a:xfrm>
              <a:off x="1286638" y="4746975"/>
              <a:ext cx="3269571" cy="1524552"/>
              <a:chOff x="168708" y="3948690"/>
              <a:chExt cx="3595992" cy="1792848"/>
            </a:xfrm>
          </p:grpSpPr>
          <p:sp>
            <p:nvSpPr>
              <p:cNvPr id="58" name="Прямоугольник 57">
                <a:extLst>
                  <a:ext uri="{FF2B5EF4-FFF2-40B4-BE49-F238E27FC236}">
                    <a16:creationId xmlns:a16="http://schemas.microsoft.com/office/drawing/2014/main" id="{4A127359-221B-4073-A57D-9E86D06B8059}"/>
                  </a:ext>
                </a:extLst>
              </p:cNvPr>
              <p:cNvSpPr/>
              <p:nvPr/>
            </p:nvSpPr>
            <p:spPr>
              <a:xfrm>
                <a:off x="168709" y="3949139"/>
                <a:ext cx="3595991" cy="1792399"/>
              </a:xfrm>
              <a:prstGeom prst="rect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ru-RU" sz="1400" dirty="0"/>
              </a:p>
            </p:txBody>
          </p:sp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D5263913-55F2-4471-B5C0-F33CF9C8463F}"/>
                  </a:ext>
                </a:extLst>
              </p:cNvPr>
              <p:cNvSpPr txBox="1"/>
              <p:nvPr/>
            </p:nvSpPr>
            <p:spPr>
              <a:xfrm>
                <a:off x="168708" y="3948690"/>
                <a:ext cx="3595991" cy="307777"/>
              </a:xfrm>
              <a:prstGeom prst="rect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ru-RU" sz="1400" dirty="0"/>
                  <a:t>Общие</a:t>
                </a:r>
              </a:p>
            </p:txBody>
          </p:sp>
          <p:sp>
            <p:nvSpPr>
              <p:cNvPr id="61" name="Прямоугольник: скругленные углы 60">
                <a:extLst>
                  <a:ext uri="{FF2B5EF4-FFF2-40B4-BE49-F238E27FC236}">
                    <a16:creationId xmlns:a16="http://schemas.microsoft.com/office/drawing/2014/main" id="{44ACEBF8-1697-4BA5-976D-41CB68D4FF21}"/>
                  </a:ext>
                </a:extLst>
              </p:cNvPr>
              <p:cNvSpPr/>
              <p:nvPr/>
            </p:nvSpPr>
            <p:spPr>
              <a:xfrm>
                <a:off x="279317" y="4422741"/>
                <a:ext cx="1211062" cy="337352"/>
              </a:xfrm>
              <a:prstGeom prst="roundRect">
                <a:avLst>
                  <a:gd name="adj" fmla="val 50000"/>
                </a:avLst>
              </a:prstGeom>
              <a:solidFill>
                <a:schemeClr val="dk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algorithm</a:t>
                </a:r>
                <a:endParaRPr lang="ru-RU" sz="1400" dirty="0"/>
              </a:p>
            </p:txBody>
          </p:sp>
          <p:sp>
            <p:nvSpPr>
              <p:cNvPr id="62" name="Прямоугольник: скругленные углы 61">
                <a:extLst>
                  <a:ext uri="{FF2B5EF4-FFF2-40B4-BE49-F238E27FC236}">
                    <a16:creationId xmlns:a16="http://schemas.microsoft.com/office/drawing/2014/main" id="{C5B736A8-832C-42FA-902B-7770452AB3C8}"/>
                  </a:ext>
                </a:extLst>
              </p:cNvPr>
              <p:cNvSpPr/>
              <p:nvPr/>
            </p:nvSpPr>
            <p:spPr>
              <a:xfrm>
                <a:off x="1600987" y="4422154"/>
                <a:ext cx="921496" cy="337352"/>
              </a:xfrm>
              <a:prstGeom prst="roundRect">
                <a:avLst>
                  <a:gd name="adj" fmla="val 50000"/>
                </a:avLst>
              </a:prstGeom>
              <a:solidFill>
                <a:schemeClr val="dk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chrono</a:t>
                </a:r>
                <a:endParaRPr lang="ru-RU" sz="1400" dirty="0"/>
              </a:p>
            </p:txBody>
          </p:sp>
          <p:sp>
            <p:nvSpPr>
              <p:cNvPr id="63" name="Прямоугольник: скругленные углы 62">
                <a:extLst>
                  <a:ext uri="{FF2B5EF4-FFF2-40B4-BE49-F238E27FC236}">
                    <a16:creationId xmlns:a16="http://schemas.microsoft.com/office/drawing/2014/main" id="{7A1F786A-3AD0-443B-8713-CD9370D8077E}"/>
                  </a:ext>
                </a:extLst>
              </p:cNvPr>
              <p:cNvSpPr/>
              <p:nvPr/>
            </p:nvSpPr>
            <p:spPr>
              <a:xfrm>
                <a:off x="279317" y="4863668"/>
                <a:ext cx="1317257" cy="337352"/>
              </a:xfrm>
              <a:prstGeom prst="roundRect">
                <a:avLst>
                  <a:gd name="adj" fmla="val 50000"/>
                </a:avLst>
              </a:prstGeom>
              <a:solidFill>
                <a:schemeClr val="dk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functional</a:t>
                </a:r>
                <a:endParaRPr lang="ru-RU" sz="1400" dirty="0"/>
              </a:p>
            </p:txBody>
          </p:sp>
          <p:sp>
            <p:nvSpPr>
              <p:cNvPr id="64" name="Прямоугольник: скругленные углы 63">
                <a:extLst>
                  <a:ext uri="{FF2B5EF4-FFF2-40B4-BE49-F238E27FC236}">
                    <a16:creationId xmlns:a16="http://schemas.microsoft.com/office/drawing/2014/main" id="{6E9DDEB6-A42C-49E6-B884-C88747907D31}"/>
                  </a:ext>
                </a:extLst>
              </p:cNvPr>
              <p:cNvSpPr/>
              <p:nvPr/>
            </p:nvSpPr>
            <p:spPr>
              <a:xfrm>
                <a:off x="1707878" y="4870002"/>
                <a:ext cx="1021533" cy="337352"/>
              </a:xfrm>
              <a:prstGeom prst="roundRect">
                <a:avLst>
                  <a:gd name="adj" fmla="val 50000"/>
                </a:avLst>
              </a:prstGeom>
              <a:solidFill>
                <a:schemeClr val="dk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iterator</a:t>
                </a:r>
                <a:endParaRPr lang="ru-RU" sz="1400" dirty="0"/>
              </a:p>
            </p:txBody>
          </p:sp>
          <p:sp>
            <p:nvSpPr>
              <p:cNvPr id="65" name="Прямоугольник: скругленные углы 64">
                <a:extLst>
                  <a:ext uri="{FF2B5EF4-FFF2-40B4-BE49-F238E27FC236}">
                    <a16:creationId xmlns:a16="http://schemas.microsoft.com/office/drawing/2014/main" id="{82F9DA01-1EFC-4127-B5A1-B2E2B50BD324}"/>
                  </a:ext>
                </a:extLst>
              </p:cNvPr>
              <p:cNvSpPr/>
              <p:nvPr/>
            </p:nvSpPr>
            <p:spPr>
              <a:xfrm>
                <a:off x="284059" y="5295824"/>
                <a:ext cx="1206320" cy="337352"/>
              </a:xfrm>
              <a:prstGeom prst="roundRect">
                <a:avLst>
                  <a:gd name="adj" fmla="val 50000"/>
                </a:avLst>
              </a:prstGeom>
              <a:solidFill>
                <a:schemeClr val="dk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stdexcept</a:t>
                </a:r>
                <a:endParaRPr lang="ru-RU" sz="1400" dirty="0"/>
              </a:p>
            </p:txBody>
          </p:sp>
          <p:sp>
            <p:nvSpPr>
              <p:cNvPr id="66" name="Прямоугольник: скругленные углы 65">
                <a:extLst>
                  <a:ext uri="{FF2B5EF4-FFF2-40B4-BE49-F238E27FC236}">
                    <a16:creationId xmlns:a16="http://schemas.microsoft.com/office/drawing/2014/main" id="{F5CE1FD8-138B-4FCC-A136-262CFDD59955}"/>
                  </a:ext>
                </a:extLst>
              </p:cNvPr>
              <p:cNvSpPr/>
              <p:nvPr/>
            </p:nvSpPr>
            <p:spPr>
              <a:xfrm>
                <a:off x="2626043" y="4422154"/>
                <a:ext cx="1080515" cy="337352"/>
              </a:xfrm>
              <a:prstGeom prst="roundRect">
                <a:avLst>
                  <a:gd name="adj" fmla="val 50000"/>
                </a:avLst>
              </a:prstGeom>
              <a:solidFill>
                <a:schemeClr val="dk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memory</a:t>
                </a:r>
                <a:endParaRPr lang="ru-RU" sz="1400" dirty="0"/>
              </a:p>
            </p:txBody>
          </p:sp>
          <p:sp>
            <p:nvSpPr>
              <p:cNvPr id="67" name="Прямоугольник: скругленные углы 66">
                <a:extLst>
                  <a:ext uri="{FF2B5EF4-FFF2-40B4-BE49-F238E27FC236}">
                    <a16:creationId xmlns:a16="http://schemas.microsoft.com/office/drawing/2014/main" id="{D97094AD-73D1-4C4F-8007-5561D2456AE2}"/>
                  </a:ext>
                </a:extLst>
              </p:cNvPr>
              <p:cNvSpPr/>
              <p:nvPr/>
            </p:nvSpPr>
            <p:spPr>
              <a:xfrm>
                <a:off x="1600986" y="5291679"/>
                <a:ext cx="850673" cy="337352"/>
              </a:xfrm>
              <a:prstGeom prst="roundRect">
                <a:avLst>
                  <a:gd name="adj" fmla="val 50000"/>
                </a:avLst>
              </a:prstGeom>
              <a:solidFill>
                <a:schemeClr val="dk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tuple</a:t>
                </a:r>
                <a:endParaRPr lang="ru-RU" sz="1400" dirty="0"/>
              </a:p>
            </p:txBody>
          </p:sp>
          <p:sp>
            <p:nvSpPr>
              <p:cNvPr id="95" name="Прямоугольник: скругленные углы 94">
                <a:extLst>
                  <a:ext uri="{FF2B5EF4-FFF2-40B4-BE49-F238E27FC236}">
                    <a16:creationId xmlns:a16="http://schemas.microsoft.com/office/drawing/2014/main" id="{46584B08-568E-4D02-B61B-D4ED7F96FAE2}"/>
                  </a:ext>
                </a:extLst>
              </p:cNvPr>
              <p:cNvSpPr/>
              <p:nvPr/>
            </p:nvSpPr>
            <p:spPr>
              <a:xfrm>
                <a:off x="2561005" y="5292826"/>
                <a:ext cx="954267" cy="337352"/>
              </a:xfrm>
              <a:prstGeom prst="roundRect">
                <a:avLst>
                  <a:gd name="adj" fmla="val 50000"/>
                </a:avLst>
              </a:prstGeom>
              <a:solidFill>
                <a:schemeClr val="dk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utility</a:t>
                </a:r>
                <a:endParaRPr lang="ru-RU" sz="1400" dirty="0"/>
              </a:p>
            </p:txBody>
          </p:sp>
        </p:grpSp>
        <p:grpSp>
          <p:nvGrpSpPr>
            <p:cNvPr id="98" name="Группа 97">
              <a:extLst>
                <a:ext uri="{FF2B5EF4-FFF2-40B4-BE49-F238E27FC236}">
                  <a16:creationId xmlns:a16="http://schemas.microsoft.com/office/drawing/2014/main" id="{EDFE96B5-11FD-4E02-B3A0-4247E454C854}"/>
                </a:ext>
              </a:extLst>
            </p:cNvPr>
            <p:cNvGrpSpPr/>
            <p:nvPr/>
          </p:nvGrpSpPr>
          <p:grpSpPr>
            <a:xfrm>
              <a:off x="8216885" y="4380970"/>
              <a:ext cx="2345210" cy="1079150"/>
              <a:chOff x="6796606" y="4694681"/>
              <a:chExt cx="2773522" cy="1461060"/>
            </a:xfrm>
          </p:grpSpPr>
          <p:sp>
            <p:nvSpPr>
              <p:cNvPr id="99" name="Прямоугольник 98">
                <a:extLst>
                  <a:ext uri="{FF2B5EF4-FFF2-40B4-BE49-F238E27FC236}">
                    <a16:creationId xmlns:a16="http://schemas.microsoft.com/office/drawing/2014/main" id="{F06EA55D-F299-41A1-85F1-86810AF6F7C2}"/>
                  </a:ext>
                </a:extLst>
              </p:cNvPr>
              <p:cNvSpPr/>
              <p:nvPr/>
            </p:nvSpPr>
            <p:spPr>
              <a:xfrm>
                <a:off x="6796606" y="4700694"/>
                <a:ext cx="2773522" cy="1455047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ru-RU" sz="1400" dirty="0"/>
              </a:p>
            </p:txBody>
          </p:sp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E8473164-07D4-4390-B7EE-550B6F904738}"/>
                  </a:ext>
                </a:extLst>
              </p:cNvPr>
              <p:cNvSpPr txBox="1"/>
              <p:nvPr/>
            </p:nvSpPr>
            <p:spPr>
              <a:xfrm>
                <a:off x="6796606" y="4694681"/>
                <a:ext cx="2773522" cy="416699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ru-RU" sz="1400" dirty="0"/>
                  <a:t>Вспомогательные</a:t>
                </a:r>
              </a:p>
            </p:txBody>
          </p:sp>
          <p:sp>
            <p:nvSpPr>
              <p:cNvPr id="101" name="Прямоугольник: скругленные углы 100">
                <a:extLst>
                  <a:ext uri="{FF2B5EF4-FFF2-40B4-BE49-F238E27FC236}">
                    <a16:creationId xmlns:a16="http://schemas.microsoft.com/office/drawing/2014/main" id="{B10316B9-4CF7-40D5-ADD6-B1DB6762F7D4}"/>
                  </a:ext>
                </a:extLst>
              </p:cNvPr>
              <p:cNvSpPr/>
              <p:nvPr/>
            </p:nvSpPr>
            <p:spPr>
              <a:xfrm>
                <a:off x="6913542" y="5176573"/>
                <a:ext cx="1223329" cy="337352"/>
              </a:xfrm>
              <a:prstGeom prst="roundRect">
                <a:avLst>
                  <a:gd name="adj" fmla="val 50000"/>
                </a:avLst>
              </a:prstGeom>
              <a:ln/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exception</a:t>
                </a:r>
                <a:endParaRPr lang="ru-RU" sz="1400" dirty="0"/>
              </a:p>
            </p:txBody>
          </p:sp>
          <p:sp>
            <p:nvSpPr>
              <p:cNvPr id="102" name="Прямоугольник: скругленные углы 101">
                <a:extLst>
                  <a:ext uri="{FF2B5EF4-FFF2-40B4-BE49-F238E27FC236}">
                    <a16:creationId xmlns:a16="http://schemas.microsoft.com/office/drawing/2014/main" id="{8AEA2FD5-F558-4CB1-B535-B2FB44108ADB}"/>
                  </a:ext>
                </a:extLst>
              </p:cNvPr>
              <p:cNvSpPr/>
              <p:nvPr/>
            </p:nvSpPr>
            <p:spPr>
              <a:xfrm>
                <a:off x="8267663" y="5163065"/>
                <a:ext cx="1145089" cy="337352"/>
              </a:xfrm>
              <a:prstGeom prst="roundRect">
                <a:avLst>
                  <a:gd name="adj" fmla="val 50000"/>
                </a:avLst>
              </a:prstGeom>
              <a:ln/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limits</a:t>
                </a:r>
                <a:endParaRPr lang="ru-RU" sz="1400" dirty="0"/>
              </a:p>
            </p:txBody>
          </p:sp>
          <p:sp>
            <p:nvSpPr>
              <p:cNvPr id="103" name="Прямоугольник: скругленные углы 102">
                <a:extLst>
                  <a:ext uri="{FF2B5EF4-FFF2-40B4-BE49-F238E27FC236}">
                    <a16:creationId xmlns:a16="http://schemas.microsoft.com/office/drawing/2014/main" id="{74F89051-9BA8-4AC0-AD7A-FD4A35783261}"/>
                  </a:ext>
                </a:extLst>
              </p:cNvPr>
              <p:cNvSpPr/>
              <p:nvPr/>
            </p:nvSpPr>
            <p:spPr>
              <a:xfrm>
                <a:off x="6918573" y="5646165"/>
                <a:ext cx="1223329" cy="337352"/>
              </a:xfrm>
              <a:prstGeom prst="roundRect">
                <a:avLst>
                  <a:gd name="adj" fmla="val 50000"/>
                </a:avLst>
              </a:prstGeom>
              <a:ln/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new</a:t>
                </a:r>
                <a:endParaRPr lang="ru-RU" sz="1400" dirty="0"/>
              </a:p>
            </p:txBody>
          </p:sp>
          <p:sp>
            <p:nvSpPr>
              <p:cNvPr id="104" name="Прямоугольник: скругленные углы 103">
                <a:extLst>
                  <a:ext uri="{FF2B5EF4-FFF2-40B4-BE49-F238E27FC236}">
                    <a16:creationId xmlns:a16="http://schemas.microsoft.com/office/drawing/2014/main" id="{969FBCB6-96F1-45CF-98B8-8463D5C1EF52}"/>
                  </a:ext>
                </a:extLst>
              </p:cNvPr>
              <p:cNvSpPr/>
              <p:nvPr/>
            </p:nvSpPr>
            <p:spPr>
              <a:xfrm>
                <a:off x="8207294" y="5646165"/>
                <a:ext cx="1205458" cy="337352"/>
              </a:xfrm>
              <a:prstGeom prst="roundRect">
                <a:avLst>
                  <a:gd name="adj" fmla="val 50000"/>
                </a:avLst>
              </a:prstGeom>
              <a:ln/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typeinfo</a:t>
                </a:r>
                <a:endParaRPr lang="ru-RU" sz="1400" dirty="0"/>
              </a:p>
            </p:txBody>
          </p:sp>
        </p:grpSp>
        <p:sp>
          <p:nvSpPr>
            <p:cNvPr id="106" name="Объект 2">
              <a:extLst>
                <a:ext uri="{FF2B5EF4-FFF2-40B4-BE49-F238E27FC236}">
                  <a16:creationId xmlns:a16="http://schemas.microsoft.com/office/drawing/2014/main" id="{9381EAD2-23FD-4E50-8B70-B9ACC9926E01}"/>
                </a:ext>
              </a:extLst>
            </p:cNvPr>
            <p:cNvSpPr txBox="1">
              <a:spLocks/>
            </p:cNvSpPr>
            <p:nvPr/>
          </p:nvSpPr>
          <p:spPr>
            <a:xfrm>
              <a:off x="1230131" y="6317322"/>
              <a:ext cx="9339117" cy="395941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182880" indent="-182880" algn="l" defTabSz="914400" rtl="0" eaLnBrk="1" latinLnBrk="0" hangingPunct="1">
                <a:lnSpc>
                  <a:spcPct val="95000"/>
                </a:lnSpc>
                <a:spcBef>
                  <a:spcPts val="1400"/>
                </a:spcBef>
                <a:spcAft>
                  <a:spcPts val="200"/>
                </a:spcAft>
                <a:buClr>
                  <a:schemeClr val="accent1"/>
                </a:buClr>
                <a:buSzPct val="80000"/>
                <a:buFont typeface="Arial" pitchFamily="34" charset="0"/>
                <a:buChar char="•"/>
                <a:defRPr sz="1800" kern="1200" spc="1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182880" algn="l" defTabSz="914400" rtl="0" eaLnBrk="1" latinLnBrk="0" hangingPunct="1">
                <a:lnSpc>
                  <a:spcPct val="90000"/>
                </a:lnSpc>
                <a:spcBef>
                  <a:spcPts val="300"/>
                </a:spcBef>
                <a:spcAft>
                  <a:spcPts val="300"/>
                </a:spcAft>
                <a:buClr>
                  <a:schemeClr val="accent1"/>
                </a:buClr>
                <a:buFont typeface="Wingdings 2" pitchFamily="18" charset="2"/>
                <a:buChar char=""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731520" indent="-182880" algn="l" defTabSz="914400" rtl="0" eaLnBrk="1" latinLnBrk="0" hangingPunct="1">
                <a:lnSpc>
                  <a:spcPct val="90000"/>
                </a:lnSpc>
                <a:spcBef>
                  <a:spcPts val="300"/>
                </a:spcBef>
                <a:spcAft>
                  <a:spcPts val="300"/>
                </a:spcAft>
                <a:buClr>
                  <a:schemeClr val="accent1"/>
                </a:buClr>
                <a:buFont typeface="Wingdings 2" pitchFamily="18" charset="2"/>
                <a:buChar char=""/>
                <a:defRPr sz="14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005840" indent="-182880" algn="l" defTabSz="914400" rtl="0" eaLnBrk="1" latinLnBrk="0" hangingPunct="1">
                <a:lnSpc>
                  <a:spcPct val="90000"/>
                </a:lnSpc>
                <a:spcBef>
                  <a:spcPts val="300"/>
                </a:spcBef>
                <a:spcAft>
                  <a:spcPts val="300"/>
                </a:spcAft>
                <a:buClr>
                  <a:schemeClr val="accent1"/>
                </a:buClr>
                <a:buFont typeface="Wingdings 2" pitchFamily="18" charset="2"/>
                <a:buChar char=""/>
                <a:defRPr sz="14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280160" indent="-182880" algn="l" defTabSz="914400" rtl="0" eaLnBrk="1" latinLnBrk="0" hangingPunct="1">
                <a:lnSpc>
                  <a:spcPct val="90000"/>
                </a:lnSpc>
                <a:spcBef>
                  <a:spcPts val="300"/>
                </a:spcBef>
                <a:spcAft>
                  <a:spcPts val="300"/>
                </a:spcAft>
                <a:buClr>
                  <a:schemeClr val="accent1"/>
                </a:buClr>
                <a:buFont typeface="Wingdings 2" pitchFamily="18" charset="2"/>
                <a:buChar char=""/>
                <a:defRPr sz="14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1600000" indent="-228600" algn="l" defTabSz="914400" rtl="0" eaLnBrk="1" latinLnBrk="0" hangingPunct="1">
                <a:lnSpc>
                  <a:spcPct val="90000"/>
                </a:lnSpc>
                <a:spcBef>
                  <a:spcPts val="300"/>
                </a:spcBef>
                <a:spcAft>
                  <a:spcPts val="300"/>
                </a:spcAft>
                <a:buClr>
                  <a:schemeClr val="accent1"/>
                </a:buClr>
                <a:buFont typeface="Wingdings 2" pitchFamily="18" charset="2"/>
                <a:buChar char=""/>
                <a:defRPr sz="14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6pPr>
              <a:lvl7pPr marL="1900000" indent="-228600" algn="l" defTabSz="914400" rtl="0" eaLnBrk="1" latinLnBrk="0" hangingPunct="1">
                <a:lnSpc>
                  <a:spcPct val="90000"/>
                </a:lnSpc>
                <a:spcBef>
                  <a:spcPts val="300"/>
                </a:spcBef>
                <a:spcAft>
                  <a:spcPts val="300"/>
                </a:spcAft>
                <a:buClr>
                  <a:schemeClr val="accent1"/>
                </a:buClr>
                <a:buFont typeface="Wingdings 2" pitchFamily="18" charset="2"/>
                <a:buChar char=""/>
                <a:defRPr sz="14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7pPr>
              <a:lvl8pPr marL="2200000" indent="-228600" algn="l" defTabSz="914400" rtl="0" eaLnBrk="1" latinLnBrk="0" hangingPunct="1">
                <a:lnSpc>
                  <a:spcPct val="90000"/>
                </a:lnSpc>
                <a:spcBef>
                  <a:spcPts val="300"/>
                </a:spcBef>
                <a:spcAft>
                  <a:spcPts val="300"/>
                </a:spcAft>
                <a:buClr>
                  <a:schemeClr val="accent1"/>
                </a:buClr>
                <a:buFont typeface="Wingdings 2" pitchFamily="18" charset="2"/>
                <a:buChar char=""/>
                <a:defRPr sz="14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8pPr>
              <a:lvl9pPr marL="2500000" indent="-228600" algn="l" defTabSz="914400" rtl="0" eaLnBrk="1" latinLnBrk="0" hangingPunct="1">
                <a:lnSpc>
                  <a:spcPct val="90000"/>
                </a:lnSpc>
                <a:spcBef>
                  <a:spcPts val="300"/>
                </a:spcBef>
                <a:spcAft>
                  <a:spcPts val="300"/>
                </a:spcAft>
                <a:buClr>
                  <a:schemeClr val="accent1"/>
                </a:buClr>
                <a:buFont typeface="Wingdings 2" pitchFamily="18" charset="2"/>
                <a:buChar char=""/>
                <a:defRPr sz="14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10000"/>
                </a:lnSpc>
                <a:spcBef>
                  <a:spcPts val="600"/>
                </a:spcBef>
                <a:buNone/>
              </a:pPr>
              <a:r>
                <a:rPr lang="ru-RU" sz="1600" dirty="0"/>
                <a:t>(Перечислены не все заголовочные файлы, но большая их часть)</a:t>
              </a:r>
              <a:endParaRPr lang="en-US" sz="1600" dirty="0"/>
            </a:p>
          </p:txBody>
        </p:sp>
      </p:grpSp>
      <p:pic>
        <p:nvPicPr>
          <p:cNvPr id="88" name="Рисунок 87">
            <a:extLst>
              <a:ext uri="{FF2B5EF4-FFF2-40B4-BE49-F238E27FC236}">
                <a16:creationId xmlns:a16="http://schemas.microsoft.com/office/drawing/2014/main" id="{3F4A72AF-D19F-4B62-BF74-9A8FBC5C03A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r="64245" b="19910"/>
          <a:stretch/>
        </p:blipFill>
        <p:spPr>
          <a:xfrm>
            <a:off x="11292840" y="-3660"/>
            <a:ext cx="916940" cy="770229"/>
          </a:xfrm>
          <a:prstGeom prst="rect">
            <a:avLst/>
          </a:prstGeom>
          <a:solidFill>
            <a:schemeClr val="bg2"/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2523814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</TotalTime>
  <Words>3159</Words>
  <Application>Microsoft Office PowerPoint</Application>
  <PresentationFormat>Widescreen</PresentationFormat>
  <Paragraphs>514</Paragraphs>
  <Slides>28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3" baseType="lpstr">
      <vt:lpstr>Arial</vt:lpstr>
      <vt:lpstr>Calibri</vt:lpstr>
      <vt:lpstr>Calibri Light</vt:lpstr>
      <vt:lpstr>Consolas</vt:lpstr>
      <vt:lpstr>Тема Office</vt:lpstr>
      <vt:lpstr>Программирование на C++ и Python</vt:lpstr>
      <vt:lpstr>Цели курса</vt:lpstr>
      <vt:lpstr>Программа курса</vt:lpstr>
      <vt:lpstr>Зачем изучать C++   ?</vt:lpstr>
      <vt:lpstr>Как мы будем изучать C++</vt:lpstr>
      <vt:lpstr>Ресурсы по C++</vt:lpstr>
      <vt:lpstr>Ресурсы по нашему курсу</vt:lpstr>
      <vt:lpstr>C++ быстрый старт</vt:lpstr>
      <vt:lpstr>Hello, student!</vt:lpstr>
      <vt:lpstr>Потоки ввода-вывода</vt:lpstr>
      <vt:lpstr>Пример: чтение файла</vt:lpstr>
      <vt:lpstr>Чтение из файла</vt:lpstr>
      <vt:lpstr>Пример: строковый поток</vt:lpstr>
      <vt:lpstr>Отступление: pair и tuple</vt:lpstr>
      <vt:lpstr>Отступление: pair и tuple</vt:lpstr>
      <vt:lpstr>Передача аргументов I</vt:lpstr>
      <vt:lpstr>Передача аргументов II</vt:lpstr>
      <vt:lpstr>std::string</vt:lpstr>
      <vt:lpstr>std::vector</vt:lpstr>
      <vt:lpstr>Итерирование</vt:lpstr>
      <vt:lpstr>Заключительный пример</vt:lpstr>
      <vt:lpstr>Считываем данные</vt:lpstr>
      <vt:lpstr>Перегрузка операторов</vt:lpstr>
      <vt:lpstr>Основная логика программы</vt:lpstr>
      <vt:lpstr>main</vt:lpstr>
      <vt:lpstr>Заключение</vt:lpstr>
      <vt:lpstr>Backup</vt:lpstr>
      <vt:lpstr>Стандартная библиотека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Никита Охотников</dc:creator>
  <cp:lastModifiedBy>Никита Охотников</cp:lastModifiedBy>
  <cp:revision>7</cp:revision>
  <dcterms:created xsi:type="dcterms:W3CDTF">2025-09-03T23:08:50Z</dcterms:created>
  <dcterms:modified xsi:type="dcterms:W3CDTF">2026-09-03T05:31:48Z</dcterms:modified>
</cp:coreProperties>
</file>