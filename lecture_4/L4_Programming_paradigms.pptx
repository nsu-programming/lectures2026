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7" r:id="rId2"/>
    <p:sldId id="326" r:id="rId3"/>
    <p:sldId id="359" r:id="rId4"/>
    <p:sldId id="361" r:id="rId5"/>
    <p:sldId id="353" r:id="rId6"/>
    <p:sldId id="355" r:id="rId7"/>
    <p:sldId id="362" r:id="rId8"/>
    <p:sldId id="363" r:id="rId9"/>
    <p:sldId id="364" r:id="rId10"/>
    <p:sldId id="381" r:id="rId11"/>
    <p:sldId id="382" r:id="rId12"/>
    <p:sldId id="383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56" r:id="rId23"/>
    <p:sldId id="374" r:id="rId24"/>
    <p:sldId id="375" r:id="rId25"/>
    <p:sldId id="376" r:id="rId26"/>
    <p:sldId id="378" r:id="rId27"/>
    <p:sldId id="377" r:id="rId28"/>
    <p:sldId id="325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F6855-BD1B-41D7-A116-2AED496DFC6B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363-011B-45B1-9051-AB674AE261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36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8AE16-BBAD-D1A3-DC43-EFA543D73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9C33C2-745F-8598-0505-47D65E59E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0654A-0CBD-7B1F-E594-EEE92AE3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B4D139-E9E6-EF49-F095-86C70672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24D762-CED8-6E25-9D86-698FAB84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90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1936C59-3A96-481F-8644-EB41A6C92C2A}"/>
              </a:ext>
            </a:extLst>
          </p:cNvPr>
          <p:cNvSpPr/>
          <p:nvPr userDrawn="1"/>
        </p:nvSpPr>
        <p:spPr>
          <a:xfrm>
            <a:off x="11463058" y="0"/>
            <a:ext cx="72894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BBCFE-B6F4-1C39-EEA6-A586561B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62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B070D-432C-E52E-F557-A7E21A39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3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3D0869-84F3-7F04-EE71-02759646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233004" y="735747"/>
            <a:ext cx="1189038" cy="4477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30.10.2025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E14F1A-5FD3-C2F4-BC82-68C7FBC8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051" y="6231420"/>
            <a:ext cx="728941" cy="626580"/>
          </a:xfrm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fld id="{AA295499-41D7-4CFD-B89A-D819E824B9F7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39E881AE-1FC5-6C05-6172-119698C2F6A1}"/>
              </a:ext>
            </a:extLst>
          </p:cNvPr>
          <p:cNvCxnSpPr>
            <a:cxnSpLocks/>
          </p:cNvCxnSpPr>
          <p:nvPr userDrawn="1"/>
        </p:nvCxnSpPr>
        <p:spPr>
          <a:xfrm>
            <a:off x="1146305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AE226A-354C-F68D-1563-1F9656E3FE9E}"/>
              </a:ext>
            </a:extLst>
          </p:cNvPr>
          <p:cNvSpPr txBox="1"/>
          <p:nvPr userDrawn="1"/>
        </p:nvSpPr>
        <p:spPr>
          <a:xfrm rot="16200000">
            <a:off x="9477860" y="3611436"/>
            <a:ext cx="46993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</a:rPr>
              <a:t>Программирование на C++ и Python</a:t>
            </a:r>
            <a:br>
              <a:rPr lang="en-US" sz="1600" dirty="0">
                <a:solidFill>
                  <a:schemeClr val="bg1"/>
                </a:solidFill>
              </a:rPr>
            </a:br>
            <a:endParaRPr lang="ru-RU" sz="1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97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0CF869-F21B-71D2-E3DE-C018CBD8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C77452-3027-F0A8-CDFF-DA3F0A12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FEC625-A462-C205-7482-9F4DBD97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4AE46E-EB40-0B37-96BD-EB15C77C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7D0C4-D203-FC30-FB98-F1D8B32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3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2852-8E51-11BE-414A-B36FD941B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C4719F-10B9-DA0A-5647-68A49F170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39CF65-2FA4-CD54-68CB-B5DF48A24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19FC6B-2C01-9AC1-7F77-CF883B44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CD37D3-272C-126C-3AE3-7A2BF2B9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2D7104-3143-1914-EB00-75240C8D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28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59D350-6650-4230-2C24-5AA41F99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D3AA37F-C35E-B5BD-B599-663017C8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5D2E35-32EE-7D48-6150-7A5A1C0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A7D305-FC41-2309-1D16-C9966E867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1C4AE0-CC76-ED4C-B30F-7C3A962E1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BEB116-E85A-D3D0-A6A8-D5849382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DB91292-89FA-9C81-B8AF-8A0BD5BAD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09CAD4-09BC-B0D1-E9A5-1391BA6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99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B5A7-8B8E-8CF0-ABA9-59443B868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0E187F-2CCF-2E5B-241A-C185A03B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92E1A2-E283-FBA5-ECF3-E90DCE8C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96CB76-96C3-317A-99A5-C70A8375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345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6921E4-0E1D-C227-2AC4-CD819D99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A481B8-E31C-596A-9CB6-0DFE2D85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823AE-F92F-E679-6BC0-03292BA7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8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84C8A-4370-58D9-D99F-C6CCBD14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895E1D-9CAF-AADA-34EF-DC23B2A1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02D01-A0BB-FE90-DC2A-FCC99F29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E2733E-4D04-D4D5-6EC3-0748B3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B55313-569A-84B6-3EAD-A29FCC4D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36D104-B96B-B038-C318-E3FE4B4E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444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4DF8D-BE07-49DE-3C71-D2219777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984278-F30E-C86B-49DC-475EA866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0E636-3328-EDB0-D285-C4BD9B491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DE3915-036A-B3A8-007B-9AE5194F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369358-5D57-A13F-A4FB-23FBA12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6BCB19-CA33-2D75-2A2D-4148AB63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702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1A243-7AED-58FF-676F-5BB1709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792A23-65DB-772C-70A5-66E4B7F7E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11E15E-BD04-5A66-DFD1-D0643B34E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8C9516-5908-6BAC-D6E2-57B080258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4BEF3-9E51-88F0-F88F-D18D941DC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9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1A639B-D77B-4792-F4B1-88AD0532B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0CDAB-CFF4-3D79-96B5-E8B28D7D0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C314E-BF64-8E54-265F-3FABCA10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8DF63-7FB3-9558-BD26-CD592024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A87AB-8C03-2009-8687-9C24E04F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29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A6F8B-FC94-F820-1AC8-82DD0416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79B613-6163-C7D7-79D6-1D2494A99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EB643E-8399-502E-FBF6-F9AD2545B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30.10.2025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C9574-2826-4529-8FA9-747903CF3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5BBA-D3AD-7247-17DD-766ADE4AC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95499-41D7-4CFD-B89A-D819E824B9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76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1.png"/><Relationship Id="rId7" Type="http://schemas.openxmlformats.org/officeDocument/2006/relationships/image" Target="../media/image1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1.png"/><Relationship Id="rId4" Type="http://schemas.openxmlformats.org/officeDocument/2006/relationships/image" Target="../media/image91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7849-212E-49B2-B839-A3FA895F7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5485" y="2676387"/>
            <a:ext cx="10096107" cy="111807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Программирование на </a:t>
            </a:r>
            <a:r>
              <a:rPr lang="en-US" sz="3200" i="1" dirty="0"/>
              <a:t>C++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3200" dirty="0"/>
              <a:t>Python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0E9277-D821-46E7-ABB5-7C51AE689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3950563"/>
            <a:ext cx="7602903" cy="1961966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1800"/>
              </a:spcBef>
            </a:pPr>
            <a:r>
              <a:rPr lang="ru-RU" sz="2000" dirty="0">
                <a:solidFill>
                  <a:schemeClr val="tx2"/>
                </a:solidFill>
              </a:rPr>
              <a:t>Лекция 4</a:t>
            </a: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Наследование и полиморфизм. </a:t>
            </a:r>
            <a:endParaRPr lang="en-US" sz="280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ru-RU" sz="2800" dirty="0">
                <a:solidFill>
                  <a:schemeClr val="tx2"/>
                </a:solidFill>
              </a:rPr>
              <a:t>Обобщенное программирование. Функциональное программирование</a:t>
            </a:r>
            <a:endParaRPr lang="en-US" sz="280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</a:pPr>
            <a:r>
              <a:rPr lang="ru-RU" sz="2000" dirty="0">
                <a:solidFill>
                  <a:schemeClr val="tx2"/>
                </a:solidFill>
              </a:rPr>
              <a:t>Охотников Никита Викторович (ИЯФ СО РАН, НГУ)</a:t>
            </a:r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72D59F5D-7420-47B3-A9BA-2C3A05F4230A}"/>
              </a:ext>
            </a:extLst>
          </p:cNvPr>
          <p:cNvSpPr txBox="1">
            <a:spLocks/>
          </p:cNvSpPr>
          <p:nvPr/>
        </p:nvSpPr>
        <p:spPr>
          <a:xfrm>
            <a:off x="443882" y="6049149"/>
            <a:ext cx="11748118" cy="6140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>
                <a:solidFill>
                  <a:schemeClr val="tx2"/>
                </a:solidFill>
              </a:rPr>
              <a:t>Новосибирск, </a:t>
            </a:r>
            <a:r>
              <a:rPr lang="en-US" sz="1800" dirty="0">
                <a:solidFill>
                  <a:schemeClr val="tx2"/>
                </a:solidFill>
              </a:rPr>
              <a:t>15 </a:t>
            </a:r>
            <a:r>
              <a:rPr lang="ru-RU" sz="1800" dirty="0">
                <a:solidFill>
                  <a:schemeClr val="tx2"/>
                </a:solidFill>
              </a:rPr>
              <a:t>октября 20</a:t>
            </a:r>
            <a:r>
              <a:rPr lang="en-US" sz="1800" dirty="0">
                <a:solidFill>
                  <a:schemeClr val="tx2"/>
                </a:solidFill>
              </a:rPr>
              <a:t>2</a:t>
            </a:r>
            <a:r>
              <a:rPr lang="ru-RU" sz="1800" dirty="0">
                <a:solidFill>
                  <a:schemeClr val="tx2"/>
                </a:solidFill>
              </a:rPr>
              <a:t>6</a:t>
            </a: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D4E2AF-1ED1-4F30-B7A9-C2A200E720C9}"/>
              </a:ext>
            </a:extLst>
          </p:cNvPr>
          <p:cNvGrpSpPr/>
          <p:nvPr/>
        </p:nvGrpSpPr>
        <p:grpSpPr>
          <a:xfrm>
            <a:off x="2695193" y="1287263"/>
            <a:ext cx="6990345" cy="1233026"/>
            <a:chOff x="2581523" y="1287263"/>
            <a:chExt cx="6990345" cy="1233026"/>
          </a:xfrm>
          <a:solidFill>
            <a:schemeClr val="bg1"/>
          </a:solidFill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FA89B05-D9C6-4C73-AE17-A2AA2B920F8D}"/>
                </a:ext>
              </a:extLst>
            </p:cNvPr>
            <p:cNvSpPr/>
            <p:nvPr/>
          </p:nvSpPr>
          <p:spPr>
            <a:xfrm>
              <a:off x="2581523" y="1287263"/>
              <a:ext cx="6990345" cy="1233026"/>
            </a:xfrm>
            <a:prstGeom prst="roundRect">
              <a:avLst/>
            </a:prstGeom>
            <a:grpFill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7FCDF20-ECB9-46B9-B36E-570C9B9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9260" y="1437301"/>
              <a:ext cx="2466328" cy="924871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8388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803-2AE8-4810-A315-6CC6EEE9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0FFD-BE2C-4C3E-B5B4-C8490B05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</a:t>
            </a:fld>
            <a:endParaRPr lang="ru-R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3C8F00-C07C-4347-BFAA-CBE70235DEB8}"/>
              </a:ext>
            </a:extLst>
          </p:cNvPr>
          <p:cNvGrpSpPr/>
          <p:nvPr/>
        </p:nvGrpSpPr>
        <p:grpSpPr>
          <a:xfrm>
            <a:off x="5648328" y="1855187"/>
            <a:ext cx="4988691" cy="2729511"/>
            <a:chOff x="5517700" y="2346178"/>
            <a:chExt cx="4988691" cy="27295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2220BA-8B7F-4318-8978-E2B7EC6B55F8}"/>
                </a:ext>
              </a:extLst>
            </p:cNvPr>
            <p:cNvSpPr/>
            <p:nvPr/>
          </p:nvSpPr>
          <p:spPr>
            <a:xfrm>
              <a:off x="7007192" y="2346178"/>
              <a:ext cx="1800808" cy="50137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Expression</a:t>
              </a:r>
              <a:endParaRPr lang="ru-RU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B705E1D-0CC1-41AC-AD4D-79B2131BDF3F}"/>
                </a:ext>
              </a:extLst>
            </p:cNvPr>
            <p:cNvSpPr/>
            <p:nvPr/>
          </p:nvSpPr>
          <p:spPr>
            <a:xfrm>
              <a:off x="5517700" y="3149115"/>
              <a:ext cx="1800808" cy="7495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Unary expression</a:t>
              </a:r>
              <a:endParaRPr lang="ru-RU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D15E07-1DFB-4F1C-B59F-F8C56D565AE8}"/>
                </a:ext>
              </a:extLst>
            </p:cNvPr>
            <p:cNvSpPr/>
            <p:nvPr/>
          </p:nvSpPr>
          <p:spPr>
            <a:xfrm>
              <a:off x="8653886" y="3149115"/>
              <a:ext cx="1800808" cy="74956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Binary expression</a:t>
              </a:r>
              <a:endParaRPr lang="ru-RU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4F3AE06-ABD1-4478-8A2C-9064349744C0}"/>
                </a:ext>
              </a:extLst>
            </p:cNvPr>
            <p:cNvCxnSpPr>
              <a:stCxn id="6" idx="2"/>
              <a:endCxn id="21" idx="0"/>
            </p:cNvCxnSpPr>
            <p:nvPr/>
          </p:nvCxnSpPr>
          <p:spPr>
            <a:xfrm flipH="1">
              <a:off x="6418104" y="2847550"/>
              <a:ext cx="1489492" cy="30156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5704EB0-65B0-4B79-BD94-52B7A57C3B71}"/>
                </a:ext>
              </a:extLst>
            </p:cNvPr>
            <p:cNvCxnSpPr>
              <a:cxnSpLocks/>
              <a:stCxn id="6" idx="2"/>
              <a:endCxn id="22" idx="0"/>
            </p:cNvCxnSpPr>
            <p:nvPr/>
          </p:nvCxnSpPr>
          <p:spPr>
            <a:xfrm>
              <a:off x="7907596" y="2847550"/>
              <a:ext cx="1646694" cy="30156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EFEC982-1BA1-4CDC-B004-CF63DA05C374}"/>
                </a:ext>
              </a:extLst>
            </p:cNvPr>
            <p:cNvCxnSpPr>
              <a:cxnSpLocks/>
              <a:stCxn id="21" idx="2"/>
              <a:endCxn id="46" idx="0"/>
            </p:cNvCxnSpPr>
            <p:nvPr/>
          </p:nvCxnSpPr>
          <p:spPr>
            <a:xfrm flipH="1">
              <a:off x="5527328" y="3898675"/>
              <a:ext cx="890776" cy="72277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9AFC7A4-8E59-4C0E-9C32-896BEA4339EC}"/>
                </a:ext>
              </a:extLst>
            </p:cNvPr>
            <p:cNvCxnSpPr>
              <a:cxnSpLocks/>
              <a:stCxn id="21" idx="2"/>
              <a:endCxn id="37" idx="0"/>
            </p:cNvCxnSpPr>
            <p:nvPr/>
          </p:nvCxnSpPr>
          <p:spPr>
            <a:xfrm flipH="1">
              <a:off x="6310473" y="3898675"/>
              <a:ext cx="107631" cy="71780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04544D-88E9-4930-937F-9A004DDAE4F8}"/>
                </a:ext>
              </a:extLst>
            </p:cNvPr>
            <p:cNvCxnSpPr>
              <a:cxnSpLocks/>
              <a:stCxn id="21" idx="2"/>
              <a:endCxn id="38" idx="0"/>
            </p:cNvCxnSpPr>
            <p:nvPr/>
          </p:nvCxnSpPr>
          <p:spPr>
            <a:xfrm>
              <a:off x="6418104" y="3898675"/>
              <a:ext cx="652617" cy="72686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FAC5C21-598A-47EE-986D-2460E1C7738D}"/>
                </a:ext>
              </a:extLst>
            </p:cNvPr>
            <p:cNvCxnSpPr>
              <a:cxnSpLocks/>
              <a:stCxn id="22" idx="2"/>
              <a:endCxn id="41" idx="0"/>
            </p:cNvCxnSpPr>
            <p:nvPr/>
          </p:nvCxnSpPr>
          <p:spPr>
            <a:xfrm flipH="1">
              <a:off x="8301059" y="3898675"/>
              <a:ext cx="1253231" cy="72686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81131A1-BFC4-4F9B-B191-62536306AB5F}"/>
                </a:ext>
              </a:extLst>
            </p:cNvPr>
            <p:cNvCxnSpPr>
              <a:cxnSpLocks/>
              <a:stCxn id="22" idx="2"/>
              <a:endCxn id="43" idx="0"/>
            </p:cNvCxnSpPr>
            <p:nvPr/>
          </p:nvCxnSpPr>
          <p:spPr>
            <a:xfrm flipH="1">
              <a:off x="8913070" y="3898675"/>
              <a:ext cx="641220" cy="117701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A72E85D-CF61-4C1F-94C1-42D23E56FA57}"/>
                </a:ext>
              </a:extLst>
            </p:cNvPr>
            <p:cNvCxnSpPr>
              <a:cxnSpLocks/>
              <a:stCxn id="22" idx="2"/>
              <a:endCxn id="44" idx="0"/>
            </p:cNvCxnSpPr>
            <p:nvPr/>
          </p:nvCxnSpPr>
          <p:spPr>
            <a:xfrm>
              <a:off x="9554290" y="3898675"/>
              <a:ext cx="69250" cy="72685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993F787-3B5C-4DFC-85AF-1B00DF73817A}"/>
                </a:ext>
              </a:extLst>
            </p:cNvPr>
            <p:cNvCxnSpPr>
              <a:cxnSpLocks/>
              <a:stCxn id="22" idx="2"/>
              <a:endCxn id="40" idx="0"/>
            </p:cNvCxnSpPr>
            <p:nvPr/>
          </p:nvCxnSpPr>
          <p:spPr>
            <a:xfrm>
              <a:off x="9554290" y="3898675"/>
              <a:ext cx="952101" cy="1177013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2B30526-5C4B-48D8-A567-4FE443451C9E}"/>
                </a:ext>
              </a:extLst>
            </p:cNvPr>
            <p:cNvCxnSpPr>
              <a:cxnSpLocks/>
              <a:stCxn id="6" idx="2"/>
              <a:endCxn id="28" idx="0"/>
            </p:cNvCxnSpPr>
            <p:nvPr/>
          </p:nvCxnSpPr>
          <p:spPr>
            <a:xfrm>
              <a:off x="7907596" y="2847550"/>
              <a:ext cx="81898" cy="83730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88B7AA9-2697-416B-8E98-7B8A31AE1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71367"/>
            <a:ext cx="3816303" cy="4300833"/>
          </a:xfrm>
        </p:spPr>
        <p:txBody>
          <a:bodyPr>
            <a:normAutofit/>
          </a:bodyPr>
          <a:lstStyle/>
          <a:p>
            <a:r>
              <a:rPr lang="ru-RU" sz="1600" dirty="0"/>
              <a:t>Классы могут образовывать иерархии</a:t>
            </a:r>
            <a:r>
              <a:rPr lang="en-US" sz="1600" dirty="0"/>
              <a:t>. </a:t>
            </a:r>
            <a:r>
              <a:rPr lang="ru-RU" sz="1600" dirty="0"/>
              <a:t>В ООП такие связи выражаются с помощью наследования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Публичное наследование в </a:t>
            </a:r>
            <a:r>
              <a:rPr lang="en-US" sz="1600" i="1" dirty="0">
                <a:solidFill>
                  <a:srgbClr val="C00000"/>
                </a:solidFill>
              </a:rPr>
              <a:t>C++</a:t>
            </a:r>
            <a:r>
              <a:rPr lang="ru-RU" sz="1600" dirty="0"/>
              <a:t> выражает включение множеств</a:t>
            </a:r>
            <a:r>
              <a:rPr lang="en-US" sz="1600" dirty="0"/>
              <a:t>: </a:t>
            </a:r>
            <a:r>
              <a:rPr lang="ru-RU" sz="1600" dirty="0"/>
              <a:t>каждый объект класса-наследника также является объектом класса-предка 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Пример</a:t>
            </a:r>
            <a:r>
              <a:rPr lang="ru-RU" sz="1600" dirty="0"/>
              <a:t>: множество унарных операторов является </a:t>
            </a:r>
            <a:r>
              <a:rPr lang="ru-RU" sz="1600" i="1" dirty="0"/>
              <a:t>подмножеством</a:t>
            </a:r>
            <a:r>
              <a:rPr lang="ru-RU" sz="1600" dirty="0"/>
              <a:t> всех операторов. Другими словами, </a:t>
            </a:r>
            <a:r>
              <a:rPr lang="ru-RU" sz="1600" i="1" dirty="0"/>
              <a:t>любой</a:t>
            </a:r>
            <a:r>
              <a:rPr lang="ru-RU" sz="1600" dirty="0"/>
              <a:t> унарный оператор </a:t>
            </a:r>
            <a:r>
              <a:rPr lang="ru-RU" sz="1600" i="1" dirty="0"/>
              <a:t>является</a:t>
            </a:r>
            <a:r>
              <a:rPr lang="ru-RU" sz="1600" dirty="0"/>
              <a:t> оператором. В таких ситуациях стоит применять наследование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A304BDE-580B-41E7-894E-0EEEA0464D48}"/>
                  </a:ext>
                </a:extLst>
              </p:cNvPr>
              <p:cNvSpPr/>
              <p:nvPr/>
            </p:nvSpPr>
            <p:spPr>
              <a:xfrm>
                <a:off x="7907899" y="3193859"/>
                <a:ext cx="424446" cy="38550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A304BDE-580B-41E7-894E-0EEEA0464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899" y="3193859"/>
                <a:ext cx="424446" cy="385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E71BE2E-7DE9-43C3-BDEF-11972246E5DE}"/>
                  </a:ext>
                </a:extLst>
              </p:cNvPr>
              <p:cNvSpPr/>
              <p:nvPr/>
            </p:nvSpPr>
            <p:spPr>
              <a:xfrm>
                <a:off x="6101824" y="4125489"/>
                <a:ext cx="678554" cy="3518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/>
                  <a:t>++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E71BE2E-7DE9-43C3-BDEF-11972246E5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824" y="4125489"/>
                <a:ext cx="678554" cy="351865"/>
              </a:xfrm>
              <a:prstGeom prst="rect">
                <a:avLst/>
              </a:prstGeom>
              <a:blipFill>
                <a:blip r:embed="rId3"/>
                <a:stretch>
                  <a:fillRect l="-2655" t="-10169" b="-288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062CF05-5678-442D-989D-1CFCBB2DF952}"/>
                  </a:ext>
                </a:extLst>
              </p:cNvPr>
              <p:cNvSpPr/>
              <p:nvPr/>
            </p:nvSpPr>
            <p:spPr>
              <a:xfrm>
                <a:off x="6904390" y="4134544"/>
                <a:ext cx="593918" cy="3518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&amp;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062CF05-5678-442D-989D-1CFCBB2DF9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390" y="4134544"/>
                <a:ext cx="593918" cy="351865"/>
              </a:xfrm>
              <a:prstGeom prst="rect">
                <a:avLst/>
              </a:prstGeom>
              <a:blipFill>
                <a:blip r:embed="rId4"/>
                <a:stretch>
                  <a:fillRect l="-3030" t="-8333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5CA297A-8F28-4ABF-AFB2-C8F8944A9A75}"/>
                  </a:ext>
                </a:extLst>
              </p:cNvPr>
              <p:cNvSpPr/>
              <p:nvPr/>
            </p:nvSpPr>
            <p:spPr>
              <a:xfrm>
                <a:off x="10156107" y="4584697"/>
                <a:ext cx="961823" cy="380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5CA297A-8F28-4ABF-AFB2-C8F8944A9A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6107" y="4584697"/>
                <a:ext cx="961823" cy="3802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BFB803B-7655-4CE0-9109-21CB96FF6726}"/>
                  </a:ext>
                </a:extLst>
              </p:cNvPr>
              <p:cNvSpPr/>
              <p:nvPr/>
            </p:nvSpPr>
            <p:spPr>
              <a:xfrm>
                <a:off x="7950775" y="4134544"/>
                <a:ext cx="961824" cy="3518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BFB803B-7655-4CE0-9109-21CB96FF6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775" y="4134544"/>
                <a:ext cx="961824" cy="351865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DB23013-BDEF-4A17-AF2F-2EC8373BEFA7}"/>
                  </a:ext>
                </a:extLst>
              </p:cNvPr>
              <p:cNvSpPr/>
              <p:nvPr/>
            </p:nvSpPr>
            <p:spPr>
              <a:xfrm>
                <a:off x="8585204" y="4584698"/>
                <a:ext cx="916988" cy="38023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DB23013-BDEF-4A17-AF2F-2EC8373BEF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5204" y="4584698"/>
                <a:ext cx="916988" cy="3802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34B98D5-7A26-427C-90AC-3AF599647698}"/>
                  </a:ext>
                </a:extLst>
              </p:cNvPr>
              <p:cNvSpPr/>
              <p:nvPr/>
            </p:nvSpPr>
            <p:spPr>
              <a:xfrm>
                <a:off x="9375499" y="4134543"/>
                <a:ext cx="757338" cy="3518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34B98D5-7A26-427C-90AC-3AF599647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499" y="4134543"/>
                <a:ext cx="757338" cy="351865"/>
              </a:xfrm>
              <a:prstGeom prst="rect">
                <a:avLst/>
              </a:prstGeom>
              <a:blipFill>
                <a:blip r:embed="rId8"/>
                <a:stretch>
                  <a:fillRect l="-794" b="-1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FDB2E34-369F-4CDC-B9F0-A1B7A60B4E31}"/>
                  </a:ext>
                </a:extLst>
              </p:cNvPr>
              <p:cNvSpPr/>
              <p:nvPr/>
            </p:nvSpPr>
            <p:spPr>
              <a:xfrm>
                <a:off x="5360996" y="4130461"/>
                <a:ext cx="593919" cy="35186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i="1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FDB2E34-369F-4CDC-B9F0-A1B7A60B4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996" y="4130461"/>
                <a:ext cx="593919" cy="3518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56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2803-2AE8-4810-A315-6CC6EEE9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C0FFD-BE2C-4C3E-B5B4-C8490B05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3</a:t>
            </a:fld>
            <a:endParaRPr lang="ru-R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831364-F0FF-4713-9BD4-A22239211A35}"/>
              </a:ext>
            </a:extLst>
          </p:cNvPr>
          <p:cNvGrpSpPr/>
          <p:nvPr/>
        </p:nvGrpSpPr>
        <p:grpSpPr>
          <a:xfrm>
            <a:off x="5211838" y="1466773"/>
            <a:ext cx="5718290" cy="4448836"/>
            <a:chOff x="5236222" y="365760"/>
            <a:chExt cx="5718290" cy="4448836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8E97DFB-FB67-4F40-ACD0-72BF025ABA5A}"/>
                </a:ext>
              </a:extLst>
            </p:cNvPr>
            <p:cNvSpPr/>
            <p:nvPr/>
          </p:nvSpPr>
          <p:spPr>
            <a:xfrm>
              <a:off x="5236222" y="365760"/>
              <a:ext cx="5718290" cy="4448836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0A22BFF-DDE6-4A62-878D-660D38F0FC0B}"/>
                </a:ext>
              </a:extLst>
            </p:cNvPr>
            <p:cNvSpPr/>
            <p:nvPr/>
          </p:nvSpPr>
          <p:spPr>
            <a:xfrm>
              <a:off x="6156155" y="496241"/>
              <a:ext cx="3878424" cy="1721351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D609DCC-EB3C-4687-B79E-12B1441F3E47}"/>
                </a:ext>
              </a:extLst>
            </p:cNvPr>
            <p:cNvSpPr/>
            <p:nvPr/>
          </p:nvSpPr>
          <p:spPr>
            <a:xfrm>
              <a:off x="6195690" y="2310412"/>
              <a:ext cx="3878424" cy="1804387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C57925E-C521-45BA-BE72-CD6B4F7EEF18}"/>
                    </a:ext>
                  </a:extLst>
                </p:cNvPr>
                <p:cNvSpPr/>
                <p:nvPr/>
              </p:nvSpPr>
              <p:spPr>
                <a:xfrm>
                  <a:off x="5620634" y="2162161"/>
                  <a:ext cx="424446" cy="38550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C57925E-C521-45BA-BE72-CD6B4F7EEF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0634" y="2162161"/>
                  <a:ext cx="424446" cy="38550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0CC08FA-8E59-45B0-9D04-DF8514C12595}"/>
                </a:ext>
              </a:extLst>
            </p:cNvPr>
            <p:cNvSpPr txBox="1"/>
            <p:nvPr/>
          </p:nvSpPr>
          <p:spPr>
            <a:xfrm>
              <a:off x="7382255" y="4280031"/>
              <a:ext cx="14108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Expression</a:t>
              </a:r>
              <a:endParaRPr lang="ru-RU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864B2B-59CB-4B62-A6C8-94F18B4F5957}"/>
                </a:ext>
              </a:extLst>
            </p:cNvPr>
            <p:cNvSpPr txBox="1"/>
            <p:nvPr/>
          </p:nvSpPr>
          <p:spPr>
            <a:xfrm>
              <a:off x="7068739" y="3652074"/>
              <a:ext cx="21438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Binary expression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7EFDA3-CEC3-4161-A3B7-FFB56897C096}"/>
                </a:ext>
              </a:extLst>
            </p:cNvPr>
            <p:cNvSpPr txBox="1"/>
            <p:nvPr/>
          </p:nvSpPr>
          <p:spPr>
            <a:xfrm>
              <a:off x="7012753" y="1784142"/>
              <a:ext cx="20907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Unary expression</a:t>
              </a:r>
              <a:endParaRPr lang="ru-RU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CBC8F08-9D5D-4660-9C61-14C9CB0E148C}"/>
                    </a:ext>
                  </a:extLst>
                </p:cNvPr>
                <p:cNvSpPr/>
                <p:nvPr/>
              </p:nvSpPr>
              <p:spPr>
                <a:xfrm>
                  <a:off x="7585272" y="939323"/>
                  <a:ext cx="678554" cy="3887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0" dirty="0"/>
                    <a:t>++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CBC8F08-9D5D-4660-9C61-14C9CB0E1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5272" y="939323"/>
                  <a:ext cx="678554" cy="388755"/>
                </a:xfrm>
                <a:prstGeom prst="rect">
                  <a:avLst/>
                </a:prstGeom>
                <a:blipFill>
                  <a:blip r:embed="rId3"/>
                  <a:stretch>
                    <a:fillRect l="-1754" t="-4615" b="-2153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A49428E-AFEA-4B9A-ABB9-86B105E6F044}"/>
                    </a:ext>
                  </a:extLst>
                </p:cNvPr>
                <p:cNvSpPr/>
                <p:nvPr/>
              </p:nvSpPr>
              <p:spPr>
                <a:xfrm>
                  <a:off x="8649110" y="1081851"/>
                  <a:ext cx="593918" cy="38875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&amp;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A49428E-AFEA-4B9A-ABB9-86B105E6F0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9110" y="1081851"/>
                  <a:ext cx="593918" cy="388755"/>
                </a:xfrm>
                <a:prstGeom prst="rect">
                  <a:avLst/>
                </a:prstGeom>
                <a:blipFill>
                  <a:blip r:embed="rId4"/>
                  <a:stretch>
                    <a:fillRect l="-3030" t="-4545" b="-19697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BFFC666-9386-4722-87CF-AD2879668A77}"/>
                    </a:ext>
                  </a:extLst>
                </p:cNvPr>
                <p:cNvSpPr/>
                <p:nvPr/>
              </p:nvSpPr>
              <p:spPr>
                <a:xfrm>
                  <a:off x="6623449" y="3201906"/>
                  <a:ext cx="961823" cy="38023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1BFFC666-9386-4722-87CF-AD2879668A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449" y="3201906"/>
                  <a:ext cx="961823" cy="3802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6468111B-F7BA-4680-99C0-4F5D29EF47D7}"/>
                    </a:ext>
                  </a:extLst>
                </p:cNvPr>
                <p:cNvSpPr/>
                <p:nvPr/>
              </p:nvSpPr>
              <p:spPr>
                <a:xfrm>
                  <a:off x="7012754" y="2638826"/>
                  <a:ext cx="961824" cy="38023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6468111B-F7BA-4680-99C0-4F5D29EF47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2754" y="2638826"/>
                  <a:ext cx="961824" cy="3802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2FDFBBE-BD27-4AE0-9122-B0AC8B04C34A}"/>
                    </a:ext>
                  </a:extLst>
                </p:cNvPr>
                <p:cNvSpPr/>
                <p:nvPr/>
              </p:nvSpPr>
              <p:spPr>
                <a:xfrm>
                  <a:off x="8164055" y="2547664"/>
                  <a:ext cx="916988" cy="38023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E2FDFBBE-BD27-4AE0-9122-B0AC8B04C3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4055" y="2547664"/>
                  <a:ext cx="916988" cy="3802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D94755B-989F-4384-A697-45C1EC099349}"/>
                    </a:ext>
                  </a:extLst>
                </p:cNvPr>
                <p:cNvSpPr/>
                <p:nvPr/>
              </p:nvSpPr>
              <p:spPr>
                <a:xfrm>
                  <a:off x="8793083" y="3131970"/>
                  <a:ext cx="916988" cy="380231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ru-RU" dirty="0"/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D94755B-989F-4384-A697-45C1EC0993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3083" y="3131970"/>
                  <a:ext cx="916988" cy="380231"/>
                </a:xfrm>
                <a:prstGeom prst="rect">
                  <a:avLst/>
                </a:prstGeom>
                <a:blipFill>
                  <a:blip r:embed="rId8"/>
                  <a:stretch>
                    <a:fillRect b="-12308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EDC0457-A62B-47BF-A9FF-DB0B91C97BF6}"/>
                    </a:ext>
                  </a:extLst>
                </p:cNvPr>
                <p:cNvSpPr/>
                <p:nvPr/>
              </p:nvSpPr>
              <p:spPr>
                <a:xfrm>
                  <a:off x="6532187" y="1180983"/>
                  <a:ext cx="593919" cy="35186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ru-RU" i="1" dirty="0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DEDC0457-A62B-47BF-A9FF-DB0B91C97B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2187" y="1180983"/>
                  <a:ext cx="593919" cy="3518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F9BE1E9-D72D-4974-A571-F0AD668AA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71367"/>
            <a:ext cx="3816303" cy="4300833"/>
          </a:xfrm>
        </p:spPr>
        <p:txBody>
          <a:bodyPr>
            <a:normAutofit/>
          </a:bodyPr>
          <a:lstStyle/>
          <a:p>
            <a:r>
              <a:rPr lang="ru-RU" sz="1600" dirty="0"/>
              <a:t>Классы могут образовывать иерархии</a:t>
            </a:r>
            <a:r>
              <a:rPr lang="en-US" sz="1600" dirty="0"/>
              <a:t>. </a:t>
            </a:r>
            <a:r>
              <a:rPr lang="ru-RU" sz="1600" dirty="0"/>
              <a:t>В ООП такие связи выражаются с помощью наследования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Публичное наследование в </a:t>
            </a:r>
            <a:r>
              <a:rPr lang="en-US" sz="1600" i="1" dirty="0">
                <a:solidFill>
                  <a:srgbClr val="C00000"/>
                </a:solidFill>
              </a:rPr>
              <a:t>C++</a:t>
            </a:r>
            <a:r>
              <a:rPr lang="ru-RU" sz="1600" dirty="0"/>
              <a:t> выражает включение множеств</a:t>
            </a:r>
            <a:r>
              <a:rPr lang="en-US" sz="1600" dirty="0"/>
              <a:t>: </a:t>
            </a:r>
            <a:r>
              <a:rPr lang="ru-RU" sz="1600" dirty="0"/>
              <a:t>каждый объект класса-наследника также является объектом класса-предка </a:t>
            </a:r>
          </a:p>
          <a:p>
            <a:r>
              <a:rPr lang="ru-RU" sz="1600" i="1" dirty="0">
                <a:solidFill>
                  <a:srgbClr val="C00000"/>
                </a:solidFill>
              </a:rPr>
              <a:t>Пример</a:t>
            </a:r>
            <a:r>
              <a:rPr lang="ru-RU" sz="1600" dirty="0"/>
              <a:t>: множество унарных операторов является </a:t>
            </a:r>
            <a:r>
              <a:rPr lang="ru-RU" sz="1600" i="1" dirty="0"/>
              <a:t>подмножеством</a:t>
            </a:r>
            <a:r>
              <a:rPr lang="ru-RU" sz="1600" dirty="0"/>
              <a:t> всех операторов. Другими словами, </a:t>
            </a:r>
            <a:r>
              <a:rPr lang="ru-RU" sz="1600" i="1" dirty="0"/>
              <a:t>любой</a:t>
            </a:r>
            <a:r>
              <a:rPr lang="ru-RU" sz="1600" dirty="0"/>
              <a:t> унарный оператор </a:t>
            </a:r>
            <a:r>
              <a:rPr lang="ru-RU" sz="1600" i="1" dirty="0"/>
              <a:t>является</a:t>
            </a:r>
            <a:r>
              <a:rPr lang="ru-RU" sz="1600" dirty="0"/>
              <a:t> оператором. В таких ситуациях стоит применять наследование</a:t>
            </a:r>
          </a:p>
        </p:txBody>
      </p:sp>
    </p:spTree>
    <p:extLst>
      <p:ext uri="{BB962C8B-B14F-4D97-AF65-F5344CB8AC3E}">
        <p14:creationId xmlns:p14="http://schemas.microsoft.com/office/powerpoint/2010/main" val="48425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4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FC517C1-9076-4698-BCCB-3122F18E35AF}"/>
              </a:ext>
            </a:extLst>
          </p:cNvPr>
          <p:cNvSpPr txBox="1">
            <a:spLocks/>
          </p:cNvSpPr>
          <p:nvPr/>
        </p:nvSpPr>
        <p:spPr>
          <a:xfrm>
            <a:off x="1261872" y="1856793"/>
            <a:ext cx="5521795" cy="441337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"Expression"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0F8C3-8C28-4CF6-8BC6-0EE8EBD2B0BA}"/>
              </a:ext>
            </a:extLst>
          </p:cNvPr>
          <p:cNvSpPr txBox="1"/>
          <p:nvPr/>
        </p:nvSpPr>
        <p:spPr>
          <a:xfrm>
            <a:off x="7035594" y="3852648"/>
            <a:ext cx="359166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Expression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9.000000</a:t>
            </a:r>
            <a:endParaRPr lang="ru-RU" sz="1400" dirty="0"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EB5A9D88-0CCF-4C9A-A50C-A863CE742503}"/>
              </a:ext>
            </a:extLst>
          </p:cNvPr>
          <p:cNvSpPr txBox="1">
            <a:spLocks/>
          </p:cNvSpPr>
          <p:nvPr/>
        </p:nvSpPr>
        <p:spPr>
          <a:xfrm>
            <a:off x="7035594" y="1856793"/>
            <a:ext cx="3591661" cy="185837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Начинаем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123644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129D-C0B8-4B96-85ED-F22A44A4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Видимость полей и методов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7807-6A1E-4741-8EB0-515EA399B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4834128" cy="1763486"/>
          </a:xfrm>
        </p:spPr>
        <p:txBody>
          <a:bodyPr>
            <a:normAutofit/>
          </a:bodyPr>
          <a:lstStyle/>
          <a:p>
            <a:r>
              <a:rPr lang="ru-RU" sz="1600" dirty="0"/>
              <a:t>Класс-наследник не имеет доступа к приватным полям и методам класса-предка</a:t>
            </a:r>
          </a:p>
          <a:p>
            <a:r>
              <a:rPr lang="ru-RU" sz="1600" dirty="0"/>
              <a:t>Открыть наследнику доступ к непубличным полям и методам класса-предка можно, поместив их в область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protected</a:t>
            </a:r>
          </a:p>
          <a:p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D0E3D-90AD-4AEA-9544-AFCEFD31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5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6458AE35-0108-4BF9-BB78-FB809EFB00FC}"/>
              </a:ext>
            </a:extLst>
          </p:cNvPr>
          <p:cNvSpPr txBox="1">
            <a:spLocks/>
          </p:cNvSpPr>
          <p:nvPr/>
        </p:nvSpPr>
        <p:spPr>
          <a:xfrm>
            <a:off x="6458711" y="1691322"/>
            <a:ext cx="4430433" cy="4480878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: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772B46EC-9C90-4607-8715-ABF9821EF13C}"/>
              </a:ext>
            </a:extLst>
          </p:cNvPr>
          <p:cNvSpPr txBox="1">
            <a:spLocks/>
          </p:cNvSpPr>
          <p:nvPr/>
        </p:nvSpPr>
        <p:spPr>
          <a:xfrm>
            <a:off x="1549153" y="3855420"/>
            <a:ext cx="4430432" cy="231678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a.m_b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  // error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   // 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b.m_b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;  // error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4506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5FBE-3DB2-400E-AB3B-45D7A81B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 объектов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ED9C3-636E-4E6A-9347-D95F3BC67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24318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При создании объекта класса-наследника сначала вызывается конструктор класса-предка, а потом конструктор класса-наследника</a:t>
            </a:r>
          </a:p>
          <a:p>
            <a:r>
              <a:rPr lang="ru-RU" sz="1600" dirty="0"/>
              <a:t>Вызов деструкторов происходит в обратном порядке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4B5CF6-F319-4CE2-8B2E-BD9A9ACF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1E9CA673-FCB6-42E1-B707-CDD882929EF2}"/>
              </a:ext>
            </a:extLst>
          </p:cNvPr>
          <p:cNvSpPr txBox="1">
            <a:spLocks/>
          </p:cNvSpPr>
          <p:nvPr/>
        </p:nvSpPr>
        <p:spPr>
          <a:xfrm>
            <a:off x="5505061" y="1828800"/>
            <a:ext cx="4711959" cy="466344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0F911-89AF-45FB-B3CA-671B99A0FFBF}"/>
              </a:ext>
            </a:extLst>
          </p:cNvPr>
          <p:cNvSpPr txBox="1"/>
          <p:nvPr/>
        </p:nvSpPr>
        <p:spPr>
          <a:xfrm>
            <a:off x="1587635" y="5542746"/>
            <a:ext cx="359166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&gt; A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B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B dtor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A dtor</a:t>
            </a:r>
            <a:endParaRPr lang="ru-RU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9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AA31-74E2-45E3-B41F-3C2AA257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48885-F7E5-4FF7-A1E5-3924E8A6C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073614" cy="4351337"/>
          </a:xfrm>
        </p:spPr>
        <p:txBody>
          <a:bodyPr>
            <a:normAutofit fontScale="92500"/>
          </a:bodyPr>
          <a:lstStyle/>
          <a:p>
            <a:r>
              <a:rPr lang="ru-RU" i="1" dirty="0">
                <a:solidFill>
                  <a:srgbClr val="C00000"/>
                </a:solidFill>
              </a:rPr>
              <a:t>Полиморфизм</a:t>
            </a:r>
            <a:r>
              <a:rPr lang="ru-RU" dirty="0"/>
              <a:t> – одна из базовых идей ООП. Состоит в возможности использования объектов разных типов в одном и том же контексте</a:t>
            </a:r>
          </a:p>
          <a:p>
            <a:r>
              <a:rPr lang="ru-RU" dirty="0"/>
              <a:t>В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полиморфизм достигается с помощью наследования</a:t>
            </a:r>
            <a:endParaRPr lang="en-US" dirty="0"/>
          </a:p>
          <a:p>
            <a:r>
              <a:rPr lang="ru-RU" dirty="0"/>
              <a:t>Управлять поведением полиморфных объектов в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можно с помощью </a:t>
            </a:r>
            <a:r>
              <a:rPr lang="ru-RU" i="1" dirty="0">
                <a:solidFill>
                  <a:srgbClr val="C00000"/>
                </a:solidFill>
              </a:rPr>
              <a:t>виртуальных методов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D0227-D2F6-4C8A-A68C-A3DE1CEF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55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8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FC517C1-9076-4698-BCCB-3122F18E35AF}"/>
              </a:ext>
            </a:extLst>
          </p:cNvPr>
          <p:cNvSpPr txBox="1">
            <a:spLocks/>
          </p:cNvSpPr>
          <p:nvPr/>
        </p:nvSpPr>
        <p:spPr>
          <a:xfrm>
            <a:off x="586397" y="1856793"/>
            <a:ext cx="5521795" cy="43154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"Expression"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0F8C3-8C28-4CF6-8BC6-0EE8EBD2B0BA}"/>
              </a:ext>
            </a:extLst>
          </p:cNvPr>
          <p:cNvSpPr txBox="1"/>
          <p:nvPr/>
        </p:nvSpPr>
        <p:spPr>
          <a:xfrm>
            <a:off x="6400800" y="5496580"/>
            <a:ext cx="359166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Expression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Expression</a:t>
            </a:r>
            <a:endParaRPr lang="ru-RU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EB5A9D88-0CCF-4C9A-A50C-A863CE742503}"/>
              </a:ext>
            </a:extLst>
          </p:cNvPr>
          <p:cNvSpPr txBox="1">
            <a:spLocks/>
          </p:cNvSpPr>
          <p:nvPr/>
        </p:nvSpPr>
        <p:spPr>
          <a:xfrm>
            <a:off x="6400800" y="1856793"/>
            <a:ext cx="4385388" cy="284583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  <p:pic>
        <p:nvPicPr>
          <p:cNvPr id="10" name="Рисунок 12" descr="Изображение выглядит как внешний, знак&#10;&#10;Автоматически созданное описание">
            <a:extLst>
              <a:ext uri="{FF2B5EF4-FFF2-40B4-BE49-F238E27FC236}">
                <a16:creationId xmlns:a16="http://schemas.microsoft.com/office/drawing/2014/main" id="{2C054377-0BAE-46EB-9C21-5ECC51C9D5D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134" y="1958833"/>
            <a:ext cx="762908" cy="76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4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FC517C1-9076-4698-BCCB-3122F18E35AF}"/>
              </a:ext>
            </a:extLst>
          </p:cNvPr>
          <p:cNvSpPr txBox="1">
            <a:spLocks/>
          </p:cNvSpPr>
          <p:nvPr/>
        </p:nvSpPr>
        <p:spPr>
          <a:xfrm>
            <a:off x="586397" y="1856793"/>
            <a:ext cx="5521795" cy="43154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0F8C3-8C28-4CF6-8BC6-0EE8EBD2B0BA}"/>
              </a:ext>
            </a:extLst>
          </p:cNvPr>
          <p:cNvSpPr txBox="1"/>
          <p:nvPr/>
        </p:nvSpPr>
        <p:spPr>
          <a:xfrm>
            <a:off x="6400800" y="5496580"/>
            <a:ext cx="359166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Expression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9.000000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EB5A9D88-0CCF-4C9A-A50C-A863CE742503}"/>
              </a:ext>
            </a:extLst>
          </p:cNvPr>
          <p:cNvSpPr txBox="1">
            <a:spLocks/>
          </p:cNvSpPr>
          <p:nvPr/>
        </p:nvSpPr>
        <p:spPr>
          <a:xfrm>
            <a:off x="6400800" y="1856793"/>
            <a:ext cx="4385388" cy="284583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214125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4FDB-EC25-B714-82F8-53222CF95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2BC2-9715-5A65-99BD-CE8EA493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 объектов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E8AD-52A1-292C-BEBC-94616D9AB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24318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При создании объекта класса-наследника сначала вызывается конструктор класса-предка, а потом конструктор класса-наследника</a:t>
            </a:r>
          </a:p>
          <a:p>
            <a:r>
              <a:rPr lang="ru-RU" sz="1600" dirty="0"/>
              <a:t>Вызов деструкторов происходит в обратном порядке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BF68E-07A1-D8E0-3C45-64455BEB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131BB6D-B534-EDB4-46B6-93CDC63B8021}"/>
              </a:ext>
            </a:extLst>
          </p:cNvPr>
          <p:cNvSpPr txBox="1">
            <a:spLocks/>
          </p:cNvSpPr>
          <p:nvPr/>
        </p:nvSpPr>
        <p:spPr>
          <a:xfrm>
            <a:off x="5505061" y="1828799"/>
            <a:ext cx="4711959" cy="483446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A*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new B();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delete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08B05-70AF-A3AD-22CB-19B0B5A614C4}"/>
              </a:ext>
            </a:extLst>
          </p:cNvPr>
          <p:cNvSpPr txBox="1"/>
          <p:nvPr/>
        </p:nvSpPr>
        <p:spPr>
          <a:xfrm>
            <a:off x="1587635" y="5542746"/>
            <a:ext cx="3591661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&gt; A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B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A dtor</a:t>
            </a:r>
            <a:endParaRPr lang="ru-RU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09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19FC-AF28-2FE5-E39F-79D9ACB0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AF4-A108-89FD-B62C-D2A7953A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и удаление объектов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72BB1-26A0-378E-D967-AEED0B24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24318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При создании объекта класса-наследника сначала вызывается конструктор класса-предка, а потом конструктор класса-наследника</a:t>
            </a:r>
          </a:p>
          <a:p>
            <a:r>
              <a:rPr lang="ru-RU" sz="1600" dirty="0"/>
              <a:t>Вызов деструкторов происходит в обратном порядке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B5727-10AE-F2EB-0080-9BAD168D1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A84DDBD5-5E7D-90FA-2DA3-02F544E43643}"/>
              </a:ext>
            </a:extLst>
          </p:cNvPr>
          <p:cNvSpPr txBox="1">
            <a:spLocks/>
          </p:cNvSpPr>
          <p:nvPr/>
        </p:nvSpPr>
        <p:spPr>
          <a:xfrm>
            <a:off x="5505061" y="1828800"/>
            <a:ext cx="4711959" cy="4800600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ctor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 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dtor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A*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new B();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delete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CFC44-428E-06E6-FF76-58A225CEAA47}"/>
              </a:ext>
            </a:extLst>
          </p:cNvPr>
          <p:cNvSpPr txBox="1"/>
          <p:nvPr/>
        </p:nvSpPr>
        <p:spPr>
          <a:xfrm>
            <a:off x="1587635" y="5542746"/>
            <a:ext cx="359166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400" dirty="0">
                <a:latin typeface="Consolas" panose="020B0609020204030204" pitchFamily="49" charset="0"/>
              </a:rPr>
              <a:t>&gt; A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B ctor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B dtor</a:t>
            </a:r>
          </a:p>
          <a:p>
            <a:r>
              <a:rPr lang="pt-BR" sz="1400" dirty="0">
                <a:latin typeface="Consolas" panose="020B0609020204030204" pitchFamily="49" charset="0"/>
              </a:rPr>
              <a:t>&gt; A dtor</a:t>
            </a:r>
            <a:endParaRPr lang="ru-RU" sz="14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88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3FF5-1415-C30C-B504-DA0C26DF6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39B62-D45C-8A7D-FDFC-9B59D53ED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98AA26F4-BD5D-753D-B432-7D069D9DF4E1}"/>
              </a:ext>
            </a:extLst>
          </p:cNvPr>
          <p:cNvSpPr txBox="1">
            <a:spLocks/>
          </p:cNvSpPr>
          <p:nvPr/>
        </p:nvSpPr>
        <p:spPr>
          <a:xfrm>
            <a:off x="586397" y="1856793"/>
            <a:ext cx="5521795" cy="4315407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Expression"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 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to_string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D17F1-2C19-7668-4EB2-7338BB4653FC}"/>
              </a:ext>
            </a:extLst>
          </p:cNvPr>
          <p:cNvSpPr txBox="1"/>
          <p:nvPr/>
        </p:nvSpPr>
        <p:spPr>
          <a:xfrm>
            <a:off x="6400800" y="5496580"/>
            <a:ext cx="359166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Expression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9.000000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D905DDDD-E0DA-18B1-7EF8-86E541AE7377}"/>
              </a:ext>
            </a:extLst>
          </p:cNvPr>
          <p:cNvSpPr txBox="1">
            <a:spLocks/>
          </p:cNvSpPr>
          <p:nvPr/>
        </p:nvSpPr>
        <p:spPr>
          <a:xfrm>
            <a:off x="6400800" y="1856793"/>
            <a:ext cx="4385388" cy="284583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   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print_expr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A7CD17B-99FF-BC4C-DF78-FEED0DB4586E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2294910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EB06-28A8-438B-AD7F-C6A28FC1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Абстрактный класс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E40A-70AA-4872-822E-BCA0CDA9E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1"/>
            <a:ext cx="8595360" cy="122231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Реализация методов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800" b="0" dirty="0">
                <a:solidFill>
                  <a:srgbClr val="795E26"/>
                </a:solidFill>
                <a:effectLst/>
              </a:rPr>
              <a:t> </a:t>
            </a:r>
            <a:r>
              <a:rPr lang="ru-RU" dirty="0"/>
              <a:t>и </a:t>
            </a:r>
            <a:r>
              <a:rPr lang="en-US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ru-RU" dirty="0"/>
              <a:t> для абстрактного выражения не имеет смысла. Тем не менее, мы хотим, чтобы любое выражение имело значение и могло быть записано Эту мысль в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можно выразить с помощью </a:t>
            </a:r>
            <a:r>
              <a:rPr lang="ru-RU" i="1" dirty="0">
                <a:solidFill>
                  <a:srgbClr val="C00000"/>
                </a:solidFill>
              </a:rPr>
              <a:t>чистого виртуального (абстрактного) метода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D6EE8-D877-4ACC-859F-17A82C6C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13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616A20B8-E675-46AC-BE1E-4DA3E9D89561}"/>
              </a:ext>
            </a:extLst>
          </p:cNvPr>
          <p:cNvSpPr txBox="1">
            <a:spLocks/>
          </p:cNvSpPr>
          <p:nvPr/>
        </p:nvSpPr>
        <p:spPr>
          <a:xfrm>
            <a:off x="2685785" y="3135086"/>
            <a:ext cx="5521795" cy="1390261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ru-RU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E1DEEB-C4EE-4E6C-BB0D-9156E3E147D7}"/>
              </a:ext>
            </a:extLst>
          </p:cNvPr>
          <p:cNvSpPr txBox="1">
            <a:spLocks/>
          </p:cNvSpPr>
          <p:nvPr/>
        </p:nvSpPr>
        <p:spPr>
          <a:xfrm>
            <a:off x="1261872" y="4797490"/>
            <a:ext cx="8595360" cy="129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Класс </a:t>
            </a:r>
            <a:r>
              <a:rPr lang="en-US" sz="1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ru-RU" dirty="0"/>
              <a:t> при этом становится </a:t>
            </a:r>
            <a:r>
              <a:rPr lang="ru-RU" i="1" dirty="0">
                <a:solidFill>
                  <a:srgbClr val="C00000"/>
                </a:solidFill>
              </a:rPr>
              <a:t>абстрактным</a:t>
            </a:r>
            <a:r>
              <a:rPr lang="ru-RU" dirty="0"/>
              <a:t>.</a:t>
            </a:r>
          </a:p>
          <a:p>
            <a:r>
              <a:rPr lang="ru-RU" dirty="0"/>
              <a:t>Нельзя создавать объекты абстрактного класса</a:t>
            </a:r>
          </a:p>
          <a:p>
            <a:r>
              <a:rPr lang="ru-RU" dirty="0"/>
              <a:t>Абстрактные классы используют для определения </a:t>
            </a:r>
            <a:r>
              <a:rPr lang="ru-RU" i="1" dirty="0">
                <a:solidFill>
                  <a:srgbClr val="C00000"/>
                </a:solidFill>
              </a:rPr>
              <a:t>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265671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14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4FC517C1-9076-4698-BCCB-3122F18E35AF}"/>
              </a:ext>
            </a:extLst>
          </p:cNvPr>
          <p:cNvSpPr txBox="1">
            <a:spLocks/>
          </p:cNvSpPr>
          <p:nvPr/>
        </p:nvSpPr>
        <p:spPr>
          <a:xfrm>
            <a:off x="1261872" y="2092854"/>
            <a:ext cx="8117632" cy="305110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m_expr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3146672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1">
            <a:extLst>
              <a:ext uri="{FF2B5EF4-FFF2-40B4-BE49-F238E27FC236}">
                <a16:creationId xmlns:a16="http://schemas.microsoft.com/office/drawing/2014/main" id="{6A0674C0-53AB-4DD8-A7B7-0D242B6D8909}"/>
              </a:ext>
            </a:extLst>
          </p:cNvPr>
          <p:cNvSpPr txBox="1">
            <a:spLocks/>
          </p:cNvSpPr>
          <p:nvPr/>
        </p:nvSpPr>
        <p:spPr>
          <a:xfrm>
            <a:off x="1261872" y="2092854"/>
            <a:ext cx="8117632" cy="305110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protected: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m_symbol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"("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")"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15</a:t>
            </a:fld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3194509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1">
            <a:extLst>
              <a:ext uri="{FF2B5EF4-FFF2-40B4-BE49-F238E27FC236}">
                <a16:creationId xmlns:a16="http://schemas.microsoft.com/office/drawing/2014/main" id="{6A0674C0-53AB-4DD8-A7B7-0D242B6D8909}"/>
              </a:ext>
            </a:extLst>
          </p:cNvPr>
          <p:cNvSpPr txBox="1">
            <a:spLocks/>
          </p:cNvSpPr>
          <p:nvPr/>
        </p:nvSpPr>
        <p:spPr>
          <a:xfrm>
            <a:off x="1261871" y="2092854"/>
            <a:ext cx="9179083" cy="414932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UnaryMinus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UnaryMinus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m_expr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+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ExprPtr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BinaryExpression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m_lhs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m_rhs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16</a:t>
            </a:fld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Продолжаем реализовывать</a:t>
            </a:r>
          </a:p>
        </p:txBody>
      </p:sp>
    </p:spTree>
    <p:extLst>
      <p:ext uri="{BB962C8B-B14F-4D97-AF65-F5344CB8AC3E}">
        <p14:creationId xmlns:p14="http://schemas.microsoft.com/office/powerpoint/2010/main" val="422183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1">
            <a:extLst>
              <a:ext uri="{FF2B5EF4-FFF2-40B4-BE49-F238E27FC236}">
                <a16:creationId xmlns:a16="http://schemas.microsoft.com/office/drawing/2014/main" id="{6A0674C0-53AB-4DD8-A7B7-0D242B6D8909}"/>
              </a:ext>
            </a:extLst>
          </p:cNvPr>
          <p:cNvSpPr txBox="1">
            <a:spLocks/>
          </p:cNvSpPr>
          <p:nvPr/>
        </p:nvSpPr>
        <p:spPr>
          <a:xfrm>
            <a:off x="1261872" y="2092854"/>
            <a:ext cx="8264684" cy="2759064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Plus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21.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UnaryMinus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-&gt;str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expr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-&gt;value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7F701-F6F2-4668-A331-FDD33E4F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17</a:t>
            </a:fld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A71025-003D-40EE-9C1E-CD3FDEC2B364}"/>
              </a:ext>
            </a:extLst>
          </p:cNvPr>
          <p:cNvSpPr txBox="1">
            <a:spLocks/>
          </p:cNvSpPr>
          <p:nvPr/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Пример использования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DBA27-35F3-444B-9385-8F98C76CA300}"/>
              </a:ext>
            </a:extLst>
          </p:cNvPr>
          <p:cNvSpPr txBox="1"/>
          <p:nvPr/>
        </p:nvSpPr>
        <p:spPr>
          <a:xfrm>
            <a:off x="1261872" y="4991840"/>
            <a:ext cx="483412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-(((9.000000)+(15.000000))-(21.000000)) = -3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03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301-14AE-483A-88A9-3F5FB242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Суммируем </a:t>
            </a:r>
            <a:r>
              <a:rPr lang="en-US" dirty="0"/>
              <a:t>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6463-50C4-4A58-B1A9-09D59D40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Публичное наследование выражает включение множества объектов</a:t>
            </a:r>
            <a:r>
              <a:rPr lang="en-US" dirty="0"/>
              <a:t> </a:t>
            </a:r>
            <a:r>
              <a:rPr lang="ru-RU" dirty="0"/>
              <a:t>класса-потомка во множество объектов класса-предка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Через наследование реализуется полиморфизм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Указатель или ссылка на объект класса-предка может указывать на объект класса-потомка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Виртуальные методы позволяют управлять поведением полиморфных объектов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Класс является абстрактным, если он содержит хотя бы один чистый виртуальный метод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классе-предке имеет смысл объявлять </a:t>
            </a:r>
            <a:r>
              <a:rPr lang="ru-RU" i="1" dirty="0"/>
              <a:t>виртуальный деструктор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C92CD-FA8B-43F6-825C-B927C17F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77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2512-C9EA-41B1-8B8B-76BFDDEA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Обобщенное программирование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216A-38D4-419E-A799-CC58CB2E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4942985" cy="4351337"/>
          </a:xfrm>
        </p:spPr>
        <p:txBody>
          <a:bodyPr/>
          <a:lstStyle/>
          <a:p>
            <a:r>
              <a:rPr lang="ru-RU" dirty="0"/>
              <a:t>Если функция применима к различным типам аргументов, то ее можно реализовать через </a:t>
            </a:r>
            <a:r>
              <a:rPr lang="ru-RU" i="1" dirty="0">
                <a:solidFill>
                  <a:srgbClr val="C00000"/>
                </a:solidFill>
              </a:rPr>
              <a:t>шаблон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CE049-BDE7-4068-8B9F-DFDB3654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19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BB04D23-29FA-459F-A510-B7707E51127E}"/>
              </a:ext>
            </a:extLst>
          </p:cNvPr>
          <p:cNvSpPr txBox="1">
            <a:spLocks/>
          </p:cNvSpPr>
          <p:nvPr/>
        </p:nvSpPr>
        <p:spPr>
          <a:xfrm>
            <a:off x="6438122" y="1856793"/>
            <a:ext cx="4348066" cy="2799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EA5243D0-59CA-478E-8D43-234628290F3E}"/>
              </a:ext>
            </a:extLst>
          </p:cNvPr>
          <p:cNvSpPr txBox="1">
            <a:spLocks/>
          </p:cNvSpPr>
          <p:nvPr/>
        </p:nvSpPr>
        <p:spPr>
          <a:xfrm>
            <a:off x="1489788" y="3653254"/>
            <a:ext cx="4348066" cy="283898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0415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2512-C9EA-41B1-8B8B-76BFDDEA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Обобщенное программирование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216A-38D4-419E-A799-CC58CB2E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4942985" cy="4351337"/>
          </a:xfrm>
        </p:spPr>
        <p:txBody>
          <a:bodyPr/>
          <a:lstStyle/>
          <a:p>
            <a:r>
              <a:rPr lang="ru-RU" dirty="0"/>
              <a:t>Если функция применима к различным типам аргументов, то ее можно реализовать через </a:t>
            </a:r>
            <a:r>
              <a:rPr lang="ru-RU" i="1" dirty="0">
                <a:solidFill>
                  <a:srgbClr val="C00000"/>
                </a:solidFill>
              </a:rPr>
              <a:t>шаблон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CE049-BDE7-4068-8B9F-DFDB3654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20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BB04D23-29FA-459F-A510-B7707E51127E}"/>
              </a:ext>
            </a:extLst>
          </p:cNvPr>
          <p:cNvSpPr txBox="1">
            <a:spLocks/>
          </p:cNvSpPr>
          <p:nvPr/>
        </p:nvSpPr>
        <p:spPr>
          <a:xfrm>
            <a:off x="6438122" y="1856793"/>
            <a:ext cx="4348066" cy="2799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Объект 1">
            <a:extLst>
              <a:ext uri="{FF2B5EF4-FFF2-40B4-BE49-F238E27FC236}">
                <a16:creationId xmlns:a16="http://schemas.microsoft.com/office/drawing/2014/main" id="{B8FF63FB-AD88-4043-8BA8-5DABFCDF2A2B}"/>
              </a:ext>
            </a:extLst>
          </p:cNvPr>
          <p:cNvSpPr txBox="1">
            <a:spLocks/>
          </p:cNvSpPr>
          <p:nvPr/>
        </p:nvSpPr>
        <p:spPr>
          <a:xfrm>
            <a:off x="1489789" y="3658068"/>
            <a:ext cx="4348066" cy="283898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046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2512-C9EA-41B1-8B8B-76BFDDEAC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Обобщенное программирование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216A-38D4-419E-A799-CC58CB2E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4942985" cy="171683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Если функция применима к различным типам аргументов, то ее можно реализовать через </a:t>
            </a:r>
            <a:r>
              <a:rPr lang="ru-RU" i="1" dirty="0">
                <a:solidFill>
                  <a:srgbClr val="C00000"/>
                </a:solidFill>
              </a:rPr>
              <a:t>шаблон</a:t>
            </a:r>
            <a:endParaRPr lang="en-US" i="1" dirty="0">
              <a:solidFill>
                <a:srgbClr val="C00000"/>
              </a:solidFill>
            </a:endParaRPr>
          </a:p>
          <a:p>
            <a:r>
              <a:rPr lang="ru-RU" dirty="0"/>
              <a:t>Компилятор может </a:t>
            </a:r>
            <a:r>
              <a:rPr lang="ru-RU" i="1" dirty="0"/>
              <a:t>выводить</a:t>
            </a:r>
            <a:r>
              <a:rPr lang="ru-RU" dirty="0"/>
              <a:t> тип шаблона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CE049-BDE7-4068-8B9F-DFDB3654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21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BB04D23-29FA-459F-A510-B7707E51127E}"/>
              </a:ext>
            </a:extLst>
          </p:cNvPr>
          <p:cNvSpPr txBox="1">
            <a:spLocks/>
          </p:cNvSpPr>
          <p:nvPr/>
        </p:nvSpPr>
        <p:spPr>
          <a:xfrm>
            <a:off x="6438122" y="1856793"/>
            <a:ext cx="4348066" cy="279918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r-FR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Объект 1">
            <a:extLst>
              <a:ext uri="{FF2B5EF4-FFF2-40B4-BE49-F238E27FC236}">
                <a16:creationId xmlns:a16="http://schemas.microsoft.com/office/drawing/2014/main" id="{B8223AF5-EC70-4C22-B407-2E236C8E8DAB}"/>
              </a:ext>
            </a:extLst>
          </p:cNvPr>
          <p:cNvSpPr txBox="1">
            <a:spLocks/>
          </p:cNvSpPr>
          <p:nvPr/>
        </p:nvSpPr>
        <p:spPr>
          <a:xfrm>
            <a:off x="1494016" y="3653254"/>
            <a:ext cx="4348066" cy="283898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246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EF4E-3318-463B-B782-C205DEC6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Шаблоны: пример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FBC93-4AF2-4931-8412-82A3526EC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023518" cy="4351337"/>
          </a:xfrm>
        </p:spPr>
        <p:txBody>
          <a:bodyPr/>
          <a:lstStyle/>
          <a:p>
            <a:r>
              <a:rPr lang="ru-RU" dirty="0"/>
              <a:t>Шаблонными могут быть функции или классы</a:t>
            </a:r>
          </a:p>
          <a:p>
            <a:r>
              <a:rPr lang="ru-RU" dirty="0"/>
              <a:t>Шаблонных аргументов может быть несколько</a:t>
            </a:r>
            <a:endParaRPr lang="en-US" dirty="0"/>
          </a:p>
          <a:p>
            <a:r>
              <a:rPr lang="ru-RU" dirty="0"/>
              <a:t>Шаблонным параметром может быть не только тип, но и значение некоторого типа</a:t>
            </a:r>
          </a:p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44255-77B9-4F2E-A4BB-C499FEE7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22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2A4EE282-F441-4EEB-BBC1-40BF862F9895}"/>
              </a:ext>
            </a:extLst>
          </p:cNvPr>
          <p:cNvSpPr txBox="1">
            <a:spLocks/>
          </p:cNvSpPr>
          <p:nvPr/>
        </p:nvSpPr>
        <p:spPr>
          <a:xfrm>
            <a:off x="6438122" y="1856793"/>
            <a:ext cx="4348066" cy="132556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 *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0C627EC7-1805-43DD-9C98-25846D33FD86}"/>
              </a:ext>
            </a:extLst>
          </p:cNvPr>
          <p:cNvSpPr txBox="1">
            <a:spLocks/>
          </p:cNvSpPr>
          <p:nvPr/>
        </p:nvSpPr>
        <p:spPr>
          <a:xfrm>
            <a:off x="6438122" y="3378287"/>
            <a:ext cx="4348066" cy="1885085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BCADF2-2F90-4B0B-BB41-4FCAD1DD3C95}"/>
              </a:ext>
            </a:extLst>
          </p:cNvPr>
          <p:cNvSpPr txBox="1"/>
          <p:nvPr/>
        </p:nvSpPr>
        <p:spPr>
          <a:xfrm>
            <a:off x="6438122" y="5459303"/>
            <a:ext cx="2501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30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88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E30-54E2-416F-86AB-58242BA5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Variadic templates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53555-CAAC-41B6-9D62-E2C1F92D0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4908109" cy="4351337"/>
          </a:xfrm>
        </p:spPr>
        <p:txBody>
          <a:bodyPr>
            <a:normAutofit/>
          </a:bodyPr>
          <a:lstStyle/>
          <a:p>
            <a:r>
              <a:rPr lang="ru-RU" sz="1600" dirty="0"/>
              <a:t>Шаблоны позволяют реализовать функции с произвольным количеством аргументов</a:t>
            </a:r>
          </a:p>
          <a:p>
            <a:r>
              <a:rPr lang="ru-RU" sz="1600" dirty="0"/>
              <a:t>Вспомните </a:t>
            </a:r>
            <a:r>
              <a:rPr lang="en-US" sz="1600" dirty="0">
                <a:latin typeface="Consolas" panose="020B0609020204030204" pitchFamily="49" charset="0"/>
              </a:rPr>
              <a:t>std::tuple</a:t>
            </a:r>
          </a:p>
          <a:p>
            <a:r>
              <a:rPr lang="ru-RU" sz="1600" dirty="0"/>
              <a:t>Подробнее читайте в документации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40186-3FBD-4CBC-8823-885BADAF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23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3EB8F5CD-2351-45CF-AD46-DE3BEC7665C9}"/>
              </a:ext>
            </a:extLst>
          </p:cNvPr>
          <p:cNvSpPr txBox="1">
            <a:spLocks/>
          </p:cNvSpPr>
          <p:nvPr/>
        </p:nvSpPr>
        <p:spPr>
          <a:xfrm>
            <a:off x="6438122" y="1856793"/>
            <a:ext cx="4348066" cy="1325563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...);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Объект 1">
            <a:extLst>
              <a:ext uri="{FF2B5EF4-FFF2-40B4-BE49-F238E27FC236}">
                <a16:creationId xmlns:a16="http://schemas.microsoft.com/office/drawing/2014/main" id="{1AF799A8-E588-441B-821F-9642E851D1A6}"/>
              </a:ext>
            </a:extLst>
          </p:cNvPr>
          <p:cNvSpPr txBox="1">
            <a:spLocks/>
          </p:cNvSpPr>
          <p:nvPr/>
        </p:nvSpPr>
        <p:spPr>
          <a:xfrm>
            <a:off x="6438122" y="3378287"/>
            <a:ext cx="4348066" cy="2081016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95E4C-B327-4C66-94D3-B4E4432CE660}"/>
              </a:ext>
            </a:extLst>
          </p:cNvPr>
          <p:cNvSpPr txBox="1"/>
          <p:nvPr/>
        </p:nvSpPr>
        <p:spPr>
          <a:xfrm>
            <a:off x="6438122" y="5655234"/>
            <a:ext cx="2501692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3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6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10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&gt; 15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182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301-14AE-483A-88A9-3F5FB242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Суммируем </a:t>
            </a:r>
            <a:r>
              <a:rPr lang="en-US" dirty="0"/>
              <a:t>II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6463-50C4-4A58-B1A9-09D59D40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Шаблоны позволяют параметризовать типы данных, которые используются в программе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Шаблоны позволяют уменьшить дублирование кода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Использование шаблонов не приводит к дополнительным расходам ресурсов во время исполнения программы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C92CD-FA8B-43F6-825C-B927C17F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66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7896-E436-4B84-B023-8073C232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Функциональное программирование</a:t>
            </a:r>
            <a:endParaRPr lang="ru-RU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1A27F-F6C9-4DCF-A531-080FFE8D1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 парадигме функционального программирования</a:t>
            </a:r>
          </a:p>
          <a:p>
            <a:pPr lvl="1"/>
            <a:r>
              <a:rPr lang="ru-RU" dirty="0"/>
              <a:t>Программа является результатом вызова </a:t>
            </a:r>
            <a:r>
              <a:rPr lang="ru-RU" i="1" dirty="0">
                <a:solidFill>
                  <a:srgbClr val="C00000"/>
                </a:solidFill>
              </a:rPr>
              <a:t>чистых функций</a:t>
            </a:r>
          </a:p>
          <a:p>
            <a:pPr lvl="1"/>
            <a:r>
              <a:rPr lang="ru-RU" dirty="0">
                <a:solidFill>
                  <a:schemeClr val="tx1"/>
                </a:solidFill>
              </a:rPr>
              <a:t>Функции являются </a:t>
            </a:r>
            <a:r>
              <a:rPr lang="ru-RU" i="1" dirty="0">
                <a:solidFill>
                  <a:srgbClr val="C00000"/>
                </a:solidFill>
              </a:rPr>
              <a:t>объектами первого класса</a:t>
            </a:r>
          </a:p>
          <a:p>
            <a:r>
              <a:rPr lang="ru-RU" dirty="0"/>
              <a:t>Чистая функция</a:t>
            </a:r>
          </a:p>
          <a:p>
            <a:pPr lvl="1"/>
            <a:r>
              <a:rPr lang="ru-RU" dirty="0"/>
              <a:t>Для одинаковых входных данных возвращает одинаковых результат</a:t>
            </a:r>
          </a:p>
          <a:p>
            <a:pPr lvl="1"/>
            <a:r>
              <a:rPr lang="ru-RU" dirty="0"/>
              <a:t>Не имеет побочных эффектов (т.е. не имеет </a:t>
            </a:r>
            <a:r>
              <a:rPr lang="ru-RU" i="1" dirty="0">
                <a:solidFill>
                  <a:srgbClr val="C00000"/>
                </a:solidFill>
              </a:rPr>
              <a:t>состояния</a:t>
            </a:r>
            <a:r>
              <a:rPr lang="ru-RU" dirty="0"/>
              <a:t> сама и не меняет состояние других объектов)</a:t>
            </a:r>
          </a:p>
          <a:p>
            <a:r>
              <a:rPr lang="ru-RU" dirty="0"/>
              <a:t>Объект первого класса</a:t>
            </a:r>
          </a:p>
          <a:p>
            <a:pPr lvl="1"/>
            <a:r>
              <a:rPr lang="ru-RU" dirty="0"/>
              <a:t>Может быть сохранен в переменную</a:t>
            </a:r>
          </a:p>
          <a:p>
            <a:pPr lvl="1"/>
            <a:r>
              <a:rPr lang="ru-RU" dirty="0"/>
              <a:t>Может быть передан в функцию</a:t>
            </a:r>
          </a:p>
          <a:p>
            <a:pPr lvl="1"/>
            <a:r>
              <a:rPr lang="ru-RU" dirty="0"/>
              <a:t>Может быть возвращен из функции</a:t>
            </a:r>
          </a:p>
          <a:p>
            <a:pPr lvl="1"/>
            <a:r>
              <a:rPr lang="ru-RU" dirty="0"/>
              <a:t>Может быть создан во время исполнения</a:t>
            </a:r>
          </a:p>
          <a:p>
            <a:r>
              <a:rPr lang="ru-RU" dirty="0"/>
              <a:t>Известные нам лямбда-выражения родом из функционального программирования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B2FC9-85AE-4988-BB3A-A173143A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108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3A8EF-4ECB-4A92-8AA3-C5C304D2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std::function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0AEF3-7627-47B8-A791-3A8DB87FD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26</a:t>
            </a:fld>
            <a:endParaRPr lang="ru-RU"/>
          </a:p>
        </p:txBody>
      </p:sp>
      <p:sp>
        <p:nvSpPr>
          <p:cNvPr id="6" name="Объект 1">
            <a:extLst>
              <a:ext uri="{FF2B5EF4-FFF2-40B4-BE49-F238E27FC236}">
                <a16:creationId xmlns:a16="http://schemas.microsoft.com/office/drawing/2014/main" id="{F4F7FC5D-3FE6-438D-AC5B-34A9B43D2A39}"/>
              </a:ext>
            </a:extLst>
          </p:cNvPr>
          <p:cNvSpPr txBox="1">
            <a:spLocks/>
          </p:cNvSpPr>
          <p:nvPr/>
        </p:nvSpPr>
        <p:spPr>
          <a:xfrm>
            <a:off x="1261872" y="1975614"/>
            <a:ext cx="5468644" cy="3386499"/>
          </a:xfrm>
          <a:custGeom>
            <a:avLst/>
            <a:gdLst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  <a:gd name="connsiteX0" fmla="*/ 0 w 5760945"/>
              <a:gd name="connsiteY0" fmla="*/ 0 h 3842676"/>
              <a:gd name="connsiteX1" fmla="*/ 5760945 w 5760945"/>
              <a:gd name="connsiteY1" fmla="*/ 0 h 3842676"/>
              <a:gd name="connsiteX2" fmla="*/ 5760945 w 5760945"/>
              <a:gd name="connsiteY2" fmla="*/ 3842676 h 3842676"/>
              <a:gd name="connsiteX3" fmla="*/ 0 w 5760945"/>
              <a:gd name="connsiteY3" fmla="*/ 3842676 h 3842676"/>
              <a:gd name="connsiteX4" fmla="*/ 0 w 5760945"/>
              <a:gd name="connsiteY4" fmla="*/ 0 h 384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0945" h="3842676">
                <a:moveTo>
                  <a:pt x="0" y="0"/>
                </a:moveTo>
                <a:lnTo>
                  <a:pt x="5760945" y="0"/>
                </a:lnTo>
                <a:cubicBezTo>
                  <a:pt x="5471696" y="1402190"/>
                  <a:pt x="5760945" y="2561784"/>
                  <a:pt x="5760945" y="3842676"/>
                </a:cubicBezTo>
                <a:lnTo>
                  <a:pt x="0" y="3842676"/>
                </a:lnTo>
                <a:lnTo>
                  <a:pt x="0" y="0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&lt;functional&gt;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apply_to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cb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apply_to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[](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A201A-0515-47AE-B67A-A27F0666DAA8}"/>
              </a:ext>
            </a:extLst>
          </p:cNvPr>
          <p:cNvSpPr txBox="1"/>
          <p:nvPr/>
        </p:nvSpPr>
        <p:spPr>
          <a:xfrm>
            <a:off x="6970213" y="5054336"/>
            <a:ext cx="2501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&gt; 10000</a:t>
            </a:r>
            <a:endParaRPr 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338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CBA8D-BFC0-4FFF-AEA5-A099D885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чем мы не говорили?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F3C71-7024-4106-A7BB-C249F61F1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О многопоточности</a:t>
            </a:r>
          </a:p>
          <a:p>
            <a:r>
              <a:rPr lang="ru-RU" dirty="0"/>
              <a:t>О типах </a:t>
            </a:r>
            <a:r>
              <a:rPr lang="en-US" dirty="0">
                <a:latin typeface="Consolas" panose="020B0609020204030204" pitchFamily="49" charset="0"/>
              </a:rPr>
              <a:t>std::optional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std::variant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О псевдослучайных числах </a:t>
            </a:r>
            <a:r>
              <a:rPr lang="en-US" dirty="0">
                <a:latin typeface="Consolas" panose="020B0609020204030204" pitchFamily="49" charset="0"/>
              </a:rPr>
              <a:t>&lt;random&gt;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О хэшировании </a:t>
            </a:r>
            <a:r>
              <a:rPr lang="en-US" dirty="0">
                <a:latin typeface="Consolas" panose="020B0609020204030204" pitchFamily="49" charset="0"/>
              </a:rPr>
              <a:t>std::hash</a:t>
            </a:r>
          </a:p>
          <a:p>
            <a:r>
              <a:rPr lang="ru-RU" dirty="0"/>
              <a:t>О работе с файловой системой </a:t>
            </a:r>
            <a:r>
              <a:rPr lang="en-US" dirty="0">
                <a:latin typeface="Consolas" panose="020B0609020204030204" pitchFamily="49" charset="0"/>
              </a:rPr>
              <a:t>&lt;filesystem&gt;</a:t>
            </a:r>
          </a:p>
          <a:p>
            <a:r>
              <a:rPr lang="ru-RU" dirty="0"/>
              <a:t>Об особенностях компиляторов и оптимизации кода при компилировании</a:t>
            </a:r>
            <a:endParaRPr lang="en-US" dirty="0"/>
          </a:p>
          <a:p>
            <a:r>
              <a:rPr lang="ru-RU" dirty="0"/>
              <a:t>Об управлении выделением памяти </a:t>
            </a:r>
            <a:r>
              <a:rPr lang="en-US" dirty="0">
                <a:latin typeface="Consolas" panose="020B0609020204030204" pitchFamily="49" charset="0"/>
              </a:rPr>
              <a:t>std::allocator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О самых новых фишках</a:t>
            </a:r>
            <a:endParaRPr lang="en-US" dirty="0"/>
          </a:p>
          <a:p>
            <a:r>
              <a:rPr lang="en-US" dirty="0"/>
              <a:t>…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1768C-6FD8-4DF0-BBF1-58940871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793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F413-6105-4DE7-AED9-F9C8E8DE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A3B7E-79C3-454E-B4D2-699288596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7225181" cy="448802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Язык</a:t>
            </a:r>
            <a:r>
              <a:rPr lang="en-US" dirty="0"/>
              <a:t> </a:t>
            </a:r>
            <a:r>
              <a:rPr lang="en-US" i="1" dirty="0"/>
              <a:t>C++</a:t>
            </a:r>
            <a:r>
              <a:rPr lang="en-US" dirty="0"/>
              <a:t> </a:t>
            </a:r>
            <a:r>
              <a:rPr lang="ru-RU" dirty="0"/>
              <a:t>позволяет писать эффективный и выразительный код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Знание структур данных и алгоритмов необходимо для эффективной реализации алгоритмов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Используйте идеи из разных парадигм программирования: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объектно-ориентированное,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обобщенное,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u-RU" dirty="0"/>
              <a:t>функциональное и др.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6803-A9E5-4E00-B9D8-73981B11E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58EDE0D-0787-4A03-969A-A1D77559C4A6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061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2920</Words>
  <Application>Microsoft Office PowerPoint</Application>
  <PresentationFormat>Widescreen</PresentationFormat>
  <Paragraphs>486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Consolas</vt:lpstr>
      <vt:lpstr>Courier New</vt:lpstr>
      <vt:lpstr>Тема Office</vt:lpstr>
      <vt:lpstr>Программирование на C++ и Python</vt:lpstr>
      <vt:lpstr>Наследование</vt:lpstr>
      <vt:lpstr>Наследование</vt:lpstr>
      <vt:lpstr>PowerPoint Presentation</vt:lpstr>
      <vt:lpstr>Видимость полей и методов</vt:lpstr>
      <vt:lpstr>Создание и удаление объектов</vt:lpstr>
      <vt:lpstr>Полиморфизм</vt:lpstr>
      <vt:lpstr>PowerPoint Presentation</vt:lpstr>
      <vt:lpstr>PowerPoint Presentation</vt:lpstr>
      <vt:lpstr>Создание и удаление объектов</vt:lpstr>
      <vt:lpstr>Создание и удаление объектов</vt:lpstr>
      <vt:lpstr>PowerPoint Presentation</vt:lpstr>
      <vt:lpstr>Абстрактный класс</vt:lpstr>
      <vt:lpstr>PowerPoint Presentation</vt:lpstr>
      <vt:lpstr>PowerPoint Presentation</vt:lpstr>
      <vt:lpstr>PowerPoint Presentation</vt:lpstr>
      <vt:lpstr>PowerPoint Presentation</vt:lpstr>
      <vt:lpstr>Суммируем I</vt:lpstr>
      <vt:lpstr>Обобщенное программирование</vt:lpstr>
      <vt:lpstr>Обобщенное программирование</vt:lpstr>
      <vt:lpstr>Обобщенное программирование</vt:lpstr>
      <vt:lpstr>Шаблоны: пример</vt:lpstr>
      <vt:lpstr>Variadic templates</vt:lpstr>
      <vt:lpstr>Суммируем II</vt:lpstr>
      <vt:lpstr>Функциональное программирование</vt:lpstr>
      <vt:lpstr>std::function</vt:lpstr>
      <vt:lpstr>О чем мы не говорили?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Никита Охотников</dc:creator>
  <cp:lastModifiedBy>Никита Охотников</cp:lastModifiedBy>
  <cp:revision>14</cp:revision>
  <dcterms:created xsi:type="dcterms:W3CDTF">2025-09-03T23:08:50Z</dcterms:created>
  <dcterms:modified xsi:type="dcterms:W3CDTF">2026-10-14T21:59:26Z</dcterms:modified>
</cp:coreProperties>
</file>